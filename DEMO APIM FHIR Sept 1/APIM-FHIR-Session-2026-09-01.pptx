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microsoft.com/office/2020/02/relationships/classificationlabels" Target="docMetadata/LabelInfo.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90" r:id="rId4"/>
    <p:sldId id="275" r:id="rId5"/>
    <p:sldId id="260" r:id="rId6"/>
    <p:sldId id="276" r:id="rId7"/>
    <p:sldId id="277" r:id="rId8"/>
    <p:sldId id="262" r:id="rId9"/>
    <p:sldId id="263" r:id="rId10"/>
    <p:sldId id="280" r:id="rId11"/>
    <p:sldId id="265" r:id="rId12"/>
    <p:sldId id="281" r:id="rId13"/>
    <p:sldId id="282" r:id="rId14"/>
    <p:sldId id="286" r:id="rId15"/>
    <p:sldId id="269" r:id="rId16"/>
    <p:sldId id="270" r:id="rId17"/>
    <p:sldId id="287" r:id="rId18"/>
    <p:sldId id="271" r:id="rId19"/>
    <p:sldId id="273"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C8EA1F-BEED-4931-8E1E-FABDE99589BD}" v="63" dt="2026-09-01T15:26:32.09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8848" autoAdjust="0"/>
  </p:normalViewPr>
  <p:slideViewPr>
    <p:cSldViewPr snapToGrid="0" snapToObjects="1">
      <p:cViewPr varScale="1">
        <p:scale>
          <a:sx n="76" d="100"/>
          <a:sy n="76" d="100"/>
        </p:scale>
        <p:origin x="1914" y="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y Padhya" userId="99449f0b-447f-4fbb-878a-15ec063fa8cd" providerId="ADAL" clId="{E308DACC-A42A-4B27-BCD7-E287F1684823}"/>
    <pc:docChg chg="undo redo custSel addSld delSld modSld sldOrd">
      <pc:chgData name="Jay Padhya" userId="99449f0b-447f-4fbb-878a-15ec063fa8cd" providerId="ADAL" clId="{E308DACC-A42A-4B27-BCD7-E287F1684823}" dt="2026-09-01T15:27:23.262" v="4102" actId="20577"/>
      <pc:docMkLst>
        <pc:docMk/>
      </pc:docMkLst>
      <pc:sldChg chg="delSp modSp mod modNotesTx">
        <pc:chgData name="Jay Padhya" userId="99449f0b-447f-4fbb-878a-15ec063fa8cd" providerId="ADAL" clId="{E308DACC-A42A-4B27-BCD7-E287F1684823}" dt="2026-09-01T15:09:01.541" v="3853" actId="20577"/>
        <pc:sldMkLst>
          <pc:docMk/>
          <pc:sldMk cId="0" sldId="256"/>
        </pc:sldMkLst>
        <pc:spChg chg="del">
          <ac:chgData name="Jay Padhya" userId="99449f0b-447f-4fbb-878a-15ec063fa8cd" providerId="ADAL" clId="{E308DACC-A42A-4B27-BCD7-E287F1684823}" dt="2026-08-31T16:50:37.609" v="0" actId="478"/>
          <ac:spMkLst>
            <pc:docMk/>
            <pc:sldMk cId="0" sldId="256"/>
            <ac:spMk id="3" creationId="{00000000-0000-0000-0000-000000000000}"/>
          </ac:spMkLst>
        </pc:spChg>
        <pc:spChg chg="mod">
          <ac:chgData name="Jay Padhya" userId="99449f0b-447f-4fbb-878a-15ec063fa8cd" providerId="ADAL" clId="{E308DACC-A42A-4B27-BCD7-E287F1684823}" dt="2026-08-31T16:50:42.319" v="3" actId="20577"/>
          <ac:spMkLst>
            <pc:docMk/>
            <pc:sldMk cId="0" sldId="256"/>
            <ac:spMk id="4" creationId="{00000000-0000-0000-0000-000000000000}"/>
          </ac:spMkLst>
        </pc:spChg>
        <pc:spChg chg="del mod">
          <ac:chgData name="Jay Padhya" userId="99449f0b-447f-4fbb-878a-15ec063fa8cd" providerId="ADAL" clId="{E308DACC-A42A-4B27-BCD7-E287F1684823}" dt="2026-08-31T16:51:33.861" v="36"/>
          <ac:spMkLst>
            <pc:docMk/>
            <pc:sldMk cId="0" sldId="256"/>
            <ac:spMk id="6" creationId="{00000000-0000-0000-0000-000000000000}"/>
          </ac:spMkLst>
        </pc:spChg>
        <pc:spChg chg="del">
          <ac:chgData name="Jay Padhya" userId="99449f0b-447f-4fbb-878a-15ec063fa8cd" providerId="ADAL" clId="{E308DACC-A42A-4B27-BCD7-E287F1684823}" dt="2026-09-01T14:49:20.881" v="3397" actId="478"/>
          <ac:spMkLst>
            <pc:docMk/>
            <pc:sldMk cId="0" sldId="256"/>
            <ac:spMk id="7" creationId="{00000000-0000-0000-0000-000000000000}"/>
          </ac:spMkLst>
        </pc:spChg>
        <pc:spChg chg="del">
          <ac:chgData name="Jay Padhya" userId="99449f0b-447f-4fbb-878a-15ec063fa8cd" providerId="ADAL" clId="{E308DACC-A42A-4B27-BCD7-E287F1684823}" dt="2026-08-31T21:58:25.230" v="1691"/>
          <ac:spMkLst>
            <pc:docMk/>
            <pc:sldMk cId="0" sldId="256"/>
            <ac:spMk id="9" creationId="{00000000-0000-0000-0000-000000000000}"/>
          </ac:spMkLst>
        </pc:spChg>
      </pc:sldChg>
      <pc:sldChg chg="delSp modSp mod modNotesTx">
        <pc:chgData name="Jay Padhya" userId="99449f0b-447f-4fbb-878a-15ec063fa8cd" providerId="ADAL" clId="{E308DACC-A42A-4B27-BCD7-E287F1684823}" dt="2026-09-01T15:12:07.436" v="4101" actId="20577"/>
        <pc:sldMkLst>
          <pc:docMk/>
          <pc:sldMk cId="0" sldId="257"/>
        </pc:sldMkLst>
        <pc:spChg chg="del">
          <ac:chgData name="Jay Padhya" userId="99449f0b-447f-4fbb-878a-15ec063fa8cd" providerId="ADAL" clId="{E308DACC-A42A-4B27-BCD7-E287F1684823}" dt="2026-09-01T14:49:56.747" v="3413" actId="478"/>
          <ac:spMkLst>
            <pc:docMk/>
            <pc:sldMk cId="0" sldId="257"/>
            <ac:spMk id="3" creationId="{00000000-0000-0000-0000-000000000000}"/>
          </ac:spMkLst>
        </pc:spChg>
        <pc:spChg chg="mod">
          <ac:chgData name="Jay Padhya" userId="99449f0b-447f-4fbb-878a-15ec063fa8cd" providerId="ADAL" clId="{E308DACC-A42A-4B27-BCD7-E287F1684823}" dt="2026-09-01T14:50:00.117" v="3414" actId="1076"/>
          <ac:spMkLst>
            <pc:docMk/>
            <pc:sldMk cId="0" sldId="257"/>
            <ac:spMk id="4" creationId="{00000000-0000-0000-0000-000000000000}"/>
          </ac:spMkLst>
        </pc:spChg>
        <pc:spChg chg="del">
          <ac:chgData name="Jay Padhya" userId="99449f0b-447f-4fbb-878a-15ec063fa8cd" providerId="ADAL" clId="{E308DACC-A42A-4B27-BCD7-E287F1684823}" dt="2026-08-31T21:58:25.257" v="1692"/>
          <ac:spMkLst>
            <pc:docMk/>
            <pc:sldMk cId="0" sldId="257"/>
            <ac:spMk id="6" creationId="{00000000-0000-0000-0000-000000000000}"/>
          </ac:spMkLst>
        </pc:spChg>
        <pc:spChg chg="del">
          <ac:chgData name="Jay Padhya" userId="99449f0b-447f-4fbb-878a-15ec063fa8cd" providerId="ADAL" clId="{E308DACC-A42A-4B27-BCD7-E287F1684823}" dt="2026-09-01T14:49:37.550" v="3399" actId="478"/>
          <ac:spMkLst>
            <pc:docMk/>
            <pc:sldMk cId="0" sldId="257"/>
            <ac:spMk id="13" creationId="{00000000-0000-0000-0000-000000000000}"/>
          </ac:spMkLst>
        </pc:spChg>
        <pc:spChg chg="del">
          <ac:chgData name="Jay Padhya" userId="99449f0b-447f-4fbb-878a-15ec063fa8cd" providerId="ADAL" clId="{E308DACC-A42A-4B27-BCD7-E287F1684823}" dt="2026-09-01T14:49:38.966" v="3400" actId="478"/>
          <ac:spMkLst>
            <pc:docMk/>
            <pc:sldMk cId="0" sldId="257"/>
            <ac:spMk id="19" creationId="{00000000-0000-0000-0000-000000000000}"/>
          </ac:spMkLst>
        </pc:spChg>
        <pc:spChg chg="del">
          <ac:chgData name="Jay Padhya" userId="99449f0b-447f-4fbb-878a-15ec063fa8cd" providerId="ADAL" clId="{E308DACC-A42A-4B27-BCD7-E287F1684823}" dt="2026-09-01T14:49:40.767" v="3401" actId="478"/>
          <ac:spMkLst>
            <pc:docMk/>
            <pc:sldMk cId="0" sldId="257"/>
            <ac:spMk id="25" creationId="{00000000-0000-0000-0000-000000000000}"/>
          </ac:spMkLst>
        </pc:spChg>
        <pc:spChg chg="mod">
          <ac:chgData name="Jay Padhya" userId="99449f0b-447f-4fbb-878a-15ec063fa8cd" providerId="ADAL" clId="{E308DACC-A42A-4B27-BCD7-E287F1684823}" dt="2026-09-01T15:10:30.681" v="3897" actId="20577"/>
          <ac:spMkLst>
            <pc:docMk/>
            <pc:sldMk cId="0" sldId="257"/>
            <ac:spMk id="30" creationId="{00000000-0000-0000-0000-000000000000}"/>
          </ac:spMkLst>
        </pc:spChg>
        <pc:spChg chg="del">
          <ac:chgData name="Jay Padhya" userId="99449f0b-447f-4fbb-878a-15ec063fa8cd" providerId="ADAL" clId="{E308DACC-A42A-4B27-BCD7-E287F1684823}" dt="2026-09-01T14:49:47.758" v="3406" actId="478"/>
          <ac:spMkLst>
            <pc:docMk/>
            <pc:sldMk cId="0" sldId="257"/>
            <ac:spMk id="31" creationId="{00000000-0000-0000-0000-000000000000}"/>
          </ac:spMkLst>
        </pc:spChg>
        <pc:spChg chg="mod">
          <ac:chgData name="Jay Padhya" userId="99449f0b-447f-4fbb-878a-15ec063fa8cd" providerId="ADAL" clId="{E308DACC-A42A-4B27-BCD7-E287F1684823}" dt="2026-09-01T15:10:22.354" v="3892" actId="20577"/>
          <ac:spMkLst>
            <pc:docMk/>
            <pc:sldMk cId="0" sldId="257"/>
            <ac:spMk id="36" creationId="{00000000-0000-0000-0000-000000000000}"/>
          </ac:spMkLst>
        </pc:spChg>
        <pc:spChg chg="del">
          <ac:chgData name="Jay Padhya" userId="99449f0b-447f-4fbb-878a-15ec063fa8cd" providerId="ADAL" clId="{E308DACC-A42A-4B27-BCD7-E287F1684823}" dt="2026-09-01T14:49:46.183" v="3405" actId="478"/>
          <ac:spMkLst>
            <pc:docMk/>
            <pc:sldMk cId="0" sldId="257"/>
            <ac:spMk id="37" creationId="{00000000-0000-0000-0000-000000000000}"/>
          </ac:spMkLst>
        </pc:spChg>
        <pc:spChg chg="mod">
          <ac:chgData name="Jay Padhya" userId="99449f0b-447f-4fbb-878a-15ec063fa8cd" providerId="ADAL" clId="{E308DACC-A42A-4B27-BCD7-E287F1684823}" dt="2026-09-01T15:10:14.138" v="3872" actId="20577"/>
          <ac:spMkLst>
            <pc:docMk/>
            <pc:sldMk cId="0" sldId="257"/>
            <ac:spMk id="42" creationId="{00000000-0000-0000-0000-000000000000}"/>
          </ac:spMkLst>
        </pc:spChg>
        <pc:spChg chg="del">
          <ac:chgData name="Jay Padhya" userId="99449f0b-447f-4fbb-878a-15ec063fa8cd" providerId="ADAL" clId="{E308DACC-A42A-4B27-BCD7-E287F1684823}" dt="2026-09-01T14:49:45.066" v="3404" actId="478"/>
          <ac:spMkLst>
            <pc:docMk/>
            <pc:sldMk cId="0" sldId="257"/>
            <ac:spMk id="43" creationId="{00000000-0000-0000-0000-000000000000}"/>
          </ac:spMkLst>
        </pc:spChg>
        <pc:spChg chg="mod">
          <ac:chgData name="Jay Padhya" userId="99449f0b-447f-4fbb-878a-15ec063fa8cd" providerId="ADAL" clId="{E308DACC-A42A-4B27-BCD7-E287F1684823}" dt="2026-09-01T15:10:10.105" v="3865" actId="20577"/>
          <ac:spMkLst>
            <pc:docMk/>
            <pc:sldMk cId="0" sldId="257"/>
            <ac:spMk id="48" creationId="{00000000-0000-0000-0000-000000000000}"/>
          </ac:spMkLst>
        </pc:spChg>
        <pc:spChg chg="del">
          <ac:chgData name="Jay Padhya" userId="99449f0b-447f-4fbb-878a-15ec063fa8cd" providerId="ADAL" clId="{E308DACC-A42A-4B27-BCD7-E287F1684823}" dt="2026-09-01T14:49:42.666" v="3402" actId="478"/>
          <ac:spMkLst>
            <pc:docMk/>
            <pc:sldMk cId="0" sldId="257"/>
            <ac:spMk id="49" creationId="{00000000-0000-0000-0000-000000000000}"/>
          </ac:spMkLst>
        </pc:spChg>
        <pc:spChg chg="mod">
          <ac:chgData name="Jay Padhya" userId="99449f0b-447f-4fbb-878a-15ec063fa8cd" providerId="ADAL" clId="{E308DACC-A42A-4B27-BCD7-E287F1684823}" dt="2026-09-01T15:10:02.746" v="3863" actId="20577"/>
          <ac:spMkLst>
            <pc:docMk/>
            <pc:sldMk cId="0" sldId="257"/>
            <ac:spMk id="53" creationId="{00000000-0000-0000-0000-000000000000}"/>
          </ac:spMkLst>
        </pc:spChg>
        <pc:spChg chg="del">
          <ac:chgData name="Jay Padhya" userId="99449f0b-447f-4fbb-878a-15ec063fa8cd" providerId="ADAL" clId="{E308DACC-A42A-4B27-BCD7-E287F1684823}" dt="2026-09-01T15:09:58.180" v="3862" actId="478"/>
          <ac:spMkLst>
            <pc:docMk/>
            <pc:sldMk cId="0" sldId="257"/>
            <ac:spMk id="54" creationId="{00000000-0000-0000-0000-000000000000}"/>
          </ac:spMkLst>
        </pc:spChg>
        <pc:spChg chg="del">
          <ac:chgData name="Jay Padhya" userId="99449f0b-447f-4fbb-878a-15ec063fa8cd" providerId="ADAL" clId="{E308DACC-A42A-4B27-BCD7-E287F1684823}" dt="2026-09-01T14:49:43.643" v="3403" actId="478"/>
          <ac:spMkLst>
            <pc:docMk/>
            <pc:sldMk cId="0" sldId="257"/>
            <ac:spMk id="55" creationId="{00000000-0000-0000-0000-000000000000}"/>
          </ac:spMkLst>
        </pc:spChg>
      </pc:sldChg>
      <pc:sldChg chg="addSp delSp modSp del mod modNotesTx">
        <pc:chgData name="Jay Padhya" userId="99449f0b-447f-4fbb-878a-15ec063fa8cd" providerId="ADAL" clId="{E308DACC-A42A-4B27-BCD7-E287F1684823}" dt="2026-09-01T14:57:02.966" v="3623"/>
        <pc:sldMkLst>
          <pc:docMk/>
          <pc:sldMk cId="0" sldId="258"/>
        </pc:sldMkLst>
        <pc:spChg chg="del">
          <ac:chgData name="Jay Padhya" userId="99449f0b-447f-4fbb-878a-15ec063fa8cd" providerId="ADAL" clId="{E308DACC-A42A-4B27-BCD7-E287F1684823}" dt="2026-09-01T14:50:12.690" v="3438" actId="478"/>
          <ac:spMkLst>
            <pc:docMk/>
            <pc:sldMk cId="0" sldId="258"/>
            <ac:spMk id="3" creationId="{00000000-0000-0000-0000-000000000000}"/>
          </ac:spMkLst>
        </pc:spChg>
        <pc:spChg chg="mod">
          <ac:chgData name="Jay Padhya" userId="99449f0b-447f-4fbb-878a-15ec063fa8cd" providerId="ADAL" clId="{E308DACC-A42A-4B27-BCD7-E287F1684823}" dt="2026-09-01T14:50:14.814" v="3439" actId="1076"/>
          <ac:spMkLst>
            <pc:docMk/>
            <pc:sldMk cId="0" sldId="258"/>
            <ac:spMk id="4" creationId="{00000000-0000-0000-0000-000000000000}"/>
          </ac:spMkLst>
        </pc:spChg>
        <pc:spChg chg="del">
          <ac:chgData name="Jay Padhya" userId="99449f0b-447f-4fbb-878a-15ec063fa8cd" providerId="ADAL" clId="{E308DACC-A42A-4B27-BCD7-E287F1684823}" dt="2026-08-31T21:58:25.263" v="1693"/>
          <ac:spMkLst>
            <pc:docMk/>
            <pc:sldMk cId="0" sldId="258"/>
            <ac:spMk id="6" creationId="{00000000-0000-0000-0000-000000000000}"/>
          </ac:spMkLst>
        </pc:spChg>
        <pc:spChg chg="mod">
          <ac:chgData name="Jay Padhya" userId="99449f0b-447f-4fbb-878a-15ec063fa8cd" providerId="ADAL" clId="{E308DACC-A42A-4B27-BCD7-E287F1684823}" dt="2026-09-01T14:51:22.729" v="3492" actId="20577"/>
          <ac:spMkLst>
            <pc:docMk/>
            <pc:sldMk cId="0" sldId="258"/>
            <ac:spMk id="10" creationId="{00000000-0000-0000-0000-000000000000}"/>
          </ac:spMkLst>
        </pc:spChg>
        <pc:spChg chg="mod">
          <ac:chgData name="Jay Padhya" userId="99449f0b-447f-4fbb-878a-15ec063fa8cd" providerId="ADAL" clId="{E308DACC-A42A-4B27-BCD7-E287F1684823}" dt="2026-09-01T14:52:10.908" v="3505" actId="20577"/>
          <ac:spMkLst>
            <pc:docMk/>
            <pc:sldMk cId="0" sldId="258"/>
            <ac:spMk id="12" creationId="{00000000-0000-0000-0000-000000000000}"/>
          </ac:spMkLst>
        </pc:spChg>
        <pc:spChg chg="mod">
          <ac:chgData name="Jay Padhya" userId="99449f0b-447f-4fbb-878a-15ec063fa8cd" providerId="ADAL" clId="{E308DACC-A42A-4B27-BCD7-E287F1684823}" dt="2026-09-01T14:52:05.544" v="3503" actId="14100"/>
          <ac:spMkLst>
            <pc:docMk/>
            <pc:sldMk cId="0" sldId="258"/>
            <ac:spMk id="13" creationId="{00000000-0000-0000-0000-000000000000}"/>
          </ac:spMkLst>
        </pc:spChg>
        <pc:spChg chg="mod">
          <ac:chgData name="Jay Padhya" userId="99449f0b-447f-4fbb-878a-15ec063fa8cd" providerId="ADAL" clId="{E308DACC-A42A-4B27-BCD7-E287F1684823}" dt="2026-09-01T14:55:03.164" v="3618" actId="1076"/>
          <ac:spMkLst>
            <pc:docMk/>
            <pc:sldMk cId="0" sldId="258"/>
            <ac:spMk id="14" creationId="{00000000-0000-0000-0000-000000000000}"/>
          </ac:spMkLst>
        </pc:spChg>
        <pc:spChg chg="mod">
          <ac:chgData name="Jay Padhya" userId="99449f0b-447f-4fbb-878a-15ec063fa8cd" providerId="ADAL" clId="{E308DACC-A42A-4B27-BCD7-E287F1684823}" dt="2026-09-01T14:55:06.165" v="3619" actId="1076"/>
          <ac:spMkLst>
            <pc:docMk/>
            <pc:sldMk cId="0" sldId="258"/>
            <ac:spMk id="15" creationId="{00000000-0000-0000-0000-000000000000}"/>
          </ac:spMkLst>
        </pc:spChg>
        <pc:spChg chg="add del">
          <ac:chgData name="Jay Padhya" userId="99449f0b-447f-4fbb-878a-15ec063fa8cd" providerId="ADAL" clId="{E308DACC-A42A-4B27-BCD7-E287F1684823}" dt="2026-09-01T14:55:08.398" v="3621" actId="22"/>
          <ac:spMkLst>
            <pc:docMk/>
            <pc:sldMk cId="0" sldId="258"/>
            <ac:spMk id="16" creationId="{10E7CFF3-2700-90D4-4F09-109B22FDEC84}"/>
          </ac:spMkLst>
        </pc:spChg>
        <pc:spChg chg="add del">
          <ac:chgData name="Jay Padhya" userId="99449f0b-447f-4fbb-878a-15ec063fa8cd" providerId="ADAL" clId="{E308DACC-A42A-4B27-BCD7-E287F1684823}" dt="2026-09-01T14:55:08.398" v="3621" actId="22"/>
          <ac:spMkLst>
            <pc:docMk/>
            <pc:sldMk cId="0" sldId="258"/>
            <ac:spMk id="18" creationId="{1181BFB9-6EBD-91FD-A316-DFE9F1ACECF0}"/>
          </ac:spMkLst>
        </pc:spChg>
      </pc:sldChg>
      <pc:sldChg chg="addSp delSp modSp del mod modNotesTx">
        <pc:chgData name="Jay Padhya" userId="99449f0b-447f-4fbb-878a-15ec063fa8cd" providerId="ADAL" clId="{E308DACC-A42A-4B27-BCD7-E287F1684823}" dt="2026-09-01T14:59:08.885" v="3624"/>
        <pc:sldMkLst>
          <pc:docMk/>
          <pc:sldMk cId="0" sldId="259"/>
        </pc:sldMkLst>
        <pc:spChg chg="del">
          <ac:chgData name="Jay Padhya" userId="99449f0b-447f-4fbb-878a-15ec063fa8cd" providerId="ADAL" clId="{E308DACC-A42A-4B27-BCD7-E287F1684823}" dt="2026-08-31T17:04:08.998" v="328" actId="478"/>
          <ac:spMkLst>
            <pc:docMk/>
            <pc:sldMk cId="0" sldId="259"/>
            <ac:spMk id="3" creationId="{00000000-0000-0000-0000-000000000000}"/>
          </ac:spMkLst>
        </pc:spChg>
        <pc:spChg chg="mod">
          <ac:chgData name="Jay Padhya" userId="99449f0b-447f-4fbb-878a-15ec063fa8cd" providerId="ADAL" clId="{E308DACC-A42A-4B27-BCD7-E287F1684823}" dt="2026-08-31T17:04:06.590" v="327" actId="20577"/>
          <ac:spMkLst>
            <pc:docMk/>
            <pc:sldMk cId="0" sldId="259"/>
            <ac:spMk id="4" creationId="{00000000-0000-0000-0000-000000000000}"/>
          </ac:spMkLst>
        </pc:spChg>
        <pc:spChg chg="del">
          <ac:chgData name="Jay Padhya" userId="99449f0b-447f-4fbb-878a-15ec063fa8cd" providerId="ADAL" clId="{E308DACC-A42A-4B27-BCD7-E287F1684823}" dt="2026-09-01T14:54:35.782" v="3617" actId="478"/>
          <ac:spMkLst>
            <pc:docMk/>
            <pc:sldMk cId="0" sldId="259"/>
            <ac:spMk id="5" creationId="{00000000-0000-0000-0000-000000000000}"/>
          </ac:spMkLst>
        </pc:spChg>
        <pc:spChg chg="del">
          <ac:chgData name="Jay Padhya" userId="99449f0b-447f-4fbb-878a-15ec063fa8cd" providerId="ADAL" clId="{E308DACC-A42A-4B27-BCD7-E287F1684823}" dt="2026-08-31T21:58:25.269" v="1694"/>
          <ac:spMkLst>
            <pc:docMk/>
            <pc:sldMk cId="0" sldId="259"/>
            <ac:spMk id="6" creationId="{00000000-0000-0000-0000-000000000000}"/>
          </ac:spMkLst>
        </pc:spChg>
        <pc:spChg chg="del">
          <ac:chgData name="Jay Padhya" userId="99449f0b-447f-4fbb-878a-15ec063fa8cd" providerId="ADAL" clId="{E308DACC-A42A-4B27-BCD7-E287F1684823}" dt="2026-08-31T17:04:11.919" v="329" actId="478"/>
          <ac:spMkLst>
            <pc:docMk/>
            <pc:sldMk cId="0" sldId="259"/>
            <ac:spMk id="8" creationId="{00000000-0000-0000-0000-000000000000}"/>
          </ac:spMkLst>
        </pc:spChg>
        <pc:spChg chg="mod">
          <ac:chgData name="Jay Padhya" userId="99449f0b-447f-4fbb-878a-15ec063fa8cd" providerId="ADAL" clId="{E308DACC-A42A-4B27-BCD7-E287F1684823}" dt="2026-08-31T17:04:14.149" v="330" actId="1076"/>
          <ac:spMkLst>
            <pc:docMk/>
            <pc:sldMk cId="0" sldId="259"/>
            <ac:spMk id="9" creationId="{00000000-0000-0000-0000-000000000000}"/>
          </ac:spMkLst>
        </pc:spChg>
        <pc:spChg chg="mod">
          <ac:chgData name="Jay Padhya" userId="99449f0b-447f-4fbb-878a-15ec063fa8cd" providerId="ADAL" clId="{E308DACC-A42A-4B27-BCD7-E287F1684823}" dt="2026-08-31T17:04:17.516" v="331" actId="1076"/>
          <ac:spMkLst>
            <pc:docMk/>
            <pc:sldMk cId="0" sldId="259"/>
            <ac:spMk id="10" creationId="{00000000-0000-0000-0000-000000000000}"/>
          </ac:spMkLst>
        </pc:spChg>
        <pc:spChg chg="del">
          <ac:chgData name="Jay Padhya" userId="99449f0b-447f-4fbb-878a-15ec063fa8cd" providerId="ADAL" clId="{E308DACC-A42A-4B27-BCD7-E287F1684823}" dt="2026-08-31T17:00:34.429" v="226" actId="478"/>
          <ac:spMkLst>
            <pc:docMk/>
            <pc:sldMk cId="0" sldId="259"/>
            <ac:spMk id="11" creationId="{00000000-0000-0000-0000-000000000000}"/>
          </ac:spMkLst>
        </pc:spChg>
        <pc:spChg chg="mod">
          <ac:chgData name="Jay Padhya" userId="99449f0b-447f-4fbb-878a-15ec063fa8cd" providerId="ADAL" clId="{E308DACC-A42A-4B27-BCD7-E287F1684823}" dt="2026-08-31T17:04:35.862" v="336" actId="14100"/>
          <ac:spMkLst>
            <pc:docMk/>
            <pc:sldMk cId="0" sldId="259"/>
            <ac:spMk id="12" creationId="{00000000-0000-0000-0000-000000000000}"/>
          </ac:spMkLst>
        </pc:spChg>
        <pc:spChg chg="mod">
          <ac:chgData name="Jay Padhya" userId="99449f0b-447f-4fbb-878a-15ec063fa8cd" providerId="ADAL" clId="{E308DACC-A42A-4B27-BCD7-E287F1684823}" dt="2026-08-31T17:04:29.017" v="334" actId="1076"/>
          <ac:spMkLst>
            <pc:docMk/>
            <pc:sldMk cId="0" sldId="259"/>
            <ac:spMk id="13" creationId="{00000000-0000-0000-0000-000000000000}"/>
          </ac:spMkLst>
        </pc:spChg>
        <pc:spChg chg="del">
          <ac:chgData name="Jay Padhya" userId="99449f0b-447f-4fbb-878a-15ec063fa8cd" providerId="ADAL" clId="{E308DACC-A42A-4B27-BCD7-E287F1684823}" dt="2026-08-31T17:00:35.783" v="227" actId="478"/>
          <ac:spMkLst>
            <pc:docMk/>
            <pc:sldMk cId="0" sldId="259"/>
            <ac:spMk id="14" creationId="{00000000-0000-0000-0000-000000000000}"/>
          </ac:spMkLst>
        </pc:spChg>
        <pc:spChg chg="del mod">
          <ac:chgData name="Jay Padhya" userId="99449f0b-447f-4fbb-878a-15ec063fa8cd" providerId="ADAL" clId="{E308DACC-A42A-4B27-BCD7-E287F1684823}" dt="2026-09-01T14:54:35.782" v="3617" actId="478"/>
          <ac:spMkLst>
            <pc:docMk/>
            <pc:sldMk cId="0" sldId="259"/>
            <ac:spMk id="15" creationId="{00000000-0000-0000-0000-000000000000}"/>
          </ac:spMkLst>
        </pc:spChg>
        <pc:spChg chg="del mod">
          <ac:chgData name="Jay Padhya" userId="99449f0b-447f-4fbb-878a-15ec063fa8cd" providerId="ADAL" clId="{E308DACC-A42A-4B27-BCD7-E287F1684823}" dt="2026-09-01T14:54:35.782" v="3617" actId="478"/>
          <ac:spMkLst>
            <pc:docMk/>
            <pc:sldMk cId="0" sldId="259"/>
            <ac:spMk id="16" creationId="{00000000-0000-0000-0000-000000000000}"/>
          </ac:spMkLst>
        </pc:spChg>
        <pc:spChg chg="del mod">
          <ac:chgData name="Jay Padhya" userId="99449f0b-447f-4fbb-878a-15ec063fa8cd" providerId="ADAL" clId="{E308DACC-A42A-4B27-BCD7-E287F1684823}" dt="2026-09-01T14:54:35.782" v="3617" actId="478"/>
          <ac:spMkLst>
            <pc:docMk/>
            <pc:sldMk cId="0" sldId="259"/>
            <ac:spMk id="17" creationId="{00000000-0000-0000-0000-000000000000}"/>
          </ac:spMkLst>
        </pc:spChg>
        <pc:spChg chg="add del mod">
          <ac:chgData name="Jay Padhya" userId="99449f0b-447f-4fbb-878a-15ec063fa8cd" providerId="ADAL" clId="{E308DACC-A42A-4B27-BCD7-E287F1684823}" dt="2026-09-01T14:54:26.232" v="3613" actId="478"/>
          <ac:spMkLst>
            <pc:docMk/>
            <pc:sldMk cId="0" sldId="259"/>
            <ac:spMk id="18" creationId="{00000000-0000-0000-0000-000000000000}"/>
          </ac:spMkLst>
        </pc:spChg>
        <pc:spChg chg="del">
          <ac:chgData name="Jay Padhya" userId="99449f0b-447f-4fbb-878a-15ec063fa8cd" providerId="ADAL" clId="{E308DACC-A42A-4B27-BCD7-E287F1684823}" dt="2026-09-01T14:54:35.782" v="3617" actId="478"/>
          <ac:spMkLst>
            <pc:docMk/>
            <pc:sldMk cId="0" sldId="259"/>
            <ac:spMk id="19" creationId="{00000000-0000-0000-0000-000000000000}"/>
          </ac:spMkLst>
        </pc:spChg>
        <pc:spChg chg="del mod">
          <ac:chgData name="Jay Padhya" userId="99449f0b-447f-4fbb-878a-15ec063fa8cd" providerId="ADAL" clId="{E308DACC-A42A-4B27-BCD7-E287F1684823}" dt="2026-09-01T14:54:35.782" v="3617" actId="478"/>
          <ac:spMkLst>
            <pc:docMk/>
            <pc:sldMk cId="0" sldId="259"/>
            <ac:spMk id="20" creationId="{00000000-0000-0000-0000-000000000000}"/>
          </ac:spMkLst>
        </pc:spChg>
        <pc:spChg chg="add del mod">
          <ac:chgData name="Jay Padhya" userId="99449f0b-447f-4fbb-878a-15ec063fa8cd" providerId="ADAL" clId="{E308DACC-A42A-4B27-BCD7-E287F1684823}" dt="2026-09-01T14:54:27.958" v="3614" actId="478"/>
          <ac:spMkLst>
            <pc:docMk/>
            <pc:sldMk cId="0" sldId="259"/>
            <ac:spMk id="21" creationId="{00000000-0000-0000-0000-000000000000}"/>
          </ac:spMkLst>
        </pc:spChg>
        <pc:spChg chg="del mod">
          <ac:chgData name="Jay Padhya" userId="99449f0b-447f-4fbb-878a-15ec063fa8cd" providerId="ADAL" clId="{E308DACC-A42A-4B27-BCD7-E287F1684823}" dt="2026-09-01T14:54:35.782" v="3617" actId="478"/>
          <ac:spMkLst>
            <pc:docMk/>
            <pc:sldMk cId="0" sldId="259"/>
            <ac:spMk id="22" creationId="{00000000-0000-0000-0000-000000000000}"/>
          </ac:spMkLst>
        </pc:spChg>
        <pc:spChg chg="del mod">
          <ac:chgData name="Jay Padhya" userId="99449f0b-447f-4fbb-878a-15ec063fa8cd" providerId="ADAL" clId="{E308DACC-A42A-4B27-BCD7-E287F1684823}" dt="2026-09-01T14:54:35.782" v="3617" actId="478"/>
          <ac:spMkLst>
            <pc:docMk/>
            <pc:sldMk cId="0" sldId="259"/>
            <ac:spMk id="23" creationId="{00000000-0000-0000-0000-000000000000}"/>
          </ac:spMkLst>
        </pc:spChg>
        <pc:spChg chg="add del mod">
          <ac:chgData name="Jay Padhya" userId="99449f0b-447f-4fbb-878a-15ec063fa8cd" providerId="ADAL" clId="{E308DACC-A42A-4B27-BCD7-E287F1684823}" dt="2026-09-01T14:54:31.032" v="3615" actId="478"/>
          <ac:spMkLst>
            <pc:docMk/>
            <pc:sldMk cId="0" sldId="259"/>
            <ac:spMk id="24" creationId="{00000000-0000-0000-0000-000000000000}"/>
          </ac:spMkLst>
        </pc:spChg>
        <pc:spChg chg="del">
          <ac:chgData name="Jay Padhya" userId="99449f0b-447f-4fbb-878a-15ec063fa8cd" providerId="ADAL" clId="{E308DACC-A42A-4B27-BCD7-E287F1684823}" dt="2026-09-01T14:54:35.782" v="3617" actId="478"/>
          <ac:spMkLst>
            <pc:docMk/>
            <pc:sldMk cId="0" sldId="259"/>
            <ac:spMk id="25" creationId="{00000000-0000-0000-0000-000000000000}"/>
          </ac:spMkLst>
        </pc:spChg>
        <pc:spChg chg="del mod">
          <ac:chgData name="Jay Padhya" userId="99449f0b-447f-4fbb-878a-15ec063fa8cd" providerId="ADAL" clId="{E308DACC-A42A-4B27-BCD7-E287F1684823}" dt="2026-09-01T14:54:35.782" v="3617" actId="478"/>
          <ac:spMkLst>
            <pc:docMk/>
            <pc:sldMk cId="0" sldId="259"/>
            <ac:spMk id="26" creationId="{00000000-0000-0000-0000-000000000000}"/>
          </ac:spMkLst>
        </pc:spChg>
        <pc:spChg chg="add del mod">
          <ac:chgData name="Jay Padhya" userId="99449f0b-447f-4fbb-878a-15ec063fa8cd" providerId="ADAL" clId="{E308DACC-A42A-4B27-BCD7-E287F1684823}" dt="2026-09-01T14:54:32.399" v="3616" actId="478"/>
          <ac:spMkLst>
            <pc:docMk/>
            <pc:sldMk cId="0" sldId="259"/>
            <ac:spMk id="27" creationId="{00000000-0000-0000-0000-000000000000}"/>
          </ac:spMkLst>
        </pc:spChg>
        <pc:spChg chg="add del mod">
          <ac:chgData name="Jay Padhya" userId="99449f0b-447f-4fbb-878a-15ec063fa8cd" providerId="ADAL" clId="{E308DACC-A42A-4B27-BCD7-E287F1684823}" dt="2026-08-31T17:06:41.968" v="506"/>
          <ac:spMkLst>
            <pc:docMk/>
            <pc:sldMk cId="0" sldId="259"/>
            <ac:spMk id="28" creationId="{1E6CA66F-0640-EF5B-48BF-8E552A9BFBB7}"/>
          </ac:spMkLst>
        </pc:spChg>
      </pc:sldChg>
      <pc:sldChg chg="delSp modSp mod modNotesTx">
        <pc:chgData name="Jay Padhya" userId="99449f0b-447f-4fbb-878a-15ec063fa8cd" providerId="ADAL" clId="{E308DACC-A42A-4B27-BCD7-E287F1684823}" dt="2026-09-01T14:59:24.701" v="3625" actId="6549"/>
        <pc:sldMkLst>
          <pc:docMk/>
          <pc:sldMk cId="0" sldId="260"/>
        </pc:sldMkLst>
        <pc:spChg chg="del">
          <ac:chgData name="Jay Padhya" userId="99449f0b-447f-4fbb-878a-15ec063fa8cd" providerId="ADAL" clId="{E308DACC-A42A-4B27-BCD7-E287F1684823}" dt="2026-08-31T17:08:30.742" v="556" actId="478"/>
          <ac:spMkLst>
            <pc:docMk/>
            <pc:sldMk cId="0" sldId="260"/>
            <ac:spMk id="3" creationId="{00000000-0000-0000-0000-000000000000}"/>
          </ac:spMkLst>
        </pc:spChg>
        <pc:spChg chg="mod">
          <ac:chgData name="Jay Padhya" userId="99449f0b-447f-4fbb-878a-15ec063fa8cd" providerId="ADAL" clId="{E308DACC-A42A-4B27-BCD7-E287F1684823}" dt="2026-08-31T17:08:36.714" v="567" actId="20577"/>
          <ac:spMkLst>
            <pc:docMk/>
            <pc:sldMk cId="0" sldId="260"/>
            <ac:spMk id="4" creationId="{00000000-0000-0000-0000-000000000000}"/>
          </ac:spMkLst>
        </pc:spChg>
        <pc:spChg chg="del">
          <ac:chgData name="Jay Padhya" userId="99449f0b-447f-4fbb-878a-15ec063fa8cd" providerId="ADAL" clId="{E308DACC-A42A-4B27-BCD7-E287F1684823}" dt="2026-08-31T21:58:25.275" v="1695"/>
          <ac:spMkLst>
            <pc:docMk/>
            <pc:sldMk cId="0" sldId="260"/>
            <ac:spMk id="6" creationId="{00000000-0000-0000-0000-000000000000}"/>
          </ac:spMkLst>
        </pc:spChg>
        <pc:spChg chg="mod">
          <ac:chgData name="Jay Padhya" userId="99449f0b-447f-4fbb-878a-15ec063fa8cd" providerId="ADAL" clId="{E308DACC-A42A-4B27-BCD7-E287F1684823}" dt="2026-08-31T18:59:02.402" v="709" actId="20577"/>
          <ac:spMkLst>
            <pc:docMk/>
            <pc:sldMk cId="0" sldId="260"/>
            <ac:spMk id="8" creationId="{00000000-0000-0000-0000-000000000000}"/>
          </ac:spMkLst>
        </pc:spChg>
        <pc:spChg chg="mod">
          <ac:chgData name="Jay Padhya" userId="99449f0b-447f-4fbb-878a-15ec063fa8cd" providerId="ADAL" clId="{E308DACC-A42A-4B27-BCD7-E287F1684823}" dt="2026-09-01T14:59:24.701" v="3625" actId="6549"/>
          <ac:spMkLst>
            <pc:docMk/>
            <pc:sldMk cId="0" sldId="260"/>
            <ac:spMk id="34" creationId="{00000000-0000-0000-0000-000000000000}"/>
          </ac:spMkLst>
        </pc:spChg>
      </pc:sldChg>
      <pc:sldChg chg="delSp modSp mod modNotesTx">
        <pc:chgData name="Jay Padhya" userId="99449f0b-447f-4fbb-878a-15ec063fa8cd" providerId="ADAL" clId="{E308DACC-A42A-4B27-BCD7-E287F1684823}" dt="2026-08-31T21:34:26.143" v="1394" actId="20577"/>
        <pc:sldMkLst>
          <pc:docMk/>
          <pc:sldMk cId="0" sldId="261"/>
        </pc:sldMkLst>
        <pc:spChg chg="del">
          <ac:chgData name="Jay Padhya" userId="99449f0b-447f-4fbb-878a-15ec063fa8cd" providerId="ADAL" clId="{E308DACC-A42A-4B27-BCD7-E287F1684823}" dt="2026-08-31T19:03:09.959" v="850" actId="478"/>
          <ac:spMkLst>
            <pc:docMk/>
            <pc:sldMk cId="0" sldId="261"/>
            <ac:spMk id="3" creationId="{00000000-0000-0000-0000-000000000000}"/>
          </ac:spMkLst>
        </pc:spChg>
        <pc:spChg chg="mod">
          <ac:chgData name="Jay Padhya" userId="99449f0b-447f-4fbb-878a-15ec063fa8cd" providerId="ADAL" clId="{E308DACC-A42A-4B27-BCD7-E287F1684823}" dt="2026-08-31T19:03:12.548" v="851" actId="1076"/>
          <ac:spMkLst>
            <pc:docMk/>
            <pc:sldMk cId="0" sldId="261"/>
            <ac:spMk id="4" creationId="{00000000-0000-0000-0000-000000000000}"/>
          </ac:spMkLst>
        </pc:spChg>
        <pc:spChg chg="mod">
          <ac:chgData name="Jay Padhya" userId="99449f0b-447f-4fbb-878a-15ec063fa8cd" providerId="ADAL" clId="{E308DACC-A42A-4B27-BCD7-E287F1684823}" dt="2026-08-31T19:03:39.595" v="857" actId="14100"/>
          <ac:spMkLst>
            <pc:docMk/>
            <pc:sldMk cId="0" sldId="261"/>
            <ac:spMk id="12" creationId="{00000000-0000-0000-0000-000000000000}"/>
          </ac:spMkLst>
        </pc:spChg>
        <pc:spChg chg="del">
          <ac:chgData name="Jay Padhya" userId="99449f0b-447f-4fbb-878a-15ec063fa8cd" providerId="ADAL" clId="{E308DACC-A42A-4B27-BCD7-E287F1684823}" dt="2026-08-31T19:03:24.887" v="852" actId="478"/>
          <ac:spMkLst>
            <pc:docMk/>
            <pc:sldMk cId="0" sldId="261"/>
            <ac:spMk id="13" creationId="{00000000-0000-0000-0000-000000000000}"/>
          </ac:spMkLst>
        </pc:spChg>
        <pc:spChg chg="mod">
          <ac:chgData name="Jay Padhya" userId="99449f0b-447f-4fbb-878a-15ec063fa8cd" providerId="ADAL" clId="{E308DACC-A42A-4B27-BCD7-E287F1684823}" dt="2026-08-31T19:03:44.070" v="859" actId="20577"/>
          <ac:spMkLst>
            <pc:docMk/>
            <pc:sldMk cId="0" sldId="261"/>
            <ac:spMk id="18" creationId="{00000000-0000-0000-0000-000000000000}"/>
          </ac:spMkLst>
        </pc:spChg>
        <pc:spChg chg="del">
          <ac:chgData name="Jay Padhya" userId="99449f0b-447f-4fbb-878a-15ec063fa8cd" providerId="ADAL" clId="{E308DACC-A42A-4B27-BCD7-E287F1684823}" dt="2026-08-31T19:03:27.506" v="853" actId="478"/>
          <ac:spMkLst>
            <pc:docMk/>
            <pc:sldMk cId="0" sldId="261"/>
            <ac:spMk id="19" creationId="{00000000-0000-0000-0000-000000000000}"/>
          </ac:spMkLst>
        </pc:spChg>
        <pc:spChg chg="mod">
          <ac:chgData name="Jay Padhya" userId="99449f0b-447f-4fbb-878a-15ec063fa8cd" providerId="ADAL" clId="{E308DACC-A42A-4B27-BCD7-E287F1684823}" dt="2026-08-31T19:03:48.573" v="861" actId="20577"/>
          <ac:spMkLst>
            <pc:docMk/>
            <pc:sldMk cId="0" sldId="261"/>
            <ac:spMk id="24" creationId="{00000000-0000-0000-0000-000000000000}"/>
          </ac:spMkLst>
        </pc:spChg>
        <pc:spChg chg="del">
          <ac:chgData name="Jay Padhya" userId="99449f0b-447f-4fbb-878a-15ec063fa8cd" providerId="ADAL" clId="{E308DACC-A42A-4B27-BCD7-E287F1684823}" dt="2026-08-31T19:03:53" v="862" actId="478"/>
          <ac:spMkLst>
            <pc:docMk/>
            <pc:sldMk cId="0" sldId="261"/>
            <ac:spMk id="25" creationId="{00000000-0000-0000-0000-000000000000}"/>
          </ac:spMkLst>
        </pc:spChg>
        <pc:spChg chg="mod">
          <ac:chgData name="Jay Padhya" userId="99449f0b-447f-4fbb-878a-15ec063fa8cd" providerId="ADAL" clId="{E308DACC-A42A-4B27-BCD7-E287F1684823}" dt="2026-08-31T19:03:59.728" v="866" actId="14100"/>
          <ac:spMkLst>
            <pc:docMk/>
            <pc:sldMk cId="0" sldId="261"/>
            <ac:spMk id="30" creationId="{00000000-0000-0000-0000-000000000000}"/>
          </ac:spMkLst>
        </pc:spChg>
        <pc:spChg chg="del">
          <ac:chgData name="Jay Padhya" userId="99449f0b-447f-4fbb-878a-15ec063fa8cd" providerId="ADAL" clId="{E308DACC-A42A-4B27-BCD7-E287F1684823}" dt="2026-08-31T19:03:54.555" v="863" actId="478"/>
          <ac:spMkLst>
            <pc:docMk/>
            <pc:sldMk cId="0" sldId="261"/>
            <ac:spMk id="31" creationId="{00000000-0000-0000-0000-000000000000}"/>
          </ac:spMkLst>
        </pc:spChg>
      </pc:sldChg>
      <pc:sldChg chg="delSp modSp mod modNotesTx">
        <pc:chgData name="Jay Padhya" userId="99449f0b-447f-4fbb-878a-15ec063fa8cd" providerId="ADAL" clId="{E308DACC-A42A-4B27-BCD7-E287F1684823}" dt="2026-08-31T21:58:19.093" v="1690" actId="20577"/>
        <pc:sldMkLst>
          <pc:docMk/>
          <pc:sldMk cId="0" sldId="262"/>
        </pc:sldMkLst>
        <pc:spChg chg="del">
          <ac:chgData name="Jay Padhya" userId="99449f0b-447f-4fbb-878a-15ec063fa8cd" providerId="ADAL" clId="{E308DACC-A42A-4B27-BCD7-E287F1684823}" dt="2026-08-31T21:34:52.802" v="1412" actId="478"/>
          <ac:spMkLst>
            <pc:docMk/>
            <pc:sldMk cId="0" sldId="262"/>
            <ac:spMk id="3" creationId="{00000000-0000-0000-0000-000000000000}"/>
          </ac:spMkLst>
        </pc:spChg>
        <pc:spChg chg="mod">
          <ac:chgData name="Jay Padhya" userId="99449f0b-447f-4fbb-878a-15ec063fa8cd" providerId="ADAL" clId="{E308DACC-A42A-4B27-BCD7-E287F1684823}" dt="2026-08-31T21:34:55.558" v="1413" actId="1076"/>
          <ac:spMkLst>
            <pc:docMk/>
            <pc:sldMk cId="0" sldId="262"/>
            <ac:spMk id="4" creationId="{00000000-0000-0000-0000-000000000000}"/>
          </ac:spMkLst>
        </pc:spChg>
        <pc:spChg chg="del">
          <ac:chgData name="Jay Padhya" userId="99449f0b-447f-4fbb-878a-15ec063fa8cd" providerId="ADAL" clId="{E308DACC-A42A-4B27-BCD7-E287F1684823}" dt="2026-08-31T21:56:40.538" v="1618" actId="478"/>
          <ac:spMkLst>
            <pc:docMk/>
            <pc:sldMk cId="0" sldId="262"/>
            <ac:spMk id="6" creationId="{00000000-0000-0000-0000-000000000000}"/>
          </ac:spMkLst>
        </pc:spChg>
        <pc:spChg chg="mod">
          <ac:chgData name="Jay Padhya" userId="99449f0b-447f-4fbb-878a-15ec063fa8cd" providerId="ADAL" clId="{E308DACC-A42A-4B27-BCD7-E287F1684823}" dt="2026-08-31T21:58:19.093" v="1690" actId="20577"/>
          <ac:spMkLst>
            <pc:docMk/>
            <pc:sldMk cId="0" sldId="262"/>
            <ac:spMk id="22" creationId="{00000000-0000-0000-0000-000000000000}"/>
          </ac:spMkLst>
        </pc:spChg>
      </pc:sldChg>
      <pc:sldChg chg="delSp modSp mod modNotesTx">
        <pc:chgData name="Jay Padhya" userId="99449f0b-447f-4fbb-878a-15ec063fa8cd" providerId="ADAL" clId="{E308DACC-A42A-4B27-BCD7-E287F1684823}" dt="2026-08-31T22:01:36.135" v="1796" actId="20577"/>
        <pc:sldMkLst>
          <pc:docMk/>
          <pc:sldMk cId="0" sldId="263"/>
        </pc:sldMkLst>
        <pc:spChg chg="del">
          <ac:chgData name="Jay Padhya" userId="99449f0b-447f-4fbb-878a-15ec063fa8cd" providerId="ADAL" clId="{E308DACC-A42A-4B27-BCD7-E287F1684823}" dt="2026-08-31T21:57:20.448" v="1620" actId="478"/>
          <ac:spMkLst>
            <pc:docMk/>
            <pc:sldMk cId="0" sldId="263"/>
            <ac:spMk id="3" creationId="{00000000-0000-0000-0000-000000000000}"/>
          </ac:spMkLst>
        </pc:spChg>
        <pc:spChg chg="mod">
          <ac:chgData name="Jay Padhya" userId="99449f0b-447f-4fbb-878a-15ec063fa8cd" providerId="ADAL" clId="{E308DACC-A42A-4B27-BCD7-E287F1684823}" dt="2026-08-31T21:57:22.555" v="1621" actId="1076"/>
          <ac:spMkLst>
            <pc:docMk/>
            <pc:sldMk cId="0" sldId="263"/>
            <ac:spMk id="4" creationId="{00000000-0000-0000-0000-000000000000}"/>
          </ac:spMkLst>
        </pc:spChg>
        <pc:spChg chg="del">
          <ac:chgData name="Jay Padhya" userId="99449f0b-447f-4fbb-878a-15ec063fa8cd" providerId="ADAL" clId="{E308DACC-A42A-4B27-BCD7-E287F1684823}" dt="2026-08-31T21:58:25.286" v="1697"/>
          <ac:spMkLst>
            <pc:docMk/>
            <pc:sldMk cId="0" sldId="263"/>
            <ac:spMk id="6" creationId="{00000000-0000-0000-0000-000000000000}"/>
          </ac:spMkLst>
        </pc:spChg>
        <pc:spChg chg="mod">
          <ac:chgData name="Jay Padhya" userId="99449f0b-447f-4fbb-878a-15ec063fa8cd" providerId="ADAL" clId="{E308DACC-A42A-4B27-BCD7-E287F1684823}" dt="2026-08-31T21:59:16.388" v="1728" actId="20577"/>
          <ac:spMkLst>
            <pc:docMk/>
            <pc:sldMk cId="0" sldId="263"/>
            <ac:spMk id="16" creationId="{00000000-0000-0000-0000-000000000000}"/>
          </ac:spMkLst>
        </pc:spChg>
      </pc:sldChg>
      <pc:sldChg chg="delSp modSp del mod modNotesTx">
        <pc:chgData name="Jay Padhya" userId="99449f0b-447f-4fbb-878a-15ec063fa8cd" providerId="ADAL" clId="{E308DACC-A42A-4B27-BCD7-E287F1684823}" dt="2026-08-31T22:08:23.410" v="1937"/>
        <pc:sldMkLst>
          <pc:docMk/>
          <pc:sldMk cId="0" sldId="264"/>
        </pc:sldMkLst>
        <pc:spChg chg="mod">
          <ac:chgData name="Jay Padhya" userId="99449f0b-447f-4fbb-878a-15ec063fa8cd" providerId="ADAL" clId="{E308DACC-A42A-4B27-BCD7-E287F1684823}" dt="2026-08-31T22:03:28.702" v="1799" actId="20577"/>
          <ac:spMkLst>
            <pc:docMk/>
            <pc:sldMk cId="0" sldId="264"/>
            <ac:spMk id="3" creationId="{00000000-0000-0000-0000-000000000000}"/>
          </ac:spMkLst>
        </pc:spChg>
        <pc:spChg chg="del">
          <ac:chgData name="Jay Padhya" userId="99449f0b-447f-4fbb-878a-15ec063fa8cd" providerId="ADAL" clId="{E308DACC-A42A-4B27-BCD7-E287F1684823}" dt="2026-08-31T21:58:25.291" v="1698"/>
          <ac:spMkLst>
            <pc:docMk/>
            <pc:sldMk cId="0" sldId="264"/>
            <ac:spMk id="6" creationId="{00000000-0000-0000-0000-000000000000}"/>
          </ac:spMkLst>
        </pc:spChg>
        <pc:spChg chg="mod">
          <ac:chgData name="Jay Padhya" userId="99449f0b-447f-4fbb-878a-15ec063fa8cd" providerId="ADAL" clId="{E308DACC-A42A-4B27-BCD7-E287F1684823}" dt="2026-08-31T22:06:50.108" v="1935" actId="20577"/>
          <ac:spMkLst>
            <pc:docMk/>
            <pc:sldMk cId="0" sldId="264"/>
            <ac:spMk id="8" creationId="{00000000-0000-0000-0000-000000000000}"/>
          </ac:spMkLst>
        </pc:spChg>
        <pc:spChg chg="mod">
          <ac:chgData name="Jay Padhya" userId="99449f0b-447f-4fbb-878a-15ec063fa8cd" providerId="ADAL" clId="{E308DACC-A42A-4B27-BCD7-E287F1684823}" dt="2026-08-31T22:04:52.046" v="1838" actId="20577"/>
          <ac:spMkLst>
            <pc:docMk/>
            <pc:sldMk cId="0" sldId="264"/>
            <ac:spMk id="36" creationId="{00000000-0000-0000-0000-000000000000}"/>
          </ac:spMkLst>
        </pc:spChg>
      </pc:sldChg>
      <pc:sldChg chg="delSp modSp mod modNotesTx">
        <pc:chgData name="Jay Padhya" userId="99449f0b-447f-4fbb-878a-15ec063fa8cd" providerId="ADAL" clId="{E308DACC-A42A-4B27-BCD7-E287F1684823}" dt="2026-09-01T12:45:07.406" v="2684" actId="1076"/>
        <pc:sldMkLst>
          <pc:docMk/>
          <pc:sldMk cId="0" sldId="265"/>
        </pc:sldMkLst>
        <pc:spChg chg="mod">
          <ac:chgData name="Jay Padhya" userId="99449f0b-447f-4fbb-878a-15ec063fa8cd" providerId="ADAL" clId="{E308DACC-A42A-4B27-BCD7-E287F1684823}" dt="2026-08-31T22:10:16.512" v="1946" actId="20577"/>
          <ac:spMkLst>
            <pc:docMk/>
            <pc:sldMk cId="0" sldId="265"/>
            <ac:spMk id="3" creationId="{00000000-0000-0000-0000-000000000000}"/>
          </ac:spMkLst>
        </pc:spChg>
        <pc:spChg chg="mod">
          <ac:chgData name="Jay Padhya" userId="99449f0b-447f-4fbb-878a-15ec063fa8cd" providerId="ADAL" clId="{E308DACC-A42A-4B27-BCD7-E287F1684823}" dt="2026-08-31T22:11:28.317" v="1982" actId="20577"/>
          <ac:spMkLst>
            <pc:docMk/>
            <pc:sldMk cId="0" sldId="265"/>
            <ac:spMk id="4" creationId="{00000000-0000-0000-0000-000000000000}"/>
          </ac:spMkLst>
        </pc:spChg>
        <pc:spChg chg="del">
          <ac:chgData name="Jay Padhya" userId="99449f0b-447f-4fbb-878a-15ec063fa8cd" providerId="ADAL" clId="{E308DACC-A42A-4B27-BCD7-E287F1684823}" dt="2026-08-31T21:58:25.295" v="1699"/>
          <ac:spMkLst>
            <pc:docMk/>
            <pc:sldMk cId="0" sldId="265"/>
            <ac:spMk id="6" creationId="{00000000-0000-0000-0000-000000000000}"/>
          </ac:spMkLst>
        </pc:spChg>
        <pc:spChg chg="mod">
          <ac:chgData name="Jay Padhya" userId="99449f0b-447f-4fbb-878a-15ec063fa8cd" providerId="ADAL" clId="{E308DACC-A42A-4B27-BCD7-E287F1684823}" dt="2026-08-31T22:12:22.037" v="1990" actId="1076"/>
          <ac:spMkLst>
            <pc:docMk/>
            <pc:sldMk cId="0" sldId="265"/>
            <ac:spMk id="8" creationId="{00000000-0000-0000-0000-000000000000}"/>
          </ac:spMkLst>
        </pc:spChg>
        <pc:spChg chg="mod">
          <ac:chgData name="Jay Padhya" userId="99449f0b-447f-4fbb-878a-15ec063fa8cd" providerId="ADAL" clId="{E308DACC-A42A-4B27-BCD7-E287F1684823}" dt="2026-08-31T22:12:26.644" v="1991" actId="14100"/>
          <ac:spMkLst>
            <pc:docMk/>
            <pc:sldMk cId="0" sldId="265"/>
            <ac:spMk id="9" creationId="{00000000-0000-0000-0000-000000000000}"/>
          </ac:spMkLst>
        </pc:spChg>
        <pc:spChg chg="mod">
          <ac:chgData name="Jay Padhya" userId="99449f0b-447f-4fbb-878a-15ec063fa8cd" providerId="ADAL" clId="{E308DACC-A42A-4B27-BCD7-E287F1684823}" dt="2026-08-31T22:12:04.958" v="1985" actId="14100"/>
          <ac:spMkLst>
            <pc:docMk/>
            <pc:sldMk cId="0" sldId="265"/>
            <ac:spMk id="10" creationId="{00000000-0000-0000-0000-000000000000}"/>
          </ac:spMkLst>
        </pc:spChg>
        <pc:spChg chg="mod">
          <ac:chgData name="Jay Padhya" userId="99449f0b-447f-4fbb-878a-15ec063fa8cd" providerId="ADAL" clId="{E308DACC-A42A-4B27-BCD7-E287F1684823}" dt="2026-08-31T22:12:19.292" v="1989" actId="1076"/>
          <ac:spMkLst>
            <pc:docMk/>
            <pc:sldMk cId="0" sldId="265"/>
            <ac:spMk id="11" creationId="{00000000-0000-0000-0000-000000000000}"/>
          </ac:spMkLst>
        </pc:spChg>
        <pc:spChg chg="mod">
          <ac:chgData name="Jay Padhya" userId="99449f0b-447f-4fbb-878a-15ec063fa8cd" providerId="ADAL" clId="{E308DACC-A42A-4B27-BCD7-E287F1684823}" dt="2026-08-31T22:12:16.924" v="1988" actId="14100"/>
          <ac:spMkLst>
            <pc:docMk/>
            <pc:sldMk cId="0" sldId="265"/>
            <ac:spMk id="12" creationId="{00000000-0000-0000-0000-000000000000}"/>
          </ac:spMkLst>
        </pc:spChg>
        <pc:spChg chg="mod">
          <ac:chgData name="Jay Padhya" userId="99449f0b-447f-4fbb-878a-15ec063fa8cd" providerId="ADAL" clId="{E308DACC-A42A-4B27-BCD7-E287F1684823}" dt="2026-08-31T22:12:14.529" v="1987" actId="14100"/>
          <ac:spMkLst>
            <pc:docMk/>
            <pc:sldMk cId="0" sldId="265"/>
            <ac:spMk id="13" creationId="{00000000-0000-0000-0000-000000000000}"/>
          </ac:spMkLst>
        </pc:spChg>
        <pc:spChg chg="mod">
          <ac:chgData name="Jay Padhya" userId="99449f0b-447f-4fbb-878a-15ec063fa8cd" providerId="ADAL" clId="{E308DACC-A42A-4B27-BCD7-E287F1684823}" dt="2026-09-01T12:44:55.885" v="2681" actId="1076"/>
          <ac:spMkLst>
            <pc:docMk/>
            <pc:sldMk cId="0" sldId="265"/>
            <ac:spMk id="18" creationId="{00000000-0000-0000-0000-000000000000}"/>
          </ac:spMkLst>
        </pc:spChg>
        <pc:spChg chg="mod">
          <ac:chgData name="Jay Padhya" userId="99449f0b-447f-4fbb-878a-15ec063fa8cd" providerId="ADAL" clId="{E308DACC-A42A-4B27-BCD7-E287F1684823}" dt="2026-09-01T12:44:51.563" v="2680" actId="1076"/>
          <ac:spMkLst>
            <pc:docMk/>
            <pc:sldMk cId="0" sldId="265"/>
            <ac:spMk id="19" creationId="{00000000-0000-0000-0000-000000000000}"/>
          </ac:spMkLst>
        </pc:spChg>
        <pc:spChg chg="mod">
          <ac:chgData name="Jay Padhya" userId="99449f0b-447f-4fbb-878a-15ec063fa8cd" providerId="ADAL" clId="{E308DACC-A42A-4B27-BCD7-E287F1684823}" dt="2026-09-01T12:44:59.248" v="2682" actId="1076"/>
          <ac:spMkLst>
            <pc:docMk/>
            <pc:sldMk cId="0" sldId="265"/>
            <ac:spMk id="21" creationId="{00000000-0000-0000-0000-000000000000}"/>
          </ac:spMkLst>
        </pc:spChg>
        <pc:spChg chg="mod">
          <ac:chgData name="Jay Padhya" userId="99449f0b-447f-4fbb-878a-15ec063fa8cd" providerId="ADAL" clId="{E308DACC-A42A-4B27-BCD7-E287F1684823}" dt="2026-09-01T12:45:07.406" v="2684" actId="1076"/>
          <ac:spMkLst>
            <pc:docMk/>
            <pc:sldMk cId="0" sldId="265"/>
            <ac:spMk id="22" creationId="{00000000-0000-0000-0000-000000000000}"/>
          </ac:spMkLst>
        </pc:spChg>
      </pc:sldChg>
      <pc:sldChg chg="delSp modSp del mod modNotesTx">
        <pc:chgData name="Jay Padhya" userId="99449f0b-447f-4fbb-878a-15ec063fa8cd" providerId="ADAL" clId="{E308DACC-A42A-4B27-BCD7-E287F1684823}" dt="2026-08-31T22:43:24.974" v="2252"/>
        <pc:sldMkLst>
          <pc:docMk/>
          <pc:sldMk cId="0" sldId="266"/>
        </pc:sldMkLst>
        <pc:spChg chg="mod">
          <ac:chgData name="Jay Padhya" userId="99449f0b-447f-4fbb-878a-15ec063fa8cd" providerId="ADAL" clId="{E308DACC-A42A-4B27-BCD7-E287F1684823}" dt="2026-08-31T22:42:41.497" v="2250" actId="20577"/>
          <ac:spMkLst>
            <pc:docMk/>
            <pc:sldMk cId="0" sldId="266"/>
            <ac:spMk id="4" creationId="{00000000-0000-0000-0000-000000000000}"/>
          </ac:spMkLst>
        </pc:spChg>
        <pc:spChg chg="del">
          <ac:chgData name="Jay Padhya" userId="99449f0b-447f-4fbb-878a-15ec063fa8cd" providerId="ADAL" clId="{E308DACC-A42A-4B27-BCD7-E287F1684823}" dt="2026-08-31T22:42:12.491" v="2213" actId="478"/>
          <ac:spMkLst>
            <pc:docMk/>
            <pc:sldMk cId="0" sldId="266"/>
            <ac:spMk id="5" creationId="{00000000-0000-0000-0000-000000000000}"/>
          </ac:spMkLst>
        </pc:spChg>
        <pc:spChg chg="del">
          <ac:chgData name="Jay Padhya" userId="99449f0b-447f-4fbb-878a-15ec063fa8cd" providerId="ADAL" clId="{E308DACC-A42A-4B27-BCD7-E287F1684823}" dt="2026-08-31T21:58:25.300" v="1700"/>
          <ac:spMkLst>
            <pc:docMk/>
            <pc:sldMk cId="0" sldId="266"/>
            <ac:spMk id="6" creationId="{00000000-0000-0000-0000-000000000000}"/>
          </ac:spMkLst>
        </pc:spChg>
        <pc:spChg chg="mod">
          <ac:chgData name="Jay Padhya" userId="99449f0b-447f-4fbb-878a-15ec063fa8cd" providerId="ADAL" clId="{E308DACC-A42A-4B27-BCD7-E287F1684823}" dt="2026-08-31T22:42:25.830" v="2215" actId="1076"/>
          <ac:spMkLst>
            <pc:docMk/>
            <pc:sldMk cId="0" sldId="266"/>
            <ac:spMk id="8" creationId="{00000000-0000-0000-0000-000000000000}"/>
          </ac:spMkLst>
        </pc:spChg>
        <pc:spChg chg="mod">
          <ac:chgData name="Jay Padhya" userId="99449f0b-447f-4fbb-878a-15ec063fa8cd" providerId="ADAL" clId="{E308DACC-A42A-4B27-BCD7-E287F1684823}" dt="2026-08-31T22:42:20.994" v="2214" actId="1076"/>
          <ac:spMkLst>
            <pc:docMk/>
            <pc:sldMk cId="0" sldId="266"/>
            <ac:spMk id="9" creationId="{00000000-0000-0000-0000-000000000000}"/>
          </ac:spMkLst>
        </pc:spChg>
        <pc:spChg chg="mod">
          <ac:chgData name="Jay Padhya" userId="99449f0b-447f-4fbb-878a-15ec063fa8cd" providerId="ADAL" clId="{E308DACC-A42A-4B27-BCD7-E287F1684823}" dt="2026-08-31T22:42:20.994" v="2214" actId="1076"/>
          <ac:spMkLst>
            <pc:docMk/>
            <pc:sldMk cId="0" sldId="266"/>
            <ac:spMk id="11" creationId="{00000000-0000-0000-0000-000000000000}"/>
          </ac:spMkLst>
        </pc:spChg>
        <pc:spChg chg="mod">
          <ac:chgData name="Jay Padhya" userId="99449f0b-447f-4fbb-878a-15ec063fa8cd" providerId="ADAL" clId="{E308DACC-A42A-4B27-BCD7-E287F1684823}" dt="2026-08-31T22:42:20.994" v="2214" actId="1076"/>
          <ac:spMkLst>
            <pc:docMk/>
            <pc:sldMk cId="0" sldId="266"/>
            <ac:spMk id="19" creationId="{00000000-0000-0000-0000-000000000000}"/>
          </ac:spMkLst>
        </pc:spChg>
        <pc:spChg chg="mod">
          <ac:chgData name="Jay Padhya" userId="99449f0b-447f-4fbb-878a-15ec063fa8cd" providerId="ADAL" clId="{E308DACC-A42A-4B27-BCD7-E287F1684823}" dt="2026-08-31T22:42:20.994" v="2214" actId="1076"/>
          <ac:spMkLst>
            <pc:docMk/>
            <pc:sldMk cId="0" sldId="266"/>
            <ac:spMk id="27" creationId="{00000000-0000-0000-0000-000000000000}"/>
          </ac:spMkLst>
        </pc:spChg>
        <pc:spChg chg="mod">
          <ac:chgData name="Jay Padhya" userId="99449f0b-447f-4fbb-878a-15ec063fa8cd" providerId="ADAL" clId="{E308DACC-A42A-4B27-BCD7-E287F1684823}" dt="2026-08-31T22:42:20.994" v="2214" actId="1076"/>
          <ac:spMkLst>
            <pc:docMk/>
            <pc:sldMk cId="0" sldId="266"/>
            <ac:spMk id="41" creationId="{00000000-0000-0000-0000-000000000000}"/>
          </ac:spMkLst>
        </pc:spChg>
        <pc:spChg chg="mod">
          <ac:chgData name="Jay Padhya" userId="99449f0b-447f-4fbb-878a-15ec063fa8cd" providerId="ADAL" clId="{E308DACC-A42A-4B27-BCD7-E287F1684823}" dt="2026-08-31T22:42:20.994" v="2214" actId="1076"/>
          <ac:spMkLst>
            <pc:docMk/>
            <pc:sldMk cId="0" sldId="266"/>
            <ac:spMk id="42" creationId="{00000000-0000-0000-0000-000000000000}"/>
          </ac:spMkLst>
        </pc:spChg>
        <pc:spChg chg="mod">
          <ac:chgData name="Jay Padhya" userId="99449f0b-447f-4fbb-878a-15ec063fa8cd" providerId="ADAL" clId="{E308DACC-A42A-4B27-BCD7-E287F1684823}" dt="2026-08-31T22:42:20.994" v="2214" actId="1076"/>
          <ac:spMkLst>
            <pc:docMk/>
            <pc:sldMk cId="0" sldId="266"/>
            <ac:spMk id="44" creationId="{00000000-0000-0000-0000-000000000000}"/>
          </ac:spMkLst>
        </pc:spChg>
        <pc:spChg chg="mod">
          <ac:chgData name="Jay Padhya" userId="99449f0b-447f-4fbb-878a-15ec063fa8cd" providerId="ADAL" clId="{E308DACC-A42A-4B27-BCD7-E287F1684823}" dt="2026-08-31T22:42:20.994" v="2214" actId="1076"/>
          <ac:spMkLst>
            <pc:docMk/>
            <pc:sldMk cId="0" sldId="266"/>
            <ac:spMk id="58" creationId="{00000000-0000-0000-0000-000000000000}"/>
          </ac:spMkLst>
        </pc:spChg>
        <pc:spChg chg="mod">
          <ac:chgData name="Jay Padhya" userId="99449f0b-447f-4fbb-878a-15ec063fa8cd" providerId="ADAL" clId="{E308DACC-A42A-4B27-BCD7-E287F1684823}" dt="2026-08-31T22:42:20.994" v="2214" actId="1076"/>
          <ac:spMkLst>
            <pc:docMk/>
            <pc:sldMk cId="0" sldId="266"/>
            <ac:spMk id="60" creationId="{00000000-0000-0000-0000-000000000000}"/>
          </ac:spMkLst>
        </pc:spChg>
        <pc:spChg chg="mod">
          <ac:chgData name="Jay Padhya" userId="99449f0b-447f-4fbb-878a-15ec063fa8cd" providerId="ADAL" clId="{E308DACC-A42A-4B27-BCD7-E287F1684823}" dt="2026-08-31T22:42:20.994" v="2214" actId="1076"/>
          <ac:spMkLst>
            <pc:docMk/>
            <pc:sldMk cId="0" sldId="266"/>
            <ac:spMk id="63" creationId="{00000000-0000-0000-0000-000000000000}"/>
          </ac:spMkLst>
        </pc:spChg>
        <pc:spChg chg="del">
          <ac:chgData name="Jay Padhya" userId="99449f0b-447f-4fbb-878a-15ec063fa8cd" providerId="ADAL" clId="{E308DACC-A42A-4B27-BCD7-E287F1684823}" dt="2026-08-31T22:41:57.373" v="2207" actId="478"/>
          <ac:spMkLst>
            <pc:docMk/>
            <pc:sldMk cId="0" sldId="266"/>
            <ac:spMk id="69" creationId="{00000000-0000-0000-0000-000000000000}"/>
          </ac:spMkLst>
        </pc:spChg>
        <pc:spChg chg="del mod">
          <ac:chgData name="Jay Padhya" userId="99449f0b-447f-4fbb-878a-15ec063fa8cd" providerId="ADAL" clId="{E308DACC-A42A-4B27-BCD7-E287F1684823}" dt="2026-08-31T22:41:55.944" v="2206"/>
          <ac:spMkLst>
            <pc:docMk/>
            <pc:sldMk cId="0" sldId="266"/>
            <ac:spMk id="70" creationId="{00000000-0000-0000-0000-000000000000}"/>
          </ac:spMkLst>
        </pc:spChg>
      </pc:sldChg>
      <pc:sldChg chg="delSp del mod modNotesTx">
        <pc:chgData name="Jay Padhya" userId="99449f0b-447f-4fbb-878a-15ec063fa8cd" providerId="ADAL" clId="{E308DACC-A42A-4B27-BCD7-E287F1684823}" dt="2026-09-01T01:01:59.316" v="2483"/>
        <pc:sldMkLst>
          <pc:docMk/>
          <pc:sldMk cId="0" sldId="267"/>
        </pc:sldMkLst>
        <pc:spChg chg="del">
          <ac:chgData name="Jay Padhya" userId="99449f0b-447f-4fbb-878a-15ec063fa8cd" providerId="ADAL" clId="{E308DACC-A42A-4B27-BCD7-E287F1684823}" dt="2026-08-31T21:58:25.305" v="1701"/>
          <ac:spMkLst>
            <pc:docMk/>
            <pc:sldMk cId="0" sldId="267"/>
            <ac:spMk id="6" creationId="{00000000-0000-0000-0000-000000000000}"/>
          </ac:spMkLst>
        </pc:spChg>
      </pc:sldChg>
      <pc:sldChg chg="delSp modSp del mod modNotesTx">
        <pc:chgData name="Jay Padhya" userId="99449f0b-447f-4fbb-878a-15ec063fa8cd" providerId="ADAL" clId="{E308DACC-A42A-4B27-BCD7-E287F1684823}" dt="2026-09-01T13:04:13.476" v="2877"/>
        <pc:sldMkLst>
          <pc:docMk/>
          <pc:sldMk cId="0" sldId="268"/>
        </pc:sldMkLst>
        <pc:spChg chg="del">
          <ac:chgData name="Jay Padhya" userId="99449f0b-447f-4fbb-878a-15ec063fa8cd" providerId="ADAL" clId="{E308DACC-A42A-4B27-BCD7-E287F1684823}" dt="2026-09-01T13:00:19.042" v="2796" actId="478"/>
          <ac:spMkLst>
            <pc:docMk/>
            <pc:sldMk cId="0" sldId="268"/>
            <ac:spMk id="3" creationId="{00000000-0000-0000-0000-000000000000}"/>
          </ac:spMkLst>
        </pc:spChg>
        <pc:spChg chg="mod">
          <ac:chgData name="Jay Padhya" userId="99449f0b-447f-4fbb-878a-15ec063fa8cd" providerId="ADAL" clId="{E308DACC-A42A-4B27-BCD7-E287F1684823}" dt="2026-09-01T13:00:21.248" v="2797" actId="1076"/>
          <ac:spMkLst>
            <pc:docMk/>
            <pc:sldMk cId="0" sldId="268"/>
            <ac:spMk id="4" creationId="{00000000-0000-0000-0000-000000000000}"/>
          </ac:spMkLst>
        </pc:spChg>
        <pc:spChg chg="del">
          <ac:chgData name="Jay Padhya" userId="99449f0b-447f-4fbb-878a-15ec063fa8cd" providerId="ADAL" clId="{E308DACC-A42A-4B27-BCD7-E287F1684823}" dt="2026-08-31T21:58:25.310" v="1702"/>
          <ac:spMkLst>
            <pc:docMk/>
            <pc:sldMk cId="0" sldId="268"/>
            <ac:spMk id="6" creationId="{00000000-0000-0000-0000-000000000000}"/>
          </ac:spMkLst>
        </pc:spChg>
        <pc:spChg chg="mod">
          <ac:chgData name="Jay Padhya" userId="99449f0b-447f-4fbb-878a-15ec063fa8cd" providerId="ADAL" clId="{E308DACC-A42A-4B27-BCD7-E287F1684823}" dt="2026-09-01T12:59:56.187" v="2754" actId="14100"/>
          <ac:spMkLst>
            <pc:docMk/>
            <pc:sldMk cId="0" sldId="268"/>
            <ac:spMk id="8" creationId="{00000000-0000-0000-0000-000000000000}"/>
          </ac:spMkLst>
        </pc:spChg>
      </pc:sldChg>
      <pc:sldChg chg="addSp delSp modSp mod modNotes modNotesTx">
        <pc:chgData name="Jay Padhya" userId="99449f0b-447f-4fbb-878a-15ec063fa8cd" providerId="ADAL" clId="{E308DACC-A42A-4B27-BCD7-E287F1684823}" dt="2026-09-01T14:29:03.628" v="3108" actId="20577"/>
        <pc:sldMkLst>
          <pc:docMk/>
          <pc:sldMk cId="0" sldId="269"/>
        </pc:sldMkLst>
        <pc:spChg chg="del">
          <ac:chgData name="Jay Padhya" userId="99449f0b-447f-4fbb-878a-15ec063fa8cd" providerId="ADAL" clId="{E308DACC-A42A-4B27-BCD7-E287F1684823}" dt="2026-09-01T12:58:36.411" v="2725" actId="478"/>
          <ac:spMkLst>
            <pc:docMk/>
            <pc:sldMk cId="0" sldId="269"/>
            <ac:spMk id="3" creationId="{00000000-0000-0000-0000-000000000000}"/>
          </ac:spMkLst>
        </pc:spChg>
        <pc:spChg chg="mod">
          <ac:chgData name="Jay Padhya" userId="99449f0b-447f-4fbb-878a-15ec063fa8cd" providerId="ADAL" clId="{E308DACC-A42A-4B27-BCD7-E287F1684823}" dt="2026-09-01T12:58:44.491" v="2740" actId="20577"/>
          <ac:spMkLst>
            <pc:docMk/>
            <pc:sldMk cId="0" sldId="269"/>
            <ac:spMk id="4" creationId="{00000000-0000-0000-0000-000000000000}"/>
          </ac:spMkLst>
        </pc:spChg>
        <pc:spChg chg="mod">
          <ac:chgData name="Jay Padhya" userId="99449f0b-447f-4fbb-878a-15ec063fa8cd" providerId="ADAL" clId="{E308DACC-A42A-4B27-BCD7-E287F1684823}" dt="2026-09-01T13:39:32.249" v="3007" actId="1076"/>
          <ac:spMkLst>
            <pc:docMk/>
            <pc:sldMk cId="0" sldId="269"/>
            <ac:spMk id="5" creationId="{00000000-0000-0000-0000-000000000000}"/>
          </ac:spMkLst>
        </pc:spChg>
        <pc:spChg chg="del">
          <ac:chgData name="Jay Padhya" userId="99449f0b-447f-4fbb-878a-15ec063fa8cd" providerId="ADAL" clId="{E308DACC-A42A-4B27-BCD7-E287F1684823}" dt="2026-08-31T21:58:25.314" v="1703"/>
          <ac:spMkLst>
            <pc:docMk/>
            <pc:sldMk cId="0" sldId="269"/>
            <ac:spMk id="6" creationId="{00000000-0000-0000-0000-000000000000}"/>
          </ac:spMkLst>
        </pc:spChg>
        <pc:spChg chg="mod">
          <ac:chgData name="Jay Padhya" userId="99449f0b-447f-4fbb-878a-15ec063fa8cd" providerId="ADAL" clId="{E308DACC-A42A-4B27-BCD7-E287F1684823}" dt="2026-09-01T13:39:32.249" v="3007" actId="1076"/>
          <ac:spMkLst>
            <pc:docMk/>
            <pc:sldMk cId="0" sldId="269"/>
            <ac:spMk id="7" creationId="{00000000-0000-0000-0000-000000000000}"/>
          </ac:spMkLst>
        </pc:spChg>
        <pc:spChg chg="mod">
          <ac:chgData name="Jay Padhya" userId="99449f0b-447f-4fbb-878a-15ec063fa8cd" providerId="ADAL" clId="{E308DACC-A42A-4B27-BCD7-E287F1684823}" dt="2026-09-01T13:39:32.249" v="3007" actId="1076"/>
          <ac:spMkLst>
            <pc:docMk/>
            <pc:sldMk cId="0" sldId="269"/>
            <ac:spMk id="8" creationId="{00000000-0000-0000-0000-000000000000}"/>
          </ac:spMkLst>
        </pc:spChg>
        <pc:spChg chg="mod">
          <ac:chgData name="Jay Padhya" userId="99449f0b-447f-4fbb-878a-15ec063fa8cd" providerId="ADAL" clId="{E308DACC-A42A-4B27-BCD7-E287F1684823}" dt="2026-09-01T13:39:32.249" v="3007" actId="1076"/>
          <ac:spMkLst>
            <pc:docMk/>
            <pc:sldMk cId="0" sldId="269"/>
            <ac:spMk id="9" creationId="{00000000-0000-0000-0000-000000000000}"/>
          </ac:spMkLst>
        </pc:spChg>
        <pc:spChg chg="mod">
          <ac:chgData name="Jay Padhya" userId="99449f0b-447f-4fbb-878a-15ec063fa8cd" providerId="ADAL" clId="{E308DACC-A42A-4B27-BCD7-E287F1684823}" dt="2026-09-01T13:39:32.249" v="3007" actId="1076"/>
          <ac:spMkLst>
            <pc:docMk/>
            <pc:sldMk cId="0" sldId="269"/>
            <ac:spMk id="10" creationId="{00000000-0000-0000-0000-000000000000}"/>
          </ac:spMkLst>
        </pc:spChg>
        <pc:spChg chg="mod">
          <ac:chgData name="Jay Padhya" userId="99449f0b-447f-4fbb-878a-15ec063fa8cd" providerId="ADAL" clId="{E308DACC-A42A-4B27-BCD7-E287F1684823}" dt="2026-09-01T13:39:32.249" v="3007" actId="1076"/>
          <ac:spMkLst>
            <pc:docMk/>
            <pc:sldMk cId="0" sldId="269"/>
            <ac:spMk id="11" creationId="{00000000-0000-0000-0000-000000000000}"/>
          </ac:spMkLst>
        </pc:spChg>
        <pc:spChg chg="mod">
          <ac:chgData name="Jay Padhya" userId="99449f0b-447f-4fbb-878a-15ec063fa8cd" providerId="ADAL" clId="{E308DACC-A42A-4B27-BCD7-E287F1684823}" dt="2026-09-01T13:39:32.249" v="3007" actId="1076"/>
          <ac:spMkLst>
            <pc:docMk/>
            <pc:sldMk cId="0" sldId="269"/>
            <ac:spMk id="12" creationId="{00000000-0000-0000-0000-000000000000}"/>
          </ac:spMkLst>
        </pc:spChg>
        <pc:spChg chg="mod">
          <ac:chgData name="Jay Padhya" userId="99449f0b-447f-4fbb-878a-15ec063fa8cd" providerId="ADAL" clId="{E308DACC-A42A-4B27-BCD7-E287F1684823}" dt="2026-09-01T13:39:32.249" v="3007" actId="1076"/>
          <ac:spMkLst>
            <pc:docMk/>
            <pc:sldMk cId="0" sldId="269"/>
            <ac:spMk id="13" creationId="{00000000-0000-0000-0000-000000000000}"/>
          </ac:spMkLst>
        </pc:spChg>
        <pc:spChg chg="mod">
          <ac:chgData name="Jay Padhya" userId="99449f0b-447f-4fbb-878a-15ec063fa8cd" providerId="ADAL" clId="{E308DACC-A42A-4B27-BCD7-E287F1684823}" dt="2026-09-01T14:29:03.362" v="3074" actId="20577"/>
          <ac:spMkLst>
            <pc:docMk/>
            <pc:sldMk cId="0" sldId="269"/>
            <ac:spMk id="14" creationId="{00000000-0000-0000-0000-000000000000}"/>
          </ac:spMkLst>
        </pc:spChg>
        <pc:spChg chg="mod">
          <ac:chgData name="Jay Padhya" userId="99449f0b-447f-4fbb-878a-15ec063fa8cd" providerId="ADAL" clId="{E308DACC-A42A-4B27-BCD7-E287F1684823}" dt="2026-09-01T13:39:32.249" v="3007" actId="1076"/>
          <ac:spMkLst>
            <pc:docMk/>
            <pc:sldMk cId="0" sldId="269"/>
            <ac:spMk id="15" creationId="{00000000-0000-0000-0000-000000000000}"/>
          </ac:spMkLst>
        </pc:spChg>
        <pc:spChg chg="mod">
          <ac:chgData name="Jay Padhya" userId="99449f0b-447f-4fbb-878a-15ec063fa8cd" providerId="ADAL" clId="{E308DACC-A42A-4B27-BCD7-E287F1684823}" dt="2026-09-01T14:29:03.561" v="3107" actId="207"/>
          <ac:spMkLst>
            <pc:docMk/>
            <pc:sldMk cId="0" sldId="269"/>
            <ac:spMk id="16" creationId="{00000000-0000-0000-0000-000000000000}"/>
          </ac:spMkLst>
        </pc:spChg>
        <pc:spChg chg="add mod">
          <ac:chgData name="Jay Padhya" userId="99449f0b-447f-4fbb-878a-15ec063fa8cd" providerId="ADAL" clId="{E308DACC-A42A-4B27-BCD7-E287F1684823}" dt="2026-09-01T13:39:25.021" v="3006" actId="20577"/>
          <ac:spMkLst>
            <pc:docMk/>
            <pc:sldMk cId="0" sldId="269"/>
            <ac:spMk id="17" creationId="{505A88D7-A303-E72B-9D4A-4783BD73CDB8}"/>
          </ac:spMkLst>
        </pc:spChg>
      </pc:sldChg>
      <pc:sldChg chg="delSp modSp mod modNotes modNotesTx">
        <pc:chgData name="Jay Padhya" userId="99449f0b-447f-4fbb-878a-15ec063fa8cd" providerId="ADAL" clId="{E308DACC-A42A-4B27-BCD7-E287F1684823}" dt="2026-09-01T14:35:36.233" v="3192" actId="20577"/>
        <pc:sldMkLst>
          <pc:docMk/>
          <pc:sldMk cId="0" sldId="270"/>
        </pc:sldMkLst>
        <pc:spChg chg="mod">
          <ac:chgData name="Jay Padhya" userId="99449f0b-447f-4fbb-878a-15ec063fa8cd" providerId="ADAL" clId="{E308DACC-A42A-4B27-BCD7-E287F1684823}" dt="2026-09-01T14:31:40.514" v="3143" actId="20577"/>
          <ac:spMkLst>
            <pc:docMk/>
            <pc:sldMk cId="0" sldId="270"/>
            <ac:spMk id="4" creationId="{00000000-0000-0000-0000-000000000000}"/>
          </ac:spMkLst>
        </pc:spChg>
        <pc:spChg chg="del">
          <ac:chgData name="Jay Padhya" userId="99449f0b-447f-4fbb-878a-15ec063fa8cd" providerId="ADAL" clId="{E308DACC-A42A-4B27-BCD7-E287F1684823}" dt="2026-08-31T21:58:25.319" v="1704"/>
          <ac:spMkLst>
            <pc:docMk/>
            <pc:sldMk cId="0" sldId="270"/>
            <ac:spMk id="6" creationId="{00000000-0000-0000-0000-000000000000}"/>
          </ac:spMkLst>
        </pc:spChg>
        <pc:spChg chg="mod">
          <ac:chgData name="Jay Padhya" userId="99449f0b-447f-4fbb-878a-15ec063fa8cd" providerId="ADAL" clId="{E308DACC-A42A-4B27-BCD7-E287F1684823}" dt="2026-09-01T14:35:05.804" v="3182" actId="6549"/>
          <ac:spMkLst>
            <pc:docMk/>
            <pc:sldMk cId="0" sldId="270"/>
            <ac:spMk id="18" creationId="{00000000-0000-0000-0000-000000000000}"/>
          </ac:spMkLst>
        </pc:spChg>
        <pc:spChg chg="mod">
          <ac:chgData name="Jay Padhya" userId="99449f0b-447f-4fbb-878a-15ec063fa8cd" providerId="ADAL" clId="{E308DACC-A42A-4B27-BCD7-E287F1684823}" dt="2026-09-01T14:32:09.808" v="3154" actId="20577"/>
          <ac:spMkLst>
            <pc:docMk/>
            <pc:sldMk cId="0" sldId="270"/>
            <ac:spMk id="24" creationId="{00000000-0000-0000-0000-000000000000}"/>
          </ac:spMkLst>
        </pc:spChg>
      </pc:sldChg>
      <pc:sldChg chg="delSp modSp mod modShow">
        <pc:chgData name="Jay Padhya" userId="99449f0b-447f-4fbb-878a-15ec063fa8cd" providerId="ADAL" clId="{E308DACC-A42A-4B27-BCD7-E287F1684823}" dt="2026-09-01T14:28:45.462" v="3072" actId="729"/>
        <pc:sldMkLst>
          <pc:docMk/>
          <pc:sldMk cId="0" sldId="271"/>
        </pc:sldMkLst>
        <pc:spChg chg="del">
          <ac:chgData name="Jay Padhya" userId="99449f0b-447f-4fbb-878a-15ec063fa8cd" providerId="ADAL" clId="{E308DACC-A42A-4B27-BCD7-E287F1684823}" dt="2026-09-01T14:27:54.907" v="3052" actId="478"/>
          <ac:spMkLst>
            <pc:docMk/>
            <pc:sldMk cId="0" sldId="271"/>
            <ac:spMk id="3" creationId="{00000000-0000-0000-0000-000000000000}"/>
          </ac:spMkLst>
        </pc:spChg>
        <pc:spChg chg="mod">
          <ac:chgData name="Jay Padhya" userId="99449f0b-447f-4fbb-878a-15ec063fa8cd" providerId="ADAL" clId="{E308DACC-A42A-4B27-BCD7-E287F1684823}" dt="2026-09-01T14:27:57.020" v="3053" actId="1076"/>
          <ac:spMkLst>
            <pc:docMk/>
            <pc:sldMk cId="0" sldId="271"/>
            <ac:spMk id="4" creationId="{00000000-0000-0000-0000-000000000000}"/>
          </ac:spMkLst>
        </pc:spChg>
        <pc:spChg chg="del">
          <ac:chgData name="Jay Padhya" userId="99449f0b-447f-4fbb-878a-15ec063fa8cd" providerId="ADAL" clId="{E308DACC-A42A-4B27-BCD7-E287F1684823}" dt="2026-08-31T21:58:25.324" v="1705"/>
          <ac:spMkLst>
            <pc:docMk/>
            <pc:sldMk cId="0" sldId="271"/>
            <ac:spMk id="6" creationId="{00000000-0000-0000-0000-000000000000}"/>
          </ac:spMkLst>
        </pc:spChg>
        <pc:spChg chg="del">
          <ac:chgData name="Jay Padhya" userId="99449f0b-447f-4fbb-878a-15ec063fa8cd" providerId="ADAL" clId="{E308DACC-A42A-4B27-BCD7-E287F1684823}" dt="2026-09-01T14:28:01.320" v="3054" actId="478"/>
          <ac:spMkLst>
            <pc:docMk/>
            <pc:sldMk cId="0" sldId="271"/>
            <ac:spMk id="14" creationId="{00000000-0000-0000-0000-000000000000}"/>
          </ac:spMkLst>
        </pc:spChg>
        <pc:spChg chg="del">
          <ac:chgData name="Jay Padhya" userId="99449f0b-447f-4fbb-878a-15ec063fa8cd" providerId="ADAL" clId="{E308DACC-A42A-4B27-BCD7-E287F1684823}" dt="2026-09-01T14:28:02.172" v="3055" actId="478"/>
          <ac:spMkLst>
            <pc:docMk/>
            <pc:sldMk cId="0" sldId="271"/>
            <ac:spMk id="15" creationId="{00000000-0000-0000-0000-000000000000}"/>
          </ac:spMkLst>
        </pc:spChg>
        <pc:spChg chg="del">
          <ac:chgData name="Jay Padhya" userId="99449f0b-447f-4fbb-878a-15ec063fa8cd" providerId="ADAL" clId="{E308DACC-A42A-4B27-BCD7-E287F1684823}" dt="2026-09-01T14:28:03.786" v="3056" actId="478"/>
          <ac:spMkLst>
            <pc:docMk/>
            <pc:sldMk cId="0" sldId="271"/>
            <ac:spMk id="16" creationId="{00000000-0000-0000-0000-000000000000}"/>
          </ac:spMkLst>
        </pc:spChg>
        <pc:spChg chg="del">
          <ac:chgData name="Jay Padhya" userId="99449f0b-447f-4fbb-878a-15ec063fa8cd" providerId="ADAL" clId="{E308DACC-A42A-4B27-BCD7-E287F1684823}" dt="2026-09-01T14:28:04.432" v="3057" actId="478"/>
          <ac:spMkLst>
            <pc:docMk/>
            <pc:sldMk cId="0" sldId="271"/>
            <ac:spMk id="17" creationId="{00000000-0000-0000-0000-000000000000}"/>
          </ac:spMkLst>
        </pc:spChg>
        <pc:spChg chg="del">
          <ac:chgData name="Jay Padhya" userId="99449f0b-447f-4fbb-878a-15ec063fa8cd" providerId="ADAL" clId="{E308DACC-A42A-4B27-BCD7-E287F1684823}" dt="2026-09-01T14:28:05.395" v="3058" actId="478"/>
          <ac:spMkLst>
            <pc:docMk/>
            <pc:sldMk cId="0" sldId="271"/>
            <ac:spMk id="18" creationId="{00000000-0000-0000-0000-000000000000}"/>
          </ac:spMkLst>
        </pc:spChg>
        <pc:spChg chg="mod">
          <ac:chgData name="Jay Padhya" userId="99449f0b-447f-4fbb-878a-15ec063fa8cd" providerId="ADAL" clId="{E308DACC-A42A-4B27-BCD7-E287F1684823}" dt="2026-09-01T14:28:10.395" v="3059" actId="1076"/>
          <ac:spMkLst>
            <pc:docMk/>
            <pc:sldMk cId="0" sldId="271"/>
            <ac:spMk id="19" creationId="{00000000-0000-0000-0000-000000000000}"/>
          </ac:spMkLst>
        </pc:spChg>
        <pc:spChg chg="mod">
          <ac:chgData name="Jay Padhya" userId="99449f0b-447f-4fbb-878a-15ec063fa8cd" providerId="ADAL" clId="{E308DACC-A42A-4B27-BCD7-E287F1684823}" dt="2026-09-01T14:28:10.395" v="3059" actId="1076"/>
          <ac:spMkLst>
            <pc:docMk/>
            <pc:sldMk cId="0" sldId="271"/>
            <ac:spMk id="20" creationId="{00000000-0000-0000-0000-000000000000}"/>
          </ac:spMkLst>
        </pc:spChg>
        <pc:spChg chg="mod">
          <ac:chgData name="Jay Padhya" userId="99449f0b-447f-4fbb-878a-15ec063fa8cd" providerId="ADAL" clId="{E308DACC-A42A-4B27-BCD7-E287F1684823}" dt="2026-09-01T14:28:12.787" v="3062" actId="20577"/>
          <ac:spMkLst>
            <pc:docMk/>
            <pc:sldMk cId="0" sldId="271"/>
            <ac:spMk id="21" creationId="{00000000-0000-0000-0000-000000000000}"/>
          </ac:spMkLst>
        </pc:spChg>
        <pc:spChg chg="mod">
          <ac:chgData name="Jay Padhya" userId="99449f0b-447f-4fbb-878a-15ec063fa8cd" providerId="ADAL" clId="{E308DACC-A42A-4B27-BCD7-E287F1684823}" dt="2026-09-01T14:28:10.395" v="3059" actId="1076"/>
          <ac:spMkLst>
            <pc:docMk/>
            <pc:sldMk cId="0" sldId="271"/>
            <ac:spMk id="22" creationId="{00000000-0000-0000-0000-000000000000}"/>
          </ac:spMkLst>
        </pc:spChg>
        <pc:spChg chg="mod">
          <ac:chgData name="Jay Padhya" userId="99449f0b-447f-4fbb-878a-15ec063fa8cd" providerId="ADAL" clId="{E308DACC-A42A-4B27-BCD7-E287F1684823}" dt="2026-09-01T14:28:10.395" v="3059" actId="1076"/>
          <ac:spMkLst>
            <pc:docMk/>
            <pc:sldMk cId="0" sldId="271"/>
            <ac:spMk id="23" creationId="{00000000-0000-0000-0000-000000000000}"/>
          </ac:spMkLst>
        </pc:spChg>
        <pc:spChg chg="del mod">
          <ac:chgData name="Jay Padhya" userId="99449f0b-447f-4fbb-878a-15ec063fa8cd" providerId="ADAL" clId="{E308DACC-A42A-4B27-BCD7-E287F1684823}" dt="2026-09-01T14:28:35.230" v="3069" actId="478"/>
          <ac:spMkLst>
            <pc:docMk/>
            <pc:sldMk cId="0" sldId="271"/>
            <ac:spMk id="26" creationId="{00000000-0000-0000-0000-000000000000}"/>
          </ac:spMkLst>
        </pc:spChg>
      </pc:sldChg>
      <pc:sldChg chg="delSp modSp del mod ord">
        <pc:chgData name="Jay Padhya" userId="99449f0b-447f-4fbb-878a-15ec063fa8cd" providerId="ADAL" clId="{E308DACC-A42A-4B27-BCD7-E287F1684823}" dt="2026-09-01T14:31:01.614" v="3126"/>
        <pc:sldMkLst>
          <pc:docMk/>
          <pc:sldMk cId="0" sldId="272"/>
        </pc:sldMkLst>
        <pc:spChg chg="del">
          <ac:chgData name="Jay Padhya" userId="99449f0b-447f-4fbb-878a-15ec063fa8cd" providerId="ADAL" clId="{E308DACC-A42A-4B27-BCD7-E287F1684823}" dt="2026-09-01T14:30:03.914" v="3118" actId="478"/>
          <ac:spMkLst>
            <pc:docMk/>
            <pc:sldMk cId="0" sldId="272"/>
            <ac:spMk id="3" creationId="{00000000-0000-0000-0000-000000000000}"/>
          </ac:spMkLst>
        </pc:spChg>
        <pc:spChg chg="mod">
          <ac:chgData name="Jay Padhya" userId="99449f0b-447f-4fbb-878a-15ec063fa8cd" providerId="ADAL" clId="{E308DACC-A42A-4B27-BCD7-E287F1684823}" dt="2026-09-01T14:30:06.145" v="3119" actId="1076"/>
          <ac:spMkLst>
            <pc:docMk/>
            <pc:sldMk cId="0" sldId="272"/>
            <ac:spMk id="4" creationId="{00000000-0000-0000-0000-000000000000}"/>
          </ac:spMkLst>
        </pc:spChg>
        <pc:spChg chg="del">
          <ac:chgData name="Jay Padhya" userId="99449f0b-447f-4fbb-878a-15ec063fa8cd" providerId="ADAL" clId="{E308DACC-A42A-4B27-BCD7-E287F1684823}" dt="2026-08-31T21:58:25.328" v="1706"/>
          <ac:spMkLst>
            <pc:docMk/>
            <pc:sldMk cId="0" sldId="272"/>
            <ac:spMk id="6" creationId="{00000000-0000-0000-0000-000000000000}"/>
          </ac:spMkLst>
        </pc:spChg>
        <pc:spChg chg="del">
          <ac:chgData name="Jay Padhya" userId="99449f0b-447f-4fbb-878a-15ec063fa8cd" providerId="ADAL" clId="{E308DACC-A42A-4B27-BCD7-E287F1684823}" dt="2026-09-01T14:30:08.896" v="3120" actId="478"/>
          <ac:spMkLst>
            <pc:docMk/>
            <pc:sldMk cId="0" sldId="272"/>
            <ac:spMk id="14" creationId="{00000000-0000-0000-0000-000000000000}"/>
          </ac:spMkLst>
        </pc:spChg>
        <pc:spChg chg="mod">
          <ac:chgData name="Jay Padhya" userId="99449f0b-447f-4fbb-878a-15ec063fa8cd" providerId="ADAL" clId="{E308DACC-A42A-4B27-BCD7-E287F1684823}" dt="2026-09-01T14:30:30.502" v="3124" actId="20577"/>
          <ac:spMkLst>
            <pc:docMk/>
            <pc:sldMk cId="0" sldId="272"/>
            <ac:spMk id="33" creationId="{00000000-0000-0000-0000-000000000000}"/>
          </ac:spMkLst>
        </pc:spChg>
      </pc:sldChg>
      <pc:sldChg chg="addSp delSp modSp mod modShow modNotes">
        <pc:chgData name="Jay Padhya" userId="99449f0b-447f-4fbb-878a-15ec063fa8cd" providerId="ADAL" clId="{E308DACC-A42A-4B27-BCD7-E287F1684823}" dt="2026-09-01T14:28:49.744" v="3073" actId="729"/>
        <pc:sldMkLst>
          <pc:docMk/>
          <pc:sldMk cId="0" sldId="273"/>
        </pc:sldMkLst>
        <pc:spChg chg="del">
          <ac:chgData name="Jay Padhya" userId="99449f0b-447f-4fbb-878a-15ec063fa8cd" providerId="ADAL" clId="{E308DACC-A42A-4B27-BCD7-E287F1684823}" dt="2026-08-31T21:58:25.332" v="1707"/>
          <ac:spMkLst>
            <pc:docMk/>
            <pc:sldMk cId="0" sldId="273"/>
            <ac:spMk id="6" creationId="{00000000-0000-0000-0000-000000000000}"/>
          </ac:spMkLst>
        </pc:spChg>
        <pc:spChg chg="add mod">
          <ac:chgData name="Jay Padhya" userId="99449f0b-447f-4fbb-878a-15ec063fa8cd" providerId="ADAL" clId="{E308DACC-A42A-4B27-BCD7-E287F1684823}" dt="2026-09-01T01:24:29.660" v="2626"/>
          <ac:spMkLst>
            <pc:docMk/>
            <pc:sldMk cId="0" sldId="273"/>
            <ac:spMk id="6" creationId="{80DEFD94-D28D-5409-E430-41D3A9F79045}"/>
          </ac:spMkLst>
        </pc:spChg>
        <pc:spChg chg="mod">
          <ac:chgData name="Jay Padhya" userId="99449f0b-447f-4fbb-878a-15ec063fa8cd" providerId="ADAL" clId="{E308DACC-A42A-4B27-BCD7-E287F1684823}" dt="2026-09-01T01:24:29.554" v="2597"/>
          <ac:spMkLst>
            <pc:docMk/>
            <pc:sldMk cId="0" sldId="273"/>
            <ac:spMk id="8" creationId="{00000000-0000-0000-0000-000000000000}"/>
          </ac:spMkLst>
        </pc:spChg>
        <pc:spChg chg="mod">
          <ac:chgData name="Jay Padhya" userId="99449f0b-447f-4fbb-878a-15ec063fa8cd" providerId="ADAL" clId="{E308DACC-A42A-4B27-BCD7-E287F1684823}" dt="2026-09-01T01:24:29.582" v="2599"/>
          <ac:spMkLst>
            <pc:docMk/>
            <pc:sldMk cId="0" sldId="273"/>
            <ac:spMk id="9" creationId="{00000000-0000-0000-0000-000000000000}"/>
          </ac:spMkLst>
        </pc:spChg>
        <pc:spChg chg="mod">
          <ac:chgData name="Jay Padhya" userId="99449f0b-447f-4fbb-878a-15ec063fa8cd" providerId="ADAL" clId="{E308DACC-A42A-4B27-BCD7-E287F1684823}" dt="2026-09-01T01:24:29.588" v="2601"/>
          <ac:spMkLst>
            <pc:docMk/>
            <pc:sldMk cId="0" sldId="273"/>
            <ac:spMk id="10" creationId="{00000000-0000-0000-0000-000000000000}"/>
          </ac:spMkLst>
        </pc:spChg>
        <pc:spChg chg="mod">
          <ac:chgData name="Jay Padhya" userId="99449f0b-447f-4fbb-878a-15ec063fa8cd" providerId="ADAL" clId="{E308DACC-A42A-4B27-BCD7-E287F1684823}" dt="2026-09-01T01:24:29.592" v="2603"/>
          <ac:spMkLst>
            <pc:docMk/>
            <pc:sldMk cId="0" sldId="273"/>
            <ac:spMk id="11" creationId="{00000000-0000-0000-0000-000000000000}"/>
          </ac:spMkLst>
        </pc:spChg>
        <pc:spChg chg="mod">
          <ac:chgData name="Jay Padhya" userId="99449f0b-447f-4fbb-878a-15ec063fa8cd" providerId="ADAL" clId="{E308DACC-A42A-4B27-BCD7-E287F1684823}" dt="2026-09-01T01:24:29.596" v="2605"/>
          <ac:spMkLst>
            <pc:docMk/>
            <pc:sldMk cId="0" sldId="273"/>
            <ac:spMk id="12" creationId="{00000000-0000-0000-0000-000000000000}"/>
          </ac:spMkLst>
        </pc:spChg>
        <pc:spChg chg="mod">
          <ac:chgData name="Jay Padhya" userId="99449f0b-447f-4fbb-878a-15ec063fa8cd" providerId="ADAL" clId="{E308DACC-A42A-4B27-BCD7-E287F1684823}" dt="2026-09-01T01:24:29.599" v="2607"/>
          <ac:spMkLst>
            <pc:docMk/>
            <pc:sldMk cId="0" sldId="273"/>
            <ac:spMk id="13" creationId="{00000000-0000-0000-0000-000000000000}"/>
          </ac:spMkLst>
        </pc:spChg>
        <pc:spChg chg="mod">
          <ac:chgData name="Jay Padhya" userId="99449f0b-447f-4fbb-878a-15ec063fa8cd" providerId="ADAL" clId="{E308DACC-A42A-4B27-BCD7-E287F1684823}" dt="2026-09-01T01:24:29.604" v="2609"/>
          <ac:spMkLst>
            <pc:docMk/>
            <pc:sldMk cId="0" sldId="273"/>
            <ac:spMk id="14" creationId="{00000000-0000-0000-0000-000000000000}"/>
          </ac:spMkLst>
        </pc:spChg>
        <pc:spChg chg="mod">
          <ac:chgData name="Jay Padhya" userId="99449f0b-447f-4fbb-878a-15ec063fa8cd" providerId="ADAL" clId="{E308DACC-A42A-4B27-BCD7-E287F1684823}" dt="2026-09-01T01:24:29.608" v="2611"/>
          <ac:spMkLst>
            <pc:docMk/>
            <pc:sldMk cId="0" sldId="273"/>
            <ac:spMk id="15" creationId="{00000000-0000-0000-0000-000000000000}"/>
          </ac:spMkLst>
        </pc:spChg>
        <pc:spChg chg="mod">
          <ac:chgData name="Jay Padhya" userId="99449f0b-447f-4fbb-878a-15ec063fa8cd" providerId="ADAL" clId="{E308DACC-A42A-4B27-BCD7-E287F1684823}" dt="2026-09-01T01:24:29.610" v="2613"/>
          <ac:spMkLst>
            <pc:docMk/>
            <pc:sldMk cId="0" sldId="273"/>
            <ac:spMk id="16" creationId="{00000000-0000-0000-0000-000000000000}"/>
          </ac:spMkLst>
        </pc:spChg>
        <pc:spChg chg="mod">
          <ac:chgData name="Jay Padhya" userId="99449f0b-447f-4fbb-878a-15ec063fa8cd" providerId="ADAL" clId="{E308DACC-A42A-4B27-BCD7-E287F1684823}" dt="2026-09-01T01:24:29.615" v="2615"/>
          <ac:spMkLst>
            <pc:docMk/>
            <pc:sldMk cId="0" sldId="273"/>
            <ac:spMk id="17" creationId="{00000000-0000-0000-0000-000000000000}"/>
          </ac:spMkLst>
        </pc:spChg>
        <pc:spChg chg="mod">
          <ac:chgData name="Jay Padhya" userId="99449f0b-447f-4fbb-878a-15ec063fa8cd" providerId="ADAL" clId="{E308DACC-A42A-4B27-BCD7-E287F1684823}" dt="2026-09-01T01:24:29.618" v="2617"/>
          <ac:spMkLst>
            <pc:docMk/>
            <pc:sldMk cId="0" sldId="273"/>
            <ac:spMk id="18" creationId="{00000000-0000-0000-0000-000000000000}"/>
          </ac:spMkLst>
        </pc:spChg>
        <pc:spChg chg="mod">
          <ac:chgData name="Jay Padhya" userId="99449f0b-447f-4fbb-878a-15ec063fa8cd" providerId="ADAL" clId="{E308DACC-A42A-4B27-BCD7-E287F1684823}" dt="2026-09-01T01:24:29.622" v="2619"/>
          <ac:spMkLst>
            <pc:docMk/>
            <pc:sldMk cId="0" sldId="273"/>
            <ac:spMk id="19" creationId="{00000000-0000-0000-0000-000000000000}"/>
          </ac:spMkLst>
        </pc:spChg>
        <pc:spChg chg="mod">
          <ac:chgData name="Jay Padhya" userId="99449f0b-447f-4fbb-878a-15ec063fa8cd" providerId="ADAL" clId="{E308DACC-A42A-4B27-BCD7-E287F1684823}" dt="2026-09-01T01:24:29.625" v="2621"/>
          <ac:spMkLst>
            <pc:docMk/>
            <pc:sldMk cId="0" sldId="273"/>
            <ac:spMk id="20" creationId="{00000000-0000-0000-0000-000000000000}"/>
          </ac:spMkLst>
        </pc:spChg>
        <pc:spChg chg="mod">
          <ac:chgData name="Jay Padhya" userId="99449f0b-447f-4fbb-878a-15ec063fa8cd" providerId="ADAL" clId="{E308DACC-A42A-4B27-BCD7-E287F1684823}" dt="2026-09-01T01:24:29.714" v="2640"/>
          <ac:spMkLst>
            <pc:docMk/>
            <pc:sldMk cId="0" sldId="273"/>
            <ac:spMk id="21" creationId="{00000000-0000-0000-0000-000000000000}"/>
          </ac:spMkLst>
        </pc:spChg>
        <pc:spChg chg="mod">
          <ac:chgData name="Jay Padhya" userId="99449f0b-447f-4fbb-878a-15ec063fa8cd" providerId="ADAL" clId="{E308DACC-A42A-4B27-BCD7-E287F1684823}" dt="2026-09-01T01:24:29.718" v="2642"/>
          <ac:spMkLst>
            <pc:docMk/>
            <pc:sldMk cId="0" sldId="273"/>
            <ac:spMk id="22" creationId="{00000000-0000-0000-0000-000000000000}"/>
          </ac:spMkLst>
        </pc:spChg>
        <pc:spChg chg="mod">
          <ac:chgData name="Jay Padhya" userId="99449f0b-447f-4fbb-878a-15ec063fa8cd" providerId="ADAL" clId="{E308DACC-A42A-4B27-BCD7-E287F1684823}" dt="2026-09-01T01:24:29.722" v="2644"/>
          <ac:spMkLst>
            <pc:docMk/>
            <pc:sldMk cId="0" sldId="273"/>
            <ac:spMk id="23" creationId="{00000000-0000-0000-0000-000000000000}"/>
          </ac:spMkLst>
        </pc:spChg>
        <pc:spChg chg="mod">
          <ac:chgData name="Jay Padhya" userId="99449f0b-447f-4fbb-878a-15ec063fa8cd" providerId="ADAL" clId="{E308DACC-A42A-4B27-BCD7-E287F1684823}" dt="2026-09-01T01:24:29.725" v="2646"/>
          <ac:spMkLst>
            <pc:docMk/>
            <pc:sldMk cId="0" sldId="273"/>
            <ac:spMk id="24" creationId="{00000000-0000-0000-0000-000000000000}"/>
          </ac:spMkLst>
        </pc:spChg>
        <pc:spChg chg="del">
          <ac:chgData name="Jay Padhya" userId="99449f0b-447f-4fbb-878a-15ec063fa8cd" providerId="ADAL" clId="{E308DACC-A42A-4B27-BCD7-E287F1684823}" dt="2026-08-31T21:58:25.337" v="1708"/>
          <ac:spMkLst>
            <pc:docMk/>
            <pc:sldMk cId="0" sldId="273"/>
            <ac:spMk id="26" creationId="{00000000-0000-0000-0000-000000000000}"/>
          </ac:spMkLst>
        </pc:spChg>
        <pc:spChg chg="add mod">
          <ac:chgData name="Jay Padhya" userId="99449f0b-447f-4fbb-878a-15ec063fa8cd" providerId="ADAL" clId="{E308DACC-A42A-4B27-BCD7-E287F1684823}" dt="2026-09-01T01:24:56.279" v="2648" actId="207"/>
          <ac:spMkLst>
            <pc:docMk/>
            <pc:sldMk cId="0" sldId="273"/>
            <ac:spMk id="26" creationId="{6E9CBE08-2B72-9538-9B06-063A89CB370A}"/>
          </ac:spMkLst>
        </pc:spChg>
        <pc:spChg chg="add mod">
          <ac:chgData name="Jay Padhya" userId="99449f0b-447f-4fbb-878a-15ec063fa8cd" providerId="ADAL" clId="{E308DACC-A42A-4B27-BCD7-E287F1684823}" dt="2026-09-01T01:24:29.705" v="2638" actId="20577"/>
          <ac:spMkLst>
            <pc:docMk/>
            <pc:sldMk cId="0" sldId="273"/>
            <ac:spMk id="28" creationId="{2BEBBF85-D905-84ED-71FE-67D3FCEF2EAA}"/>
          </ac:spMkLst>
        </pc:spChg>
      </pc:sldChg>
      <pc:sldChg chg="addSp delSp modSp new del mod ord">
        <pc:chgData name="Jay Padhya" userId="99449f0b-447f-4fbb-878a-15ec063fa8cd" providerId="ADAL" clId="{E308DACC-A42A-4B27-BCD7-E287F1684823}" dt="2026-08-31T17:12:04.906" v="586" actId="47"/>
        <pc:sldMkLst>
          <pc:docMk/>
          <pc:sldMk cId="1134444309" sldId="274"/>
        </pc:sldMkLst>
        <pc:picChg chg="add del mod">
          <ac:chgData name="Jay Padhya" userId="99449f0b-447f-4fbb-878a-15ec063fa8cd" providerId="ADAL" clId="{E308DACC-A42A-4B27-BCD7-E287F1684823}" dt="2026-08-31T17:12:01.145" v="584" actId="21"/>
          <ac:picMkLst>
            <pc:docMk/>
            <pc:sldMk cId="1134444309" sldId="274"/>
            <ac:picMk id="2" creationId="{FADF1288-6B44-D953-7413-F0789CED1C11}"/>
          </ac:picMkLst>
        </pc:picChg>
      </pc:sldChg>
      <pc:sldChg chg="addSp delSp modSp add mod setBg modNotesTx">
        <pc:chgData name="Jay Padhya" userId="99449f0b-447f-4fbb-878a-15ec063fa8cd" providerId="ADAL" clId="{E308DACC-A42A-4B27-BCD7-E287F1684823}" dt="2026-08-31T18:58:21.003" v="644" actId="20577"/>
        <pc:sldMkLst>
          <pc:docMk/>
          <pc:sldMk cId="275831308" sldId="275"/>
        </pc:sldMkLst>
        <pc:spChg chg="del">
          <ac:chgData name="Jay Padhya" userId="99449f0b-447f-4fbb-878a-15ec063fa8cd" providerId="ADAL" clId="{E308DACC-A42A-4B27-BCD7-E287F1684823}" dt="2026-08-31T17:12:19.436" v="589" actId="478"/>
          <ac:spMkLst>
            <pc:docMk/>
            <pc:sldMk cId="275831308" sldId="275"/>
            <ac:spMk id="6" creationId="{7343A593-8B92-9C8A-5D9C-8ADD0DEF4427}"/>
          </ac:spMkLst>
        </pc:spChg>
        <pc:spChg chg="del">
          <ac:chgData name="Jay Padhya" userId="99449f0b-447f-4fbb-878a-15ec063fa8cd" providerId="ADAL" clId="{E308DACC-A42A-4B27-BCD7-E287F1684823}" dt="2026-08-31T17:12:13.658" v="587" actId="478"/>
          <ac:spMkLst>
            <pc:docMk/>
            <pc:sldMk cId="275831308" sldId="275"/>
            <ac:spMk id="8" creationId="{ECE6176C-4305-F1C6-EA0D-4FEF148CAA87}"/>
          </ac:spMkLst>
        </pc:spChg>
        <pc:spChg chg="del">
          <ac:chgData name="Jay Padhya" userId="99449f0b-447f-4fbb-878a-15ec063fa8cd" providerId="ADAL" clId="{E308DACC-A42A-4B27-BCD7-E287F1684823}" dt="2026-08-31T17:12:15.516" v="588" actId="478"/>
          <ac:spMkLst>
            <pc:docMk/>
            <pc:sldMk cId="275831308" sldId="275"/>
            <ac:spMk id="13" creationId="{FD734BC5-2328-21D8-64D9-B72A990B0FAD}"/>
          </ac:spMkLst>
        </pc:spChg>
        <pc:spChg chg="del">
          <ac:chgData name="Jay Padhya" userId="99449f0b-447f-4fbb-878a-15ec063fa8cd" providerId="ADAL" clId="{E308DACC-A42A-4B27-BCD7-E287F1684823}" dt="2026-08-31T17:12:15.516" v="588" actId="478"/>
          <ac:spMkLst>
            <pc:docMk/>
            <pc:sldMk cId="275831308" sldId="275"/>
            <ac:spMk id="18" creationId="{A301DDBB-5802-7981-3D57-B66D930FB476}"/>
          </ac:spMkLst>
        </pc:spChg>
        <pc:spChg chg="del">
          <ac:chgData name="Jay Padhya" userId="99449f0b-447f-4fbb-878a-15ec063fa8cd" providerId="ADAL" clId="{E308DACC-A42A-4B27-BCD7-E287F1684823}" dt="2026-08-31T17:12:15.516" v="588" actId="478"/>
          <ac:spMkLst>
            <pc:docMk/>
            <pc:sldMk cId="275831308" sldId="275"/>
            <ac:spMk id="21" creationId="{E68B9450-E96E-6559-1CA5-743881D76DA0}"/>
          </ac:spMkLst>
        </pc:spChg>
        <pc:spChg chg="del">
          <ac:chgData name="Jay Padhya" userId="99449f0b-447f-4fbb-878a-15ec063fa8cd" providerId="ADAL" clId="{E308DACC-A42A-4B27-BCD7-E287F1684823}" dt="2026-08-31T17:12:15.516" v="588" actId="478"/>
          <ac:spMkLst>
            <pc:docMk/>
            <pc:sldMk cId="275831308" sldId="275"/>
            <ac:spMk id="23" creationId="{8FDF6D62-59DD-7E32-3AAA-0367D2FCEE0A}"/>
          </ac:spMkLst>
        </pc:spChg>
        <pc:spChg chg="del">
          <ac:chgData name="Jay Padhya" userId="99449f0b-447f-4fbb-878a-15ec063fa8cd" providerId="ADAL" clId="{E308DACC-A42A-4B27-BCD7-E287F1684823}" dt="2026-08-31T17:12:15.516" v="588" actId="478"/>
          <ac:spMkLst>
            <pc:docMk/>
            <pc:sldMk cId="275831308" sldId="275"/>
            <ac:spMk id="24" creationId="{B608FDA2-CB4A-9DCC-5595-6F3F09810B6E}"/>
          </ac:spMkLst>
        </pc:spChg>
        <pc:spChg chg="del">
          <ac:chgData name="Jay Padhya" userId="99449f0b-447f-4fbb-878a-15ec063fa8cd" providerId="ADAL" clId="{E308DACC-A42A-4B27-BCD7-E287F1684823}" dt="2026-08-31T17:12:15.516" v="588" actId="478"/>
          <ac:spMkLst>
            <pc:docMk/>
            <pc:sldMk cId="275831308" sldId="275"/>
            <ac:spMk id="26" creationId="{AA786C1C-07B9-37A5-2107-959BD80592F4}"/>
          </ac:spMkLst>
        </pc:spChg>
        <pc:spChg chg="del">
          <ac:chgData name="Jay Padhya" userId="99449f0b-447f-4fbb-878a-15ec063fa8cd" providerId="ADAL" clId="{E308DACC-A42A-4B27-BCD7-E287F1684823}" dt="2026-08-31T17:12:15.516" v="588" actId="478"/>
          <ac:spMkLst>
            <pc:docMk/>
            <pc:sldMk cId="275831308" sldId="275"/>
            <ac:spMk id="28" creationId="{3D9867F1-F24B-8DA9-914B-B059A0AAA4BF}"/>
          </ac:spMkLst>
        </pc:spChg>
        <pc:spChg chg="del">
          <ac:chgData name="Jay Padhya" userId="99449f0b-447f-4fbb-878a-15ec063fa8cd" providerId="ADAL" clId="{E308DACC-A42A-4B27-BCD7-E287F1684823}" dt="2026-08-31T17:12:15.516" v="588" actId="478"/>
          <ac:spMkLst>
            <pc:docMk/>
            <pc:sldMk cId="275831308" sldId="275"/>
            <ac:spMk id="29" creationId="{4C3D06B8-3257-227E-FAF9-DDBE1649E60D}"/>
          </ac:spMkLst>
        </pc:spChg>
        <pc:spChg chg="del">
          <ac:chgData name="Jay Padhya" userId="99449f0b-447f-4fbb-878a-15ec063fa8cd" providerId="ADAL" clId="{E308DACC-A42A-4B27-BCD7-E287F1684823}" dt="2026-08-31T17:12:15.516" v="588" actId="478"/>
          <ac:spMkLst>
            <pc:docMk/>
            <pc:sldMk cId="275831308" sldId="275"/>
            <ac:spMk id="31" creationId="{32E5E72E-5440-E82A-7D27-894EEC2A1FD4}"/>
          </ac:spMkLst>
        </pc:spChg>
        <pc:spChg chg="del">
          <ac:chgData name="Jay Padhya" userId="99449f0b-447f-4fbb-878a-15ec063fa8cd" providerId="ADAL" clId="{E308DACC-A42A-4B27-BCD7-E287F1684823}" dt="2026-08-31T17:12:15.516" v="588" actId="478"/>
          <ac:spMkLst>
            <pc:docMk/>
            <pc:sldMk cId="275831308" sldId="275"/>
            <ac:spMk id="33" creationId="{49FC47C7-1981-EF33-260D-A51CFBD2CF56}"/>
          </ac:spMkLst>
        </pc:spChg>
        <pc:picChg chg="add mod">
          <ac:chgData name="Jay Padhya" userId="99449f0b-447f-4fbb-878a-15ec063fa8cd" providerId="ADAL" clId="{E308DACC-A42A-4B27-BCD7-E287F1684823}" dt="2026-08-31T17:12:58.222" v="602" actId="14100"/>
          <ac:picMkLst>
            <pc:docMk/>
            <pc:sldMk cId="275831308" sldId="275"/>
            <ac:picMk id="3" creationId="{7A282ECF-9782-D2C6-4889-1D9B4E13D6B8}"/>
          </ac:picMkLst>
        </pc:picChg>
      </pc:sldChg>
      <pc:sldChg chg="delSp modSp mod modNotesTx">
        <pc:chgData name="Jay Padhya" userId="99449f0b-447f-4fbb-878a-15ec063fa8cd" providerId="ADAL" clId="{E308DACC-A42A-4B27-BCD7-E287F1684823}" dt="2026-08-31T21:58:25.280" v="1696"/>
        <pc:sldMkLst>
          <pc:docMk/>
          <pc:sldMk cId="0" sldId="276"/>
        </pc:sldMkLst>
        <pc:spChg chg="mod">
          <ac:chgData name="Jay Padhya" userId="99449f0b-447f-4fbb-878a-15ec063fa8cd" providerId="ADAL" clId="{E308DACC-A42A-4B27-BCD7-E287F1684823}" dt="2026-08-31T21:21:29.979" v="1048" actId="20577"/>
          <ac:spMkLst>
            <pc:docMk/>
            <pc:sldMk cId="0" sldId="276"/>
            <ac:spMk id="3" creationId="{00000000-0000-0000-0000-000000000000}"/>
          </ac:spMkLst>
        </pc:spChg>
        <pc:spChg chg="del">
          <ac:chgData name="Jay Padhya" userId="99449f0b-447f-4fbb-878a-15ec063fa8cd" providerId="ADAL" clId="{E308DACC-A42A-4B27-BCD7-E287F1684823}" dt="2026-08-31T21:58:25.280" v="1696"/>
          <ac:spMkLst>
            <pc:docMk/>
            <pc:sldMk cId="0" sldId="276"/>
            <ac:spMk id="6" creationId="{00000000-0000-0000-0000-000000000000}"/>
          </ac:spMkLst>
        </pc:spChg>
        <pc:spChg chg="mod">
          <ac:chgData name="Jay Padhya" userId="99449f0b-447f-4fbb-878a-15ec063fa8cd" providerId="ADAL" clId="{E308DACC-A42A-4B27-BCD7-E287F1684823}" dt="2026-08-31T19:53:22.739" v="1007" actId="1076"/>
          <ac:spMkLst>
            <pc:docMk/>
            <pc:sldMk cId="0" sldId="276"/>
            <ac:spMk id="82" creationId="{00000000-0000-0000-0000-000000000000}"/>
          </ac:spMkLst>
        </pc:spChg>
        <pc:spChg chg="del">
          <ac:chgData name="Jay Padhya" userId="99449f0b-447f-4fbb-878a-15ec063fa8cd" providerId="ADAL" clId="{E308DACC-A42A-4B27-BCD7-E287F1684823}" dt="2026-08-31T19:53:01.166" v="994" actId="478"/>
          <ac:spMkLst>
            <pc:docMk/>
            <pc:sldMk cId="0" sldId="276"/>
            <ac:spMk id="83" creationId="{00000000-0000-0000-0000-000000000000}"/>
          </ac:spMkLst>
        </pc:spChg>
        <pc:spChg chg="mod">
          <ac:chgData name="Jay Padhya" userId="99449f0b-447f-4fbb-878a-15ec063fa8cd" providerId="ADAL" clId="{E308DACC-A42A-4B27-BCD7-E287F1684823}" dt="2026-08-31T19:53:15.795" v="1006" actId="20577"/>
          <ac:spMkLst>
            <pc:docMk/>
            <pc:sldMk cId="0" sldId="276"/>
            <ac:spMk id="84" creationId="{00000000-0000-0000-0000-000000000000}"/>
          </ac:spMkLst>
        </pc:spChg>
      </pc:sldChg>
      <pc:sldChg chg="delSp mod modNotesTx">
        <pc:chgData name="Jay Padhya" userId="99449f0b-447f-4fbb-878a-15ec063fa8cd" providerId="ADAL" clId="{E308DACC-A42A-4B27-BCD7-E287F1684823}" dt="2026-08-31T21:56:43.171" v="1619" actId="478"/>
        <pc:sldMkLst>
          <pc:docMk/>
          <pc:sldMk cId="0" sldId="277"/>
        </pc:sldMkLst>
        <pc:spChg chg="del">
          <ac:chgData name="Jay Padhya" userId="99449f0b-447f-4fbb-878a-15ec063fa8cd" providerId="ADAL" clId="{E308DACC-A42A-4B27-BCD7-E287F1684823}" dt="2026-08-31T21:56:43.171" v="1619" actId="478"/>
          <ac:spMkLst>
            <pc:docMk/>
            <pc:sldMk cId="0" sldId="277"/>
            <ac:spMk id="7" creationId="{00000000-0000-0000-0000-000000000000}"/>
          </ac:spMkLst>
        </pc:spChg>
      </pc:sldChg>
      <pc:sldChg chg="modSp add del mod">
        <pc:chgData name="Jay Padhya" userId="99449f0b-447f-4fbb-878a-15ec063fa8cd" providerId="ADAL" clId="{E308DACC-A42A-4B27-BCD7-E287F1684823}" dt="2026-08-31T22:09:10.017" v="1941"/>
        <pc:sldMkLst>
          <pc:docMk/>
          <pc:sldMk cId="2929692323" sldId="278"/>
        </pc:sldMkLst>
        <pc:spChg chg="mod">
          <ac:chgData name="Jay Padhya" userId="99449f0b-447f-4fbb-878a-15ec063fa8cd" providerId="ADAL" clId="{E308DACC-A42A-4B27-BCD7-E287F1684823}" dt="2026-08-31T22:08:23.950" v="1939"/>
          <ac:spMkLst>
            <pc:docMk/>
            <pc:sldMk cId="2929692323" sldId="278"/>
            <ac:spMk id="37" creationId="{00000000-0000-0000-0000-000000000000}"/>
          </ac:spMkLst>
        </pc:spChg>
      </pc:sldChg>
      <pc:sldChg chg="modSp add del mod">
        <pc:chgData name="Jay Padhya" userId="99449f0b-447f-4fbb-878a-15ec063fa8cd" providerId="ADAL" clId="{E308DACC-A42A-4B27-BCD7-E287F1684823}" dt="2026-08-31T22:11:01.173" v="1957"/>
        <pc:sldMkLst>
          <pc:docMk/>
          <pc:sldMk cId="3682341277" sldId="279"/>
        </pc:sldMkLst>
        <pc:spChg chg="mod">
          <ac:chgData name="Jay Padhya" userId="99449f0b-447f-4fbb-878a-15ec063fa8cd" providerId="ADAL" clId="{E308DACC-A42A-4B27-BCD7-E287F1684823}" dt="2026-08-31T22:10:25.760" v="1955" actId="20577"/>
          <ac:spMkLst>
            <pc:docMk/>
            <pc:sldMk cId="3682341277" sldId="279"/>
            <ac:spMk id="4" creationId="{00000000-0000-0000-0000-000000000000}"/>
          </ac:spMkLst>
        </pc:spChg>
        <pc:spChg chg="mod">
          <ac:chgData name="Jay Padhya" userId="99449f0b-447f-4fbb-878a-15ec063fa8cd" providerId="ADAL" clId="{E308DACC-A42A-4B27-BCD7-E287F1684823}" dt="2026-08-31T22:09:47.705" v="1945" actId="14100"/>
          <ac:spMkLst>
            <pc:docMk/>
            <pc:sldMk cId="3682341277" sldId="279"/>
            <ac:spMk id="35" creationId="{00000000-0000-0000-0000-000000000000}"/>
          </ac:spMkLst>
        </pc:spChg>
      </pc:sldChg>
      <pc:sldChg chg="modSp add mod">
        <pc:chgData name="Jay Padhya" userId="99449f0b-447f-4fbb-878a-15ec063fa8cd" providerId="ADAL" clId="{E308DACC-A42A-4B27-BCD7-E287F1684823}" dt="2026-08-31T22:11:01.721" v="1958"/>
        <pc:sldMkLst>
          <pc:docMk/>
          <pc:sldMk cId="3684836912" sldId="280"/>
        </pc:sldMkLst>
        <pc:spChg chg="mod">
          <ac:chgData name="Jay Padhya" userId="99449f0b-447f-4fbb-878a-15ec063fa8cd" providerId="ADAL" clId="{E308DACC-A42A-4B27-BCD7-E287F1684823}" dt="2026-08-31T22:11:01.721" v="1958"/>
          <ac:spMkLst>
            <pc:docMk/>
            <pc:sldMk cId="3684836912" sldId="280"/>
            <ac:spMk id="4" creationId="{00000000-0000-0000-0000-000000000000}"/>
          </ac:spMkLst>
        </pc:spChg>
      </pc:sldChg>
      <pc:sldChg chg="addSp modSp add mod modNotesTx">
        <pc:chgData name="Jay Padhya" userId="99449f0b-447f-4fbb-878a-15ec063fa8cd" providerId="ADAL" clId="{E308DACC-A42A-4B27-BCD7-E287F1684823}" dt="2026-09-01T13:33:55.464" v="2960" actId="20577"/>
        <pc:sldMkLst>
          <pc:docMk/>
          <pc:sldMk cId="1451890051" sldId="281"/>
        </pc:sldMkLst>
        <pc:spChg chg="mod">
          <ac:chgData name="Jay Padhya" userId="99449f0b-447f-4fbb-878a-15ec063fa8cd" providerId="ADAL" clId="{E308DACC-A42A-4B27-BCD7-E287F1684823}" dt="2026-08-31T22:44:28.443" v="2307" actId="20577"/>
          <ac:spMkLst>
            <pc:docMk/>
            <pc:sldMk cId="1451890051" sldId="281"/>
            <ac:spMk id="4" creationId="{00000000-0000-0000-0000-000000000000}"/>
          </ac:spMkLst>
        </pc:spChg>
        <pc:spChg chg="add mod">
          <ac:chgData name="Jay Padhya" userId="99449f0b-447f-4fbb-878a-15ec063fa8cd" providerId="ADAL" clId="{E308DACC-A42A-4B27-BCD7-E287F1684823}" dt="2026-09-01T12:45:37.528" v="2686" actId="6549"/>
          <ac:spMkLst>
            <pc:docMk/>
            <pc:sldMk cId="1451890051" sldId="281"/>
            <ac:spMk id="5" creationId="{F691A038-085A-E1A9-C63A-96BE23011CE0}"/>
          </ac:spMkLst>
        </pc:spChg>
      </pc:sldChg>
      <pc:sldChg chg="modSp add mod modNotesTx">
        <pc:chgData name="Jay Padhya" userId="99449f0b-447f-4fbb-878a-15ec063fa8cd" providerId="ADAL" clId="{E308DACC-A42A-4B27-BCD7-E287F1684823}" dt="2026-09-01T01:09:18.723" v="2593" actId="6549"/>
        <pc:sldMkLst>
          <pc:docMk/>
          <pc:sldMk cId="1055918594" sldId="282"/>
        </pc:sldMkLst>
        <pc:spChg chg="mod">
          <ac:chgData name="Jay Padhya" userId="99449f0b-447f-4fbb-878a-15ec063fa8cd" providerId="ADAL" clId="{E308DACC-A42A-4B27-BCD7-E287F1684823}" dt="2026-09-01T01:02:35.872" v="2538"/>
          <ac:spMkLst>
            <pc:docMk/>
            <pc:sldMk cId="1055918594" sldId="282"/>
            <ac:spMk id="9" creationId="{00000000-0000-0000-0000-000000000000}"/>
          </ac:spMkLst>
        </pc:spChg>
        <pc:spChg chg="mod">
          <ac:chgData name="Jay Padhya" userId="99449f0b-447f-4fbb-878a-15ec063fa8cd" providerId="ADAL" clId="{E308DACC-A42A-4B27-BCD7-E287F1684823}" dt="2026-09-01T01:02:00.104" v="2485"/>
          <ac:spMkLst>
            <pc:docMk/>
            <pc:sldMk cId="1055918594" sldId="282"/>
            <ac:spMk id="13" creationId="{00000000-0000-0000-0000-000000000000}"/>
          </ac:spMkLst>
        </pc:spChg>
        <pc:spChg chg="mod">
          <ac:chgData name="Jay Padhya" userId="99449f0b-447f-4fbb-878a-15ec063fa8cd" providerId="ADAL" clId="{E308DACC-A42A-4B27-BCD7-E287F1684823}" dt="2026-09-01T01:02:15.495" v="2521"/>
          <ac:spMkLst>
            <pc:docMk/>
            <pc:sldMk cId="1055918594" sldId="282"/>
            <ac:spMk id="14" creationId="{00000000-0000-0000-0000-000000000000}"/>
          </ac:spMkLst>
        </pc:spChg>
        <pc:spChg chg="mod">
          <ac:chgData name="Jay Padhya" userId="99449f0b-447f-4fbb-878a-15ec063fa8cd" providerId="ADAL" clId="{E308DACC-A42A-4B27-BCD7-E287F1684823}" dt="2026-09-01T01:02:35.872" v="2539"/>
          <ac:spMkLst>
            <pc:docMk/>
            <pc:sldMk cId="1055918594" sldId="282"/>
            <ac:spMk id="16" creationId="{00000000-0000-0000-0000-000000000000}"/>
          </ac:spMkLst>
        </pc:spChg>
        <pc:spChg chg="mod">
          <ac:chgData name="Jay Padhya" userId="99449f0b-447f-4fbb-878a-15ec063fa8cd" providerId="ADAL" clId="{E308DACC-A42A-4B27-BCD7-E287F1684823}" dt="2026-09-01T01:02:00.105" v="2487"/>
          <ac:spMkLst>
            <pc:docMk/>
            <pc:sldMk cId="1055918594" sldId="282"/>
            <ac:spMk id="20" creationId="{00000000-0000-0000-0000-000000000000}"/>
          </ac:spMkLst>
        </pc:spChg>
        <pc:spChg chg="mod">
          <ac:chgData name="Jay Padhya" userId="99449f0b-447f-4fbb-878a-15ec063fa8cd" providerId="ADAL" clId="{E308DACC-A42A-4B27-BCD7-E287F1684823}" dt="2026-09-01T01:02:15.496" v="2522"/>
          <ac:spMkLst>
            <pc:docMk/>
            <pc:sldMk cId="1055918594" sldId="282"/>
            <ac:spMk id="21" creationId="{00000000-0000-0000-0000-000000000000}"/>
          </ac:spMkLst>
        </pc:spChg>
        <pc:spChg chg="mod">
          <ac:chgData name="Jay Padhya" userId="99449f0b-447f-4fbb-878a-15ec063fa8cd" providerId="ADAL" clId="{E308DACC-A42A-4B27-BCD7-E287F1684823}" dt="2026-09-01T01:02:35.872" v="2540"/>
          <ac:spMkLst>
            <pc:docMk/>
            <pc:sldMk cId="1055918594" sldId="282"/>
            <ac:spMk id="23" creationId="{00000000-0000-0000-0000-000000000000}"/>
          </ac:spMkLst>
        </pc:spChg>
        <pc:spChg chg="mod">
          <ac:chgData name="Jay Padhya" userId="99449f0b-447f-4fbb-878a-15ec063fa8cd" providerId="ADAL" clId="{E308DACC-A42A-4B27-BCD7-E287F1684823}" dt="2026-09-01T01:02:00.105" v="2489"/>
          <ac:spMkLst>
            <pc:docMk/>
            <pc:sldMk cId="1055918594" sldId="282"/>
            <ac:spMk id="27" creationId="{00000000-0000-0000-0000-000000000000}"/>
          </ac:spMkLst>
        </pc:spChg>
        <pc:spChg chg="mod">
          <ac:chgData name="Jay Padhya" userId="99449f0b-447f-4fbb-878a-15ec063fa8cd" providerId="ADAL" clId="{E308DACC-A42A-4B27-BCD7-E287F1684823}" dt="2026-09-01T01:02:15.496" v="2523"/>
          <ac:spMkLst>
            <pc:docMk/>
            <pc:sldMk cId="1055918594" sldId="282"/>
            <ac:spMk id="28" creationId="{00000000-0000-0000-0000-000000000000}"/>
          </ac:spMkLst>
        </pc:spChg>
      </pc:sldChg>
      <pc:sldChg chg="modSp add del mod">
        <pc:chgData name="Jay Padhya" userId="99449f0b-447f-4fbb-878a-15ec063fa8cd" providerId="ADAL" clId="{E308DACC-A42A-4B27-BCD7-E287F1684823}" dt="2026-09-01T13:04:41.699" v="2907"/>
        <pc:sldMkLst>
          <pc:docMk/>
          <pc:sldMk cId="725268313" sldId="283"/>
        </pc:sldMkLst>
        <pc:spChg chg="mod">
          <ac:chgData name="Jay Padhya" userId="99449f0b-447f-4fbb-878a-15ec063fa8cd" providerId="ADAL" clId="{E308DACC-A42A-4B27-BCD7-E287F1684823}" dt="2026-09-01T13:04:13.534" v="2879"/>
          <ac:spMkLst>
            <pc:docMk/>
            <pc:sldMk cId="725268313" sldId="283"/>
            <ac:spMk id="14" creationId="{00000000-0000-0000-0000-000000000000}"/>
          </ac:spMkLst>
        </pc:spChg>
        <pc:spChg chg="mod">
          <ac:chgData name="Jay Padhya" userId="99449f0b-447f-4fbb-878a-15ec063fa8cd" providerId="ADAL" clId="{E308DACC-A42A-4B27-BCD7-E287F1684823}" dt="2026-09-01T13:04:13.537" v="2893"/>
          <ac:spMkLst>
            <pc:docMk/>
            <pc:sldMk cId="725268313" sldId="283"/>
            <ac:spMk id="15" creationId="{00000000-0000-0000-0000-000000000000}"/>
          </ac:spMkLst>
        </pc:spChg>
        <pc:spChg chg="mod">
          <ac:chgData name="Jay Padhya" userId="99449f0b-447f-4fbb-878a-15ec063fa8cd" providerId="ADAL" clId="{E308DACC-A42A-4B27-BCD7-E287F1684823}" dt="2026-09-01T13:04:13.534" v="2881"/>
          <ac:spMkLst>
            <pc:docMk/>
            <pc:sldMk cId="725268313" sldId="283"/>
            <ac:spMk id="21" creationId="{00000000-0000-0000-0000-000000000000}"/>
          </ac:spMkLst>
        </pc:spChg>
        <pc:spChg chg="mod">
          <ac:chgData name="Jay Padhya" userId="99449f0b-447f-4fbb-878a-15ec063fa8cd" providerId="ADAL" clId="{E308DACC-A42A-4B27-BCD7-E287F1684823}" dt="2026-09-01T13:04:13.540" v="2895"/>
          <ac:spMkLst>
            <pc:docMk/>
            <pc:sldMk cId="725268313" sldId="283"/>
            <ac:spMk id="22" creationId="{00000000-0000-0000-0000-000000000000}"/>
          </ac:spMkLst>
        </pc:spChg>
        <pc:spChg chg="mod">
          <ac:chgData name="Jay Padhya" userId="99449f0b-447f-4fbb-878a-15ec063fa8cd" providerId="ADAL" clId="{E308DACC-A42A-4B27-BCD7-E287F1684823}" dt="2026-09-01T13:04:13.535" v="2883"/>
          <ac:spMkLst>
            <pc:docMk/>
            <pc:sldMk cId="725268313" sldId="283"/>
            <ac:spMk id="28" creationId="{00000000-0000-0000-0000-000000000000}"/>
          </ac:spMkLst>
        </pc:spChg>
        <pc:spChg chg="mod">
          <ac:chgData name="Jay Padhya" userId="99449f0b-447f-4fbb-878a-15ec063fa8cd" providerId="ADAL" clId="{E308DACC-A42A-4B27-BCD7-E287F1684823}" dt="2026-09-01T13:04:13.541" v="2897"/>
          <ac:spMkLst>
            <pc:docMk/>
            <pc:sldMk cId="725268313" sldId="283"/>
            <ac:spMk id="29" creationId="{00000000-0000-0000-0000-000000000000}"/>
          </ac:spMkLst>
        </pc:spChg>
        <pc:spChg chg="mod">
          <ac:chgData name="Jay Padhya" userId="99449f0b-447f-4fbb-878a-15ec063fa8cd" providerId="ADAL" clId="{E308DACC-A42A-4B27-BCD7-E287F1684823}" dt="2026-09-01T13:04:13.535" v="2885"/>
          <ac:spMkLst>
            <pc:docMk/>
            <pc:sldMk cId="725268313" sldId="283"/>
            <ac:spMk id="35" creationId="{00000000-0000-0000-0000-000000000000}"/>
          </ac:spMkLst>
        </pc:spChg>
        <pc:spChg chg="mod">
          <ac:chgData name="Jay Padhya" userId="99449f0b-447f-4fbb-878a-15ec063fa8cd" providerId="ADAL" clId="{E308DACC-A42A-4B27-BCD7-E287F1684823}" dt="2026-09-01T13:04:13.541" v="2899"/>
          <ac:spMkLst>
            <pc:docMk/>
            <pc:sldMk cId="725268313" sldId="283"/>
            <ac:spMk id="36" creationId="{00000000-0000-0000-0000-000000000000}"/>
          </ac:spMkLst>
        </pc:spChg>
        <pc:spChg chg="mod">
          <ac:chgData name="Jay Padhya" userId="99449f0b-447f-4fbb-878a-15ec063fa8cd" providerId="ADAL" clId="{E308DACC-A42A-4B27-BCD7-E287F1684823}" dt="2026-09-01T13:04:13.536" v="2887"/>
          <ac:spMkLst>
            <pc:docMk/>
            <pc:sldMk cId="725268313" sldId="283"/>
            <ac:spMk id="42" creationId="{00000000-0000-0000-0000-000000000000}"/>
          </ac:spMkLst>
        </pc:spChg>
        <pc:spChg chg="mod">
          <ac:chgData name="Jay Padhya" userId="99449f0b-447f-4fbb-878a-15ec063fa8cd" providerId="ADAL" clId="{E308DACC-A42A-4B27-BCD7-E287F1684823}" dt="2026-09-01T13:04:13.541" v="2901"/>
          <ac:spMkLst>
            <pc:docMk/>
            <pc:sldMk cId="725268313" sldId="283"/>
            <ac:spMk id="43" creationId="{00000000-0000-0000-0000-000000000000}"/>
          </ac:spMkLst>
        </pc:spChg>
        <pc:spChg chg="mod">
          <ac:chgData name="Jay Padhya" userId="99449f0b-447f-4fbb-878a-15ec063fa8cd" providerId="ADAL" clId="{E308DACC-A42A-4B27-BCD7-E287F1684823}" dt="2026-09-01T13:04:13.536" v="2889"/>
          <ac:spMkLst>
            <pc:docMk/>
            <pc:sldMk cId="725268313" sldId="283"/>
            <ac:spMk id="49" creationId="{00000000-0000-0000-0000-000000000000}"/>
          </ac:spMkLst>
        </pc:spChg>
        <pc:spChg chg="mod">
          <ac:chgData name="Jay Padhya" userId="99449f0b-447f-4fbb-878a-15ec063fa8cd" providerId="ADAL" clId="{E308DACC-A42A-4B27-BCD7-E287F1684823}" dt="2026-09-01T13:04:13.541" v="2903"/>
          <ac:spMkLst>
            <pc:docMk/>
            <pc:sldMk cId="725268313" sldId="283"/>
            <ac:spMk id="50" creationId="{00000000-0000-0000-0000-000000000000}"/>
          </ac:spMkLst>
        </pc:spChg>
        <pc:spChg chg="mod">
          <ac:chgData name="Jay Padhya" userId="99449f0b-447f-4fbb-878a-15ec063fa8cd" providerId="ADAL" clId="{E308DACC-A42A-4B27-BCD7-E287F1684823}" dt="2026-09-01T13:04:13.536" v="2891"/>
          <ac:spMkLst>
            <pc:docMk/>
            <pc:sldMk cId="725268313" sldId="283"/>
            <ac:spMk id="56" creationId="{00000000-0000-0000-0000-000000000000}"/>
          </ac:spMkLst>
        </pc:spChg>
        <pc:spChg chg="mod">
          <ac:chgData name="Jay Padhya" userId="99449f0b-447f-4fbb-878a-15ec063fa8cd" providerId="ADAL" clId="{E308DACC-A42A-4B27-BCD7-E287F1684823}" dt="2026-09-01T13:04:13.541" v="2905"/>
          <ac:spMkLst>
            <pc:docMk/>
            <pc:sldMk cId="725268313" sldId="283"/>
            <ac:spMk id="57" creationId="{00000000-0000-0000-0000-000000000000}"/>
          </ac:spMkLst>
        </pc:spChg>
      </pc:sldChg>
      <pc:sldChg chg="add del">
        <pc:chgData name="Jay Padhya" userId="99449f0b-447f-4fbb-878a-15ec063fa8cd" providerId="ADAL" clId="{E308DACC-A42A-4B27-BCD7-E287F1684823}" dt="2026-09-01T13:05:51.707" v="2909"/>
        <pc:sldMkLst>
          <pc:docMk/>
          <pc:sldMk cId="2266236803" sldId="284"/>
        </pc:sldMkLst>
      </pc:sldChg>
      <pc:sldChg chg="add del">
        <pc:chgData name="Jay Padhya" userId="99449f0b-447f-4fbb-878a-15ec063fa8cd" providerId="ADAL" clId="{E308DACC-A42A-4B27-BCD7-E287F1684823}" dt="2026-09-01T13:06:55.316" v="2911"/>
        <pc:sldMkLst>
          <pc:docMk/>
          <pc:sldMk cId="439121669" sldId="285"/>
        </pc:sldMkLst>
      </pc:sldChg>
      <pc:sldChg chg="add">
        <pc:chgData name="Jay Padhya" userId="99449f0b-447f-4fbb-878a-15ec063fa8cd" providerId="ADAL" clId="{E308DACC-A42A-4B27-BCD7-E287F1684823}" dt="2026-09-01T13:06:55.303" v="2910"/>
        <pc:sldMkLst>
          <pc:docMk/>
          <pc:sldMk cId="1392160885" sldId="286"/>
        </pc:sldMkLst>
      </pc:sldChg>
      <pc:sldChg chg="modSp add mod modNotes modNotesTx">
        <pc:chgData name="Jay Padhya" userId="99449f0b-447f-4fbb-878a-15ec063fa8cd" providerId="ADAL" clId="{E308DACC-A42A-4B27-BCD7-E287F1684823}" dt="2026-09-01T15:27:23.262" v="4102" actId="20577"/>
        <pc:sldMkLst>
          <pc:docMk/>
          <pc:sldMk cId="3712226630" sldId="287"/>
        </pc:sldMkLst>
        <pc:spChg chg="mod">
          <ac:chgData name="Jay Padhya" userId="99449f0b-447f-4fbb-878a-15ec063fa8cd" providerId="ADAL" clId="{E308DACC-A42A-4B27-BCD7-E287F1684823}" dt="2026-09-01T14:42:47.980" v="3220" actId="33524"/>
          <ac:spMkLst>
            <pc:docMk/>
            <pc:sldMk cId="3712226630" sldId="287"/>
            <ac:spMk id="21" creationId="{00000000-0000-0000-0000-000000000000}"/>
          </ac:spMkLst>
        </pc:spChg>
        <pc:spChg chg="mod">
          <ac:chgData name="Jay Padhya" userId="99449f0b-447f-4fbb-878a-15ec063fa8cd" providerId="ADAL" clId="{E308DACC-A42A-4B27-BCD7-E287F1684823}" dt="2026-09-01T14:44:57.226" v="3242" actId="20577"/>
          <ac:spMkLst>
            <pc:docMk/>
            <pc:sldMk cId="3712226630" sldId="287"/>
            <ac:spMk id="33" creationId="{00000000-0000-0000-0000-000000000000}"/>
          </ac:spMkLst>
        </pc:spChg>
      </pc:sldChg>
      <pc:sldChg chg="add del">
        <pc:chgData name="Jay Padhya" userId="99449f0b-447f-4fbb-878a-15ec063fa8cd" providerId="ADAL" clId="{E308DACC-A42A-4B27-BCD7-E287F1684823}" dt="2026-09-01T14:59:37.115" v="3627"/>
        <pc:sldMkLst>
          <pc:docMk/>
          <pc:sldMk cId="2132718575" sldId="288"/>
        </pc:sldMkLst>
      </pc:sldChg>
      <pc:sldChg chg="add del">
        <pc:chgData name="Jay Padhya" userId="99449f0b-447f-4fbb-878a-15ec063fa8cd" providerId="ADAL" clId="{E308DACC-A42A-4B27-BCD7-E287F1684823}" dt="2026-09-01T15:00:01.409" v="3629"/>
        <pc:sldMkLst>
          <pc:docMk/>
          <pc:sldMk cId="3505623596" sldId="289"/>
        </pc:sldMkLst>
      </pc:sldChg>
      <pc:sldChg chg="modSp add mod modNotesTx">
        <pc:chgData name="Jay Padhya" userId="99449f0b-447f-4fbb-878a-15ec063fa8cd" providerId="ADAL" clId="{E308DACC-A42A-4B27-BCD7-E287F1684823}" dt="2026-09-01T15:02:00.359" v="3852" actId="1076"/>
        <pc:sldMkLst>
          <pc:docMk/>
          <pc:sldMk cId="1820773721" sldId="290"/>
        </pc:sldMkLst>
        <pc:spChg chg="mod">
          <ac:chgData name="Jay Padhya" userId="99449f0b-447f-4fbb-878a-15ec063fa8cd" providerId="ADAL" clId="{E308DACC-A42A-4B27-BCD7-E287F1684823}" dt="2026-09-01T15:01:49.489" v="3850" actId="1076"/>
          <ac:spMkLst>
            <pc:docMk/>
            <pc:sldMk cId="1820773721" sldId="290"/>
            <ac:spMk id="8" creationId="{00000000-0000-0000-0000-000000000000}"/>
          </ac:spMkLst>
        </pc:spChg>
        <pc:spChg chg="mod">
          <ac:chgData name="Jay Padhya" userId="99449f0b-447f-4fbb-878a-15ec063fa8cd" providerId="ADAL" clId="{E308DACC-A42A-4B27-BCD7-E287F1684823}" dt="2026-09-01T15:01:49.489" v="3850" actId="1076"/>
          <ac:spMkLst>
            <pc:docMk/>
            <pc:sldMk cId="1820773721" sldId="290"/>
            <ac:spMk id="9" creationId="{00000000-0000-0000-0000-000000000000}"/>
          </ac:spMkLst>
        </pc:spChg>
        <pc:spChg chg="mod">
          <ac:chgData name="Jay Padhya" userId="99449f0b-447f-4fbb-878a-15ec063fa8cd" providerId="ADAL" clId="{E308DACC-A42A-4B27-BCD7-E287F1684823}" dt="2026-09-01T15:01:49.489" v="3850" actId="1076"/>
          <ac:spMkLst>
            <pc:docMk/>
            <pc:sldMk cId="1820773721" sldId="290"/>
            <ac:spMk id="10" creationId="{00000000-0000-0000-0000-000000000000}"/>
          </ac:spMkLst>
        </pc:spChg>
        <pc:spChg chg="mod">
          <ac:chgData name="Jay Padhya" userId="99449f0b-447f-4fbb-878a-15ec063fa8cd" providerId="ADAL" clId="{E308DACC-A42A-4B27-BCD7-E287F1684823}" dt="2026-09-01T15:01:49.489" v="3850" actId="1076"/>
          <ac:spMkLst>
            <pc:docMk/>
            <pc:sldMk cId="1820773721" sldId="290"/>
            <ac:spMk id="11" creationId="{00000000-0000-0000-0000-000000000000}"/>
          </ac:spMkLst>
        </pc:spChg>
        <pc:spChg chg="mod">
          <ac:chgData name="Jay Padhya" userId="99449f0b-447f-4fbb-878a-15ec063fa8cd" providerId="ADAL" clId="{E308DACC-A42A-4B27-BCD7-E287F1684823}" dt="2026-09-01T15:01:49.489" v="3850" actId="1076"/>
          <ac:spMkLst>
            <pc:docMk/>
            <pc:sldMk cId="1820773721" sldId="290"/>
            <ac:spMk id="12" creationId="{00000000-0000-0000-0000-000000000000}"/>
          </ac:spMkLst>
        </pc:spChg>
        <pc:spChg chg="mod">
          <ac:chgData name="Jay Padhya" userId="99449f0b-447f-4fbb-878a-15ec063fa8cd" providerId="ADAL" clId="{E308DACC-A42A-4B27-BCD7-E287F1684823}" dt="2026-09-01T15:01:49.489" v="3850" actId="1076"/>
          <ac:spMkLst>
            <pc:docMk/>
            <pc:sldMk cId="1820773721" sldId="290"/>
            <ac:spMk id="13" creationId="{00000000-0000-0000-0000-000000000000}"/>
          </ac:spMkLst>
        </pc:spChg>
        <pc:spChg chg="mod">
          <ac:chgData name="Jay Padhya" userId="99449f0b-447f-4fbb-878a-15ec063fa8cd" providerId="ADAL" clId="{E308DACC-A42A-4B27-BCD7-E287F1684823}" dt="2026-09-01T15:00:01.915" v="3630"/>
          <ac:spMkLst>
            <pc:docMk/>
            <pc:sldMk cId="1820773721" sldId="290"/>
            <ac:spMk id="15" creationId="{00000000-0000-0000-0000-000000000000}"/>
          </ac:spMkLst>
        </pc:spChg>
        <pc:spChg chg="mod">
          <ac:chgData name="Jay Padhya" userId="99449f0b-447f-4fbb-878a-15ec063fa8cd" providerId="ADAL" clId="{E308DACC-A42A-4B27-BCD7-E287F1684823}" dt="2026-09-01T15:02:00.359" v="3852" actId="1076"/>
          <ac:spMkLst>
            <pc:docMk/>
            <pc:sldMk cId="1820773721" sldId="290"/>
            <ac:spMk id="20" creationId="{00000000-0000-0000-0000-000000000000}"/>
          </ac:spMkLst>
        </pc:spChg>
        <pc:spChg chg="mod">
          <ac:chgData name="Jay Padhya" userId="99449f0b-447f-4fbb-878a-15ec063fa8cd" providerId="ADAL" clId="{E308DACC-A42A-4B27-BCD7-E287F1684823}" dt="2026-09-01T15:02:00.359" v="3852" actId="1076"/>
          <ac:spMkLst>
            <pc:docMk/>
            <pc:sldMk cId="1820773721" sldId="290"/>
            <ac:spMk id="21" creationId="{00000000-0000-0000-0000-000000000000}"/>
          </ac:spMkLst>
        </pc:spChg>
        <pc:spChg chg="mod">
          <ac:chgData name="Jay Padhya" userId="99449f0b-447f-4fbb-878a-15ec063fa8cd" providerId="ADAL" clId="{E308DACC-A42A-4B27-BCD7-E287F1684823}" dt="2026-09-01T15:02:00.359" v="3852" actId="1076"/>
          <ac:spMkLst>
            <pc:docMk/>
            <pc:sldMk cId="1820773721" sldId="290"/>
            <ac:spMk id="2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763401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8" Type="http://schemas.openxmlformats.org/officeDocument/2006/relationships/hyperlink" Target="https://learn.microsoft.com/en-us/azure/api-management/observability" TargetMode="External"/><Relationship Id="rId3" Type="http://schemas.openxmlformats.org/officeDocument/2006/relationships/hyperlink" Target="https://learn.microsoft.com/en-us/azure/api-management/api-management-key-concepts#api-management-tiers" TargetMode="External"/><Relationship Id="rId7" Type="http://schemas.openxmlformats.org/officeDocument/2006/relationships/hyperlink" Target="https://learn.microsoft.com/en-us/azure/api-management/api-management-howto-cache" TargetMode="External"/><Relationship Id="rId2" Type="http://schemas.openxmlformats.org/officeDocument/2006/relationships/slide" Target="../slides/slide4.xml"/><Relationship Id="rId1" Type="http://schemas.openxmlformats.org/officeDocument/2006/relationships/notesMaster" Target="../notesMasters/notesMaster1.xml"/><Relationship Id="rId6" Type="http://schemas.openxmlformats.org/officeDocument/2006/relationships/hyperlink" Target="https://learn.microsoft.com/en-us/azure/api-management/api-management-howto-policies" TargetMode="External"/><Relationship Id="rId5" Type="http://schemas.openxmlformats.org/officeDocument/2006/relationships/hyperlink" Target="https://learn.microsoft.com/en-us/azure/api-management/api-management-access-restriction-policies" TargetMode="External"/><Relationship Id="rId4" Type="http://schemas.openxmlformats.org/officeDocument/2006/relationships/hyperlink" Target="https://learn.microsoft.com/en-us/azure/api-management/api-management-subscriptions" TargetMode="Externa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pPr algn="l">
              <a:lnSpc>
                <a:spcPct val="130000"/>
              </a:lnSpc>
            </a:pPr>
            <a:r>
              <a:rPr lang="en-US" sz="1200" b="0" i="0" dirty="0">
                <a:solidFill>
                  <a:srgbClr val="CFE3EF"/>
                </a:solidFill>
                <a:latin typeface="Calibri"/>
              </a:rPr>
              <a:t>Main goal for today : How payer isolation is enforced, proven with a live gateway, running policies and some quick tests whose assertions are the security guarantees.</a:t>
            </a:r>
          </a:p>
          <a:p>
            <a:endParaRPr dirty="0"/>
          </a:p>
          <a:p>
            <a:r>
              <a:rPr dirty="0"/>
              <a:t>on the </a:t>
            </a:r>
            <a:r>
              <a:rPr lang="en-US" dirty="0"/>
              <a:t>12-august </a:t>
            </a:r>
            <a:r>
              <a:rPr dirty="0"/>
              <a:t>, we drew </a:t>
            </a:r>
            <a:r>
              <a:rPr lang="en-US" dirty="0"/>
              <a:t>few </a:t>
            </a:r>
            <a:r>
              <a:rPr dirty="0"/>
              <a:t>options on</a:t>
            </a:r>
            <a:r>
              <a:rPr lang="en-US" dirty="0"/>
              <a:t> </a:t>
            </a:r>
            <a:r>
              <a:rPr dirty="0"/>
              <a:t>the whiteboard and </a:t>
            </a:r>
            <a:r>
              <a:rPr lang="en-US" dirty="0"/>
              <a:t>then we </a:t>
            </a:r>
            <a:r>
              <a:rPr dirty="0"/>
              <a:t>picked one. What I have today is that option, deployed. Not </a:t>
            </a:r>
            <a:r>
              <a:rPr lang="en-US" dirty="0"/>
              <a:t>jus </a:t>
            </a:r>
            <a:r>
              <a:rPr dirty="0"/>
              <a:t>slides</a:t>
            </a:r>
            <a:r>
              <a:rPr lang="en-US" dirty="0"/>
              <a:t> </a:t>
            </a:r>
            <a:r>
              <a:rPr dirty="0"/>
              <a:t>about it - a running gateway, the actual policies, and </a:t>
            </a:r>
            <a:r>
              <a:rPr lang="en-US" dirty="0"/>
              <a:t>some tests</a:t>
            </a:r>
            <a:r>
              <a:rPr dirty="0"/>
              <a:t>.</a:t>
            </a:r>
            <a:r>
              <a:rPr lang="en-US" dirty="0"/>
              <a:t>  </a:t>
            </a:r>
          </a:p>
          <a:p>
            <a:endParaRPr lang="en-US" dirty="0"/>
          </a:p>
          <a:p>
            <a:r>
              <a:rPr dirty="0"/>
              <a:t>The session has </a:t>
            </a:r>
            <a:r>
              <a:rPr lang="en-US" dirty="0"/>
              <a:t>many </a:t>
            </a:r>
            <a:r>
              <a:rPr dirty="0"/>
              <a:t>parts. I want to spend most of it  : how inbound and</a:t>
            </a:r>
            <a:r>
              <a:rPr lang="en-US" dirty="0"/>
              <a:t> </a:t>
            </a:r>
            <a:r>
              <a:rPr dirty="0"/>
              <a:t>outbound are </a:t>
            </a:r>
            <a:r>
              <a:rPr lang="en-US" dirty="0"/>
              <a:t>kept</a:t>
            </a:r>
            <a:r>
              <a:rPr dirty="0"/>
              <a:t> apart, and the tests that prove a payer cannot reach data that</a:t>
            </a:r>
            <a:r>
              <a:rPr lang="en-US" dirty="0"/>
              <a:t> </a:t>
            </a:r>
            <a:r>
              <a:rPr dirty="0"/>
              <a:t>isn't theirs. </a:t>
            </a:r>
            <a:endParaRPr lang="en-US"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lang="en-US" dirty="0"/>
          </a:p>
          <a:p>
            <a:r>
              <a:rPr dirty="0"/>
              <a:t>Parts </a:t>
            </a:r>
            <a:r>
              <a:rPr lang="en-US" dirty="0"/>
              <a:t>1-3 </a:t>
            </a:r>
            <a:r>
              <a:rPr dirty="0"/>
              <a:t>are set-up. If you already know API Management, </a:t>
            </a:r>
            <a:r>
              <a:rPr lang="en-US" dirty="0"/>
              <a:t>that is good to know but I will  just walk us through </a:t>
            </a:r>
          </a:p>
          <a:p>
            <a:r>
              <a:rPr lang="en-US" dirty="0"/>
              <a:t>P</a:t>
            </a:r>
            <a:r>
              <a:rPr dirty="0"/>
              <a:t>art </a:t>
            </a:r>
            <a:r>
              <a:rPr lang="en-US" dirty="0"/>
              <a:t>4 to 6 is crucial and will spend some time</a:t>
            </a:r>
          </a:p>
          <a:p>
            <a:r>
              <a:rPr dirty="0"/>
              <a:t>Part </a:t>
            </a:r>
            <a:r>
              <a:rPr lang="en-US" dirty="0"/>
              <a:t>7 </a:t>
            </a:r>
            <a:r>
              <a:rPr dirty="0"/>
              <a:t>is the operational reality - credentials and</a:t>
            </a:r>
            <a:r>
              <a:rPr lang="en-US" dirty="0"/>
              <a:t> </a:t>
            </a:r>
            <a:r>
              <a:rPr dirty="0"/>
              <a:t>what you would deploy. </a:t>
            </a:r>
            <a:endParaRPr lang="en-US" dirty="0"/>
          </a:p>
          <a:p>
            <a:r>
              <a:rPr dirty="0"/>
              <a:t>Part </a:t>
            </a:r>
            <a:r>
              <a:rPr lang="en-US" dirty="0"/>
              <a:t>8 </a:t>
            </a:r>
            <a:r>
              <a:rPr dirty="0"/>
              <a:t>is decisions</a:t>
            </a:r>
            <a:r>
              <a:rPr lang="en-US" dirty="0"/>
              <a:t>/next steps</a:t>
            </a:r>
            <a:endParaRPr dirty="0"/>
          </a:p>
          <a:p>
            <a:endParaRPr dirty="0"/>
          </a:p>
          <a:p>
            <a:endParaRPr lang="en-US"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lang="en-US" dirty="0"/>
              <a:t>The objective of this meeting is to learn more based on questions that were asked –</a:t>
            </a:r>
          </a:p>
          <a:p>
            <a:endParaRPr lang="en-US" dirty="0"/>
          </a:p>
          <a:p>
            <a:r>
              <a:rPr lang="en-US" dirty="0"/>
              <a:t>One: separate instances per payer, and inside a payer, contracts are a logical separation. That architecture decision is what everything we built follows.</a:t>
            </a:r>
          </a:p>
          <a:p>
            <a:r>
              <a:rPr lang="en-US" dirty="0"/>
              <a:t>Two: can inbound and outbound be isolated inside one service? That was a specific and a good concern - you do not want a payer reaching back into the claims data they just sent you.</a:t>
            </a:r>
          </a:p>
          <a:p>
            <a:endParaRPr lang="en-US" dirty="0"/>
          </a:p>
          <a:p>
            <a:r>
              <a:rPr lang="en-US" dirty="0"/>
              <a:t>On the left, the four questions I intend to have settled today - these are your questions, and the point is that we agree on the answers.</a:t>
            </a:r>
          </a:p>
          <a:p>
            <a:r>
              <a:rPr lang="en-US" dirty="0"/>
              <a:t>On the right, what we are deliberately scoping out. Capacity sizing is the big one: I cannot size your production gateway until I have exact export volumes. SMART on FHIR scope filtering is out because AHDS does not enforce contract scopes - that is precisely why APIM is here.</a:t>
            </a:r>
          </a:p>
          <a:p>
            <a:endParaRPr lang="en-US" dirty="0"/>
          </a:p>
          <a:p>
            <a:r>
              <a:rPr lang="en-US" dirty="0"/>
              <a:t>The line at the bottom is the takeaway: when two payers call the same platform, what physically prevents one from reading the other's members? Not what policy says they should not do - what physically prevents it.</a:t>
            </a:r>
          </a:p>
          <a:p>
            <a:endParaRPr lang="en-US" dirty="0"/>
          </a:p>
          <a:p>
            <a:r>
              <a:rPr lang="en-US" dirty="0"/>
              <a:t>-------------------------------------------------------------------------------------------------------------------</a:t>
            </a:r>
          </a:p>
          <a:p>
            <a:r>
              <a:rPr lang="en-US" dirty="0"/>
              <a:t>If the import 403 comes up: it was reading storage as the FHIR service's own system identity rather than the user-assigned identity that held the role. One line of Bicep. Happy to go deep after - it is written up in docs/04.</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5578C-0EF9-B997-4F07-4DF01727AE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466A72-1732-0FE4-B021-9445FB18288B}"/>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288FCAD5-FFE8-EA55-3E24-FE8DA5820ACD}"/>
              </a:ext>
            </a:extLst>
          </p:cNvPr>
          <p:cNvSpPr>
            <a:spLocks noGrp="1"/>
          </p:cNvSpPr>
          <p:nvPr>
            <p:ph type="body" sz="quarter" idx="3"/>
          </p:nvPr>
        </p:nvSpPr>
        <p:spPr/>
        <p:txBody>
          <a:bodyPr/>
          <a:lstStyle/>
          <a:p>
            <a:r>
              <a:rPr lang="en-US" sz="1200" b="0" i="0" kern="1200" dirty="0">
                <a:solidFill>
                  <a:schemeClr val="tx1"/>
                </a:solidFill>
                <a:effectLst/>
                <a:latin typeface="+mn-lt"/>
                <a:ea typeface="+mn-ea"/>
                <a:cs typeface="+mn-cs"/>
              </a:rPr>
              <a:t>Azure API Management is made up of an API </a:t>
            </a:r>
            <a:r>
              <a:rPr lang="en-US" sz="1200" b="0" i="1" kern="1200" dirty="0">
                <a:solidFill>
                  <a:schemeClr val="tx1"/>
                </a:solidFill>
                <a:effectLst/>
                <a:latin typeface="+mn-lt"/>
                <a:ea typeface="+mn-ea"/>
                <a:cs typeface="+mn-cs"/>
              </a:rPr>
              <a:t>gateway</a:t>
            </a:r>
            <a:r>
              <a:rPr lang="en-US" sz="1200" b="0" i="0" kern="1200" dirty="0">
                <a:solidFill>
                  <a:schemeClr val="tx1"/>
                </a:solidFill>
                <a:effectLst/>
                <a:latin typeface="+mn-lt"/>
                <a:ea typeface="+mn-ea"/>
                <a:cs typeface="+mn-cs"/>
              </a:rPr>
              <a:t>, a </a:t>
            </a:r>
            <a:r>
              <a:rPr lang="en-US" sz="1200" b="0" i="1" kern="1200" dirty="0">
                <a:solidFill>
                  <a:schemeClr val="tx1"/>
                </a:solidFill>
                <a:effectLst/>
                <a:latin typeface="+mn-lt"/>
                <a:ea typeface="+mn-ea"/>
                <a:cs typeface="+mn-cs"/>
              </a:rPr>
              <a:t>management plane</a:t>
            </a:r>
            <a:r>
              <a:rPr lang="en-US" sz="1200" b="0" i="0" kern="1200" dirty="0">
                <a:solidFill>
                  <a:schemeClr val="tx1"/>
                </a:solidFill>
                <a:effectLst/>
                <a:latin typeface="+mn-lt"/>
                <a:ea typeface="+mn-ea"/>
                <a:cs typeface="+mn-cs"/>
              </a:rPr>
              <a:t>, and a </a:t>
            </a:r>
            <a:r>
              <a:rPr lang="en-US" sz="1200" b="0" i="1" kern="1200" dirty="0">
                <a:solidFill>
                  <a:schemeClr val="tx1"/>
                </a:solidFill>
                <a:effectLst/>
                <a:latin typeface="+mn-lt"/>
                <a:ea typeface="+mn-ea"/>
                <a:cs typeface="+mn-cs"/>
              </a:rPr>
              <a:t>developer portal</a:t>
            </a:r>
            <a:r>
              <a:rPr lang="en-US" sz="1200" b="0" i="0" kern="1200" dirty="0">
                <a:solidFill>
                  <a:schemeClr val="tx1"/>
                </a:solidFill>
                <a:effectLst/>
                <a:latin typeface="+mn-lt"/>
                <a:ea typeface="+mn-ea"/>
                <a:cs typeface="+mn-cs"/>
              </a:rPr>
              <a:t>, with features designed for different audiences in the API ecosystem. These components are Azure-hosted and fully managed by default. API Management is available in various </a:t>
            </a:r>
            <a:r>
              <a:rPr lang="en-US" sz="1200" b="0" i="0" u="none" strike="noStrike" kern="1200" dirty="0">
                <a:solidFill>
                  <a:schemeClr val="tx1"/>
                </a:solidFill>
                <a:effectLst/>
                <a:latin typeface="+mn-lt"/>
                <a:ea typeface="+mn-ea"/>
                <a:cs typeface="+mn-cs"/>
                <a:hlinkClick r:id="rId3"/>
              </a:rPr>
              <a:t>tiers</a:t>
            </a:r>
            <a:r>
              <a:rPr lang="en-US" sz="1200" b="0" i="0" kern="1200" dirty="0">
                <a:solidFill>
                  <a:schemeClr val="tx1"/>
                </a:solidFill>
                <a:effectLst/>
                <a:latin typeface="+mn-lt"/>
                <a:ea typeface="+mn-ea"/>
                <a:cs typeface="+mn-cs"/>
              </a:rPr>
              <a:t> differing in capacity and features.</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API gateway</a:t>
            </a:r>
          </a:p>
          <a:p>
            <a:r>
              <a:rPr lang="en-US" sz="1200" b="0" i="0" kern="1200" dirty="0">
                <a:solidFill>
                  <a:schemeClr val="tx1"/>
                </a:solidFill>
                <a:effectLst/>
                <a:latin typeface="+mn-lt"/>
                <a:ea typeface="+mn-ea"/>
                <a:cs typeface="+mn-cs"/>
              </a:rPr>
              <a:t>All requests from client applications first reach the API gateway (also called </a:t>
            </a:r>
            <a:r>
              <a:rPr lang="en-US" sz="1200" b="0" i="1" kern="1200" dirty="0">
                <a:solidFill>
                  <a:schemeClr val="tx1"/>
                </a:solidFill>
                <a:effectLst/>
                <a:latin typeface="+mn-lt"/>
                <a:ea typeface="+mn-ea"/>
                <a:cs typeface="+mn-cs"/>
              </a:rPr>
              <a:t>data plane</a:t>
            </a:r>
            <a:r>
              <a:rPr lang="en-US" sz="1200" b="0" i="0" kern="1200" dirty="0">
                <a:solidFill>
                  <a:schemeClr val="tx1"/>
                </a:solidFill>
                <a:effectLst/>
                <a:latin typeface="+mn-lt"/>
                <a:ea typeface="+mn-ea"/>
                <a:cs typeface="+mn-cs"/>
              </a:rPr>
              <a:t> or </a:t>
            </a:r>
            <a:r>
              <a:rPr lang="en-US" sz="1200" b="0" i="1" kern="1200" dirty="0">
                <a:solidFill>
                  <a:schemeClr val="tx1"/>
                </a:solidFill>
                <a:effectLst/>
                <a:latin typeface="+mn-lt"/>
                <a:ea typeface="+mn-ea"/>
                <a:cs typeface="+mn-cs"/>
              </a:rPr>
              <a:t>runtime</a:t>
            </a:r>
            <a:r>
              <a:rPr lang="en-US" sz="1200" b="0" i="0" kern="1200" dirty="0">
                <a:solidFill>
                  <a:schemeClr val="tx1"/>
                </a:solidFill>
                <a:effectLst/>
                <a:latin typeface="+mn-lt"/>
                <a:ea typeface="+mn-ea"/>
                <a:cs typeface="+mn-cs"/>
              </a:rPr>
              <a:t>), which then forwards them to respective backend services. The API gateway acts as a facade to the backend services, allowing API providers to abstract API implementations and evolve backend architecture without impacting API consumers. The gateway enables consistent configuration of routing, security, throttling, caching, and observability.</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This gateway:</a:t>
            </a:r>
          </a:p>
          <a:p>
            <a:pPr lvl="0"/>
            <a:r>
              <a:rPr lang="en-US" sz="1200" b="0" i="0" kern="1200" dirty="0">
                <a:solidFill>
                  <a:schemeClr val="tx1"/>
                </a:solidFill>
                <a:effectLst/>
                <a:latin typeface="+mn-lt"/>
                <a:ea typeface="+mn-ea"/>
                <a:cs typeface="+mn-cs"/>
              </a:rPr>
              <a:t>- Acts as a facade to backend services by accepting API calls and routing them to appropriate backends</a:t>
            </a:r>
          </a:p>
          <a:p>
            <a:pPr lvl="0"/>
            <a:r>
              <a:rPr lang="en-US" sz="1200" b="0" i="0" kern="1200" dirty="0">
                <a:solidFill>
                  <a:schemeClr val="tx1"/>
                </a:solidFill>
                <a:effectLst/>
                <a:latin typeface="+mn-lt"/>
                <a:ea typeface="+mn-ea"/>
                <a:cs typeface="+mn-cs"/>
              </a:rPr>
              <a:t>- Verifies </a:t>
            </a:r>
            <a:r>
              <a:rPr lang="en-US" sz="1200" b="0" i="0" u="none" strike="noStrike" kern="1200" dirty="0">
                <a:solidFill>
                  <a:schemeClr val="tx1"/>
                </a:solidFill>
                <a:effectLst/>
                <a:latin typeface="+mn-lt"/>
                <a:ea typeface="+mn-ea"/>
                <a:cs typeface="+mn-cs"/>
                <a:hlinkClick r:id="rId4"/>
              </a:rPr>
              <a:t>API keys</a:t>
            </a:r>
            <a:r>
              <a:rPr lang="en-US" sz="1200" b="0" i="0" kern="1200" dirty="0">
                <a:solidFill>
                  <a:schemeClr val="tx1"/>
                </a:solidFill>
                <a:effectLst/>
                <a:latin typeface="+mn-lt"/>
                <a:ea typeface="+mn-ea"/>
                <a:cs typeface="+mn-cs"/>
              </a:rPr>
              <a:t> and other credentials such as </a:t>
            </a:r>
            <a:r>
              <a:rPr lang="en-US" sz="1200" b="0" i="0" u="none" strike="noStrike" kern="1200" dirty="0">
                <a:solidFill>
                  <a:schemeClr val="tx1"/>
                </a:solidFill>
                <a:effectLst/>
                <a:latin typeface="+mn-lt"/>
                <a:ea typeface="+mn-ea"/>
                <a:cs typeface="+mn-cs"/>
                <a:hlinkClick r:id="rId5"/>
              </a:rPr>
              <a:t>JWTs and certificates</a:t>
            </a:r>
            <a:r>
              <a:rPr lang="en-US" sz="1200" b="0" i="0" kern="1200" dirty="0">
                <a:solidFill>
                  <a:schemeClr val="tx1"/>
                </a:solidFill>
                <a:effectLst/>
                <a:latin typeface="+mn-lt"/>
                <a:ea typeface="+mn-ea"/>
                <a:cs typeface="+mn-cs"/>
              </a:rPr>
              <a:t> presented with requests</a:t>
            </a:r>
          </a:p>
          <a:p>
            <a:pPr lvl="0"/>
            <a:r>
              <a:rPr lang="en-US" sz="1200" b="0" i="0" kern="1200" dirty="0">
                <a:solidFill>
                  <a:schemeClr val="tx1"/>
                </a:solidFill>
                <a:effectLst/>
                <a:latin typeface="+mn-lt"/>
                <a:ea typeface="+mn-ea"/>
                <a:cs typeface="+mn-cs"/>
              </a:rPr>
              <a:t>- Enforces </a:t>
            </a:r>
            <a:r>
              <a:rPr lang="en-US" sz="1200" b="0" i="0" u="none" strike="noStrike" kern="1200" dirty="0">
                <a:solidFill>
                  <a:schemeClr val="tx1"/>
                </a:solidFill>
                <a:effectLst/>
                <a:latin typeface="+mn-lt"/>
                <a:ea typeface="+mn-ea"/>
                <a:cs typeface="+mn-cs"/>
                <a:hlinkClick r:id="rId5"/>
              </a:rPr>
              <a:t>usage quotas and rate limits</a:t>
            </a:r>
            <a:endParaRPr lang="en-US" sz="1200" b="0" i="0" kern="1200" dirty="0">
              <a:solidFill>
                <a:schemeClr val="tx1"/>
              </a:solidFill>
              <a:effectLst/>
              <a:latin typeface="+mn-lt"/>
              <a:ea typeface="+mn-ea"/>
              <a:cs typeface="+mn-cs"/>
            </a:endParaRPr>
          </a:p>
          <a:p>
            <a:pPr lvl="0"/>
            <a:r>
              <a:rPr lang="en-US" sz="1200" b="0" i="0" kern="1200" dirty="0">
                <a:solidFill>
                  <a:schemeClr val="tx1"/>
                </a:solidFill>
                <a:effectLst/>
                <a:latin typeface="+mn-lt"/>
                <a:ea typeface="+mn-ea"/>
                <a:cs typeface="+mn-cs"/>
              </a:rPr>
              <a:t>- Optionally transforms requests and responses as specified in </a:t>
            </a:r>
            <a:r>
              <a:rPr lang="en-US" sz="1200" b="0" i="0" u="none" strike="noStrike" kern="1200" dirty="0">
                <a:solidFill>
                  <a:schemeClr val="tx1"/>
                </a:solidFill>
                <a:effectLst/>
                <a:latin typeface="+mn-lt"/>
                <a:ea typeface="+mn-ea"/>
                <a:cs typeface="+mn-cs"/>
                <a:hlinkClick r:id="rId6"/>
              </a:rPr>
              <a:t>policy statements</a:t>
            </a:r>
            <a:endParaRPr lang="en-US" sz="1200" b="0" i="0" kern="1200" dirty="0">
              <a:solidFill>
                <a:schemeClr val="tx1"/>
              </a:solidFill>
              <a:effectLst/>
              <a:latin typeface="+mn-lt"/>
              <a:ea typeface="+mn-ea"/>
              <a:cs typeface="+mn-cs"/>
            </a:endParaRPr>
          </a:p>
          <a:p>
            <a:pPr lvl="0"/>
            <a:r>
              <a:rPr lang="en-US" sz="1200" b="0" i="0" kern="1200" dirty="0">
                <a:solidFill>
                  <a:schemeClr val="tx1"/>
                </a:solidFill>
                <a:effectLst/>
                <a:latin typeface="+mn-lt"/>
                <a:ea typeface="+mn-ea"/>
                <a:cs typeface="+mn-cs"/>
              </a:rPr>
              <a:t>- Configurable </a:t>
            </a:r>
            <a:r>
              <a:rPr lang="en-US" sz="1200" b="0" i="0" u="none" strike="noStrike" kern="1200" dirty="0">
                <a:solidFill>
                  <a:schemeClr val="tx1"/>
                </a:solidFill>
                <a:effectLst/>
                <a:latin typeface="+mn-lt"/>
                <a:ea typeface="+mn-ea"/>
                <a:cs typeface="+mn-cs"/>
                <a:hlinkClick r:id="rId7"/>
              </a:rPr>
              <a:t>caches responses</a:t>
            </a:r>
            <a:r>
              <a:rPr lang="en-US" sz="1200" b="0" i="0" kern="1200" dirty="0">
                <a:solidFill>
                  <a:schemeClr val="tx1"/>
                </a:solidFill>
                <a:effectLst/>
                <a:latin typeface="+mn-lt"/>
                <a:ea typeface="+mn-ea"/>
                <a:cs typeface="+mn-cs"/>
              </a:rPr>
              <a:t> to improve response latency and minimize the load on backend services</a:t>
            </a:r>
          </a:p>
          <a:p>
            <a:pPr lvl="0"/>
            <a:r>
              <a:rPr lang="en-US" sz="1200" b="0" i="0" kern="1200" dirty="0">
                <a:solidFill>
                  <a:schemeClr val="tx1"/>
                </a:solidFill>
                <a:effectLst/>
                <a:latin typeface="+mn-lt"/>
                <a:ea typeface="+mn-ea"/>
                <a:cs typeface="+mn-cs"/>
              </a:rPr>
              <a:t>- Emits logs, metrics, and traces for </a:t>
            </a:r>
            <a:r>
              <a:rPr lang="en-US" sz="1200" b="0" i="0" u="none" strike="noStrike" kern="1200" dirty="0">
                <a:solidFill>
                  <a:schemeClr val="tx1"/>
                </a:solidFill>
                <a:effectLst/>
                <a:latin typeface="+mn-lt"/>
                <a:ea typeface="+mn-ea"/>
                <a:cs typeface="+mn-cs"/>
                <a:hlinkClick r:id="rId8"/>
              </a:rPr>
              <a:t>monitoring, reporting, and troubleshooting</a:t>
            </a:r>
            <a:endParaRPr lang="en-US" sz="1200" b="0" i="0" kern="1200" dirty="0">
              <a:solidFill>
                <a:schemeClr val="tx1"/>
              </a:solidFill>
              <a:effectLst/>
              <a:latin typeface="+mn-lt"/>
              <a:ea typeface="+mn-ea"/>
              <a:cs typeface="+mn-cs"/>
            </a:endParaRPr>
          </a:p>
          <a:p>
            <a:endParaRPr dirty="0"/>
          </a:p>
        </p:txBody>
      </p:sp>
      <p:sp>
        <p:nvSpPr>
          <p:cNvPr id="4" name="Slide Number Placeholder 3">
            <a:extLst>
              <a:ext uri="{FF2B5EF4-FFF2-40B4-BE49-F238E27FC236}">
                <a16:creationId xmlns:a16="http://schemas.microsoft.com/office/drawing/2014/main" id="{C6B40289-541B-0BFB-E66D-A4C7958E6A4F}"/>
              </a:ext>
            </a:extLst>
          </p:cNvPr>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5905047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lang="en-US" dirty="0"/>
              <a:t>For our AHDS think of </a:t>
            </a:r>
            <a:r>
              <a:rPr dirty="0"/>
              <a:t>APIM </a:t>
            </a:r>
            <a:r>
              <a:rPr lang="en-US" dirty="0"/>
              <a:t>as a </a:t>
            </a:r>
            <a:r>
              <a:rPr dirty="0"/>
              <a:t>reverse proxy that you can program. Every call to your API goes through it, and</a:t>
            </a:r>
            <a:r>
              <a:rPr lang="en-US" dirty="0"/>
              <a:t> </a:t>
            </a:r>
            <a:r>
              <a:rPr dirty="0"/>
              <a:t>on the way through you get to run logic.</a:t>
            </a:r>
          </a:p>
          <a:p>
            <a:endParaRPr dirty="0"/>
          </a:p>
          <a:p>
            <a:r>
              <a:rPr lang="en-US" dirty="0"/>
              <a:t>G</a:t>
            </a:r>
            <a:r>
              <a:rPr dirty="0"/>
              <a:t>ateway is the runtime. An API is a route - we have four, two per payer.</a:t>
            </a:r>
            <a:r>
              <a:rPr lang="en-US" dirty="0"/>
              <a:t> </a:t>
            </a:r>
          </a:p>
          <a:p>
            <a:endParaRPr lang="en-US" dirty="0"/>
          </a:p>
          <a:p>
            <a:r>
              <a:rPr dirty="0"/>
              <a:t>A policy is XML that runs on every call, and that is where all the interesting logic lives.</a:t>
            </a:r>
            <a:r>
              <a:rPr lang="en-US" dirty="0"/>
              <a:t> </a:t>
            </a:r>
            <a:r>
              <a:rPr dirty="0"/>
              <a:t>Named values are configuration you can change without redeploying - our payer entitlement</a:t>
            </a:r>
            <a:r>
              <a:rPr lang="en-US" dirty="0"/>
              <a:t> </a:t>
            </a:r>
            <a:r>
              <a:rPr dirty="0"/>
              <a:t>map is one. </a:t>
            </a:r>
            <a:endParaRPr lang="en-US" dirty="0"/>
          </a:p>
          <a:p>
            <a:r>
              <a:rPr dirty="0"/>
              <a:t>The managed identity is the gateway's own identity in Entra</a:t>
            </a:r>
            <a:r>
              <a:rPr lang="en-US" dirty="0"/>
              <a:t> -- </a:t>
            </a:r>
            <a:r>
              <a:rPr dirty="0"/>
              <a:t>Products and subscriptions we are not using; </a:t>
            </a:r>
            <a:endParaRPr lang="en-US" dirty="0"/>
          </a:p>
          <a:p>
            <a:r>
              <a:rPr dirty="0"/>
              <a:t>we authenticate with Entra</a:t>
            </a:r>
            <a:r>
              <a:rPr lang="en-US" dirty="0"/>
              <a:t> </a:t>
            </a:r>
            <a:r>
              <a:rPr dirty="0"/>
              <a:t>tokens instead of API keys, because that is what SMART Backend Services expects.</a:t>
            </a:r>
            <a:endParaRPr lang="en-US" dirty="0"/>
          </a:p>
          <a:p>
            <a:endParaRPr dirty="0"/>
          </a:p>
          <a:p>
            <a:r>
              <a:rPr lang="en-US" dirty="0"/>
              <a:t>This matters because </a:t>
            </a:r>
            <a:r>
              <a:rPr dirty="0"/>
              <a:t>AHDS role-based access control has no concept of a</a:t>
            </a:r>
            <a:r>
              <a:rPr lang="en-US" dirty="0"/>
              <a:t> </a:t>
            </a:r>
            <a:r>
              <a:rPr dirty="0"/>
              <a:t>contract. It can </a:t>
            </a:r>
            <a:r>
              <a:rPr lang="en-US" dirty="0"/>
              <a:t>say,</a:t>
            </a:r>
            <a:r>
              <a:rPr dirty="0"/>
              <a:t> 'this identity may read this FHIR service' and nothing finer than</a:t>
            </a:r>
            <a:r>
              <a:rPr lang="en-US" dirty="0"/>
              <a:t> </a:t>
            </a:r>
            <a:r>
              <a:rPr dirty="0"/>
              <a:t>that. </a:t>
            </a:r>
            <a:endParaRPr lang="en-US" dirty="0"/>
          </a:p>
          <a:p>
            <a:r>
              <a:rPr dirty="0"/>
              <a:t>So every rule finer than the whole service </a:t>
            </a:r>
            <a:r>
              <a:rPr lang="en-US" dirty="0"/>
              <a:t>must</a:t>
            </a:r>
            <a:r>
              <a:rPr dirty="0"/>
              <a:t> be enforced </a:t>
            </a:r>
            <a:r>
              <a:rPr lang="en-US" dirty="0"/>
              <a:t>with APIM</a:t>
            </a:r>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rPr lang="en-US" dirty="0"/>
              <a:t>The </a:t>
            </a:r>
            <a:r>
              <a:rPr dirty="0"/>
              <a:t>whole demo on one page.</a:t>
            </a:r>
          </a:p>
          <a:p>
            <a:endParaRPr dirty="0"/>
          </a:p>
          <a:p>
            <a:r>
              <a:rPr dirty="0"/>
              <a:t>Two payers</a:t>
            </a:r>
            <a:r>
              <a:rPr lang="en-US" dirty="0"/>
              <a:t> - </a:t>
            </a:r>
            <a:r>
              <a:rPr dirty="0"/>
              <a:t>Contoso Health Plan with two contracts</a:t>
            </a:r>
            <a:r>
              <a:rPr lang="en-US" dirty="0"/>
              <a:t> (</a:t>
            </a:r>
            <a:r>
              <a:rPr lang="en-US" sz="1200" b="0" i="0" kern="1200" dirty="0">
                <a:solidFill>
                  <a:schemeClr val="tx1"/>
                </a:solidFill>
                <a:effectLst/>
                <a:latin typeface="+mn-lt"/>
                <a:ea typeface="+mn-ea"/>
                <a:cs typeface="+mn-cs"/>
              </a:rPr>
              <a:t>CT-3456, CT-7788</a:t>
            </a:r>
            <a:r>
              <a:rPr lang="en-US" dirty="0"/>
              <a:t>)</a:t>
            </a:r>
            <a:r>
              <a:rPr dirty="0"/>
              <a:t>, Fabrikam with one</a:t>
            </a:r>
            <a:r>
              <a:rPr lang="en-US" dirty="0"/>
              <a:t> (</a:t>
            </a:r>
            <a:r>
              <a:rPr lang="en-US" sz="1200" b="0" i="0" kern="1200" dirty="0">
                <a:solidFill>
                  <a:schemeClr val="tx1"/>
                </a:solidFill>
                <a:effectLst/>
                <a:latin typeface="+mn-lt"/>
                <a:ea typeface="+mn-ea"/>
                <a:cs typeface="+mn-cs"/>
              </a:rPr>
              <a:t>CT-9001)</a:t>
            </a:r>
            <a:r>
              <a:rPr dirty="0"/>
              <a:t>. Each has its own</a:t>
            </a:r>
            <a:r>
              <a:rPr lang="en-US" dirty="0"/>
              <a:t> </a:t>
            </a:r>
            <a:r>
              <a:rPr dirty="0"/>
              <a:t>Entra app registration. That is the only credential they hold.</a:t>
            </a:r>
          </a:p>
          <a:p>
            <a:endParaRPr dirty="0"/>
          </a:p>
          <a:p>
            <a:r>
              <a:rPr dirty="0"/>
              <a:t>Two directions per payer. Inbound is us writing data in. Outbound is the payer reading</a:t>
            </a:r>
            <a:r>
              <a:rPr lang="en-US" dirty="0"/>
              <a:t> </a:t>
            </a:r>
            <a:r>
              <a:rPr dirty="0"/>
              <a:t>data out. Separate APIs</a:t>
            </a:r>
            <a:r>
              <a:rPr lang="en-US" dirty="0"/>
              <a:t> with</a:t>
            </a:r>
            <a:r>
              <a:rPr dirty="0"/>
              <a:t> separate policies</a:t>
            </a:r>
            <a:r>
              <a:rPr lang="en-US" dirty="0"/>
              <a:t> on this POC - Two times two is four - Four APIs, four </a:t>
            </a:r>
            <a:r>
              <a:rPr lang="en-US" b="1" dirty="0"/>
              <a:t>deployed </a:t>
            </a:r>
            <a:r>
              <a:rPr lang="en-US" dirty="0"/>
              <a:t>policies — but two source files. Contoso and Fabrikam run the same two templates with the audience substituted at deploy. That is why eighty payers is still two files (payer-inbound.xml and payer-outbound.xml) which gets deployed </a:t>
            </a:r>
            <a:r>
              <a:rPr lang="en-US" sz="1200" b="0" i="0" kern="1200" dirty="0">
                <a:solidFill>
                  <a:schemeClr val="tx1"/>
                </a:solidFill>
                <a:effectLst/>
                <a:latin typeface="+mn-lt"/>
                <a:ea typeface="+mn-ea"/>
                <a:cs typeface="+mn-cs"/>
              </a:rPr>
              <a:t>four times with </a:t>
            </a:r>
            <a:r>
              <a:rPr lang="en-US" sz="1200" b="1" i="1" kern="1200" dirty="0">
                <a:solidFill>
                  <a:schemeClr val="tx1"/>
                </a:solidFill>
                <a:effectLst/>
                <a:latin typeface="+mn-lt"/>
                <a:ea typeface="+mn-ea"/>
                <a:cs typeface="+mn-cs"/>
              </a:rPr>
              <a:t>__FHIR_AUDIENCE__ </a:t>
            </a:r>
            <a:r>
              <a:rPr lang="en-US" sz="1200" b="0" i="0" kern="1200" dirty="0">
                <a:solidFill>
                  <a:schemeClr val="tx1"/>
                </a:solidFill>
                <a:effectLst/>
                <a:latin typeface="+mn-lt"/>
                <a:ea typeface="+mn-ea"/>
                <a:cs typeface="+mn-cs"/>
              </a:rPr>
              <a:t>and the payer slug substituted per route</a:t>
            </a:r>
            <a:endParaRPr lang="en-US" dirty="0"/>
          </a:p>
          <a:p>
            <a:r>
              <a:rPr lang="en-US" sz="1200" b="0" i="0" kern="1200" dirty="0">
                <a:solidFill>
                  <a:schemeClr val="tx1"/>
                </a:solidFill>
                <a:effectLst/>
                <a:latin typeface="+mn-lt"/>
                <a:ea typeface="+mn-ea"/>
                <a:cs typeface="+mn-cs"/>
              </a:rPr>
              <a:t>At any number of payers - it is still two policy templates — the per-payer detail lives in named values, not in the XML, and the routes get generated.</a:t>
            </a:r>
            <a:endParaRPr lang="en-US" dirty="0"/>
          </a:p>
          <a:p>
            <a:endParaRPr dirty="0"/>
          </a:p>
          <a:p>
            <a:r>
              <a:rPr lang="en-US" dirty="0"/>
              <a:t>Now –keep in mind -- </a:t>
            </a:r>
            <a:r>
              <a:rPr dirty="0"/>
              <a:t>Neither payer application has</a:t>
            </a:r>
            <a:r>
              <a:rPr lang="en-US" dirty="0"/>
              <a:t> </a:t>
            </a:r>
            <a:r>
              <a:rPr dirty="0"/>
              <a:t>a single Azure role assignment. They cannot reach the FHIR service directly </a:t>
            </a:r>
            <a:r>
              <a:rPr lang="en-US" dirty="0"/>
              <a:t>– </a:t>
            </a:r>
            <a:r>
              <a:rPr dirty="0"/>
              <a:t>The</a:t>
            </a:r>
            <a:r>
              <a:rPr lang="en-US" dirty="0"/>
              <a:t> </a:t>
            </a:r>
            <a:r>
              <a:rPr dirty="0"/>
              <a:t>gateway is the only path</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This policy has four stages and they run in this order on every single call - it loops, so let it run while I talk.</a:t>
            </a:r>
          </a:p>
          <a:p>
            <a:endParaRPr/>
          </a:p>
          <a:p>
            <a:r>
              <a:t>Watch the pill: it leaves Contoso as the payer's own token and reaches the backend as the gateway's managed identity.</a:t>
            </a:r>
          </a:p>
          <a:p>
            <a:endParaRPr/>
          </a:p>
          <a:p>
            <a:r>
              <a:t>Inbound is where almost everything happens - validate the token, resolve the contracts, reject anything wrong, then swap the credential - about 300 lines.</a:t>
            </a:r>
          </a:p>
          <a:p>
            <a:endParaRPr/>
          </a:p>
          <a:p>
            <a:r>
              <a:t>Backend only forwards, because the payer's token was already discarded and never reaches FHIR.</a:t>
            </a:r>
          </a:p>
          <a:p>
            <a:endParaRPr/>
          </a:p>
          <a:p>
            <a:r>
              <a:t>Outbound rewrites Content-Location so the payer polls a gateway URL and never learns the AHDS hostname.</a:t>
            </a:r>
          </a:p>
          <a:p>
            <a:endParaRPr/>
          </a:p>
          <a:p>
            <a:r>
              <a:t>On-error returns a FHIR OperationOutcome instead of an API Management stack trace, so the payer's own client can parse our failures.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lang="en-US" dirty="0"/>
              <a:t>Now – where does Gateway sit – </a:t>
            </a:r>
          </a:p>
          <a:p>
            <a:r>
              <a:rPr lang="en-US" dirty="0"/>
              <a:t>We know we have </a:t>
            </a:r>
            <a:r>
              <a:rPr dirty="0"/>
              <a:t>two payers</a:t>
            </a:r>
            <a:r>
              <a:rPr lang="en-US" dirty="0"/>
              <a:t> with </a:t>
            </a:r>
            <a:r>
              <a:rPr dirty="0"/>
              <a:t>its own Entra application registration. They get a token</a:t>
            </a:r>
            <a:r>
              <a:rPr lang="en-US" dirty="0"/>
              <a:t> </a:t>
            </a:r>
            <a:r>
              <a:rPr dirty="0"/>
              <a:t>the SMART Backend Services way - client credentials, no user present, because this i</a:t>
            </a:r>
            <a:r>
              <a:rPr lang="en-US" dirty="0"/>
              <a:t>s </a:t>
            </a:r>
            <a:r>
              <a:rPr dirty="0"/>
              <a:t>server to server</a:t>
            </a:r>
            <a:r>
              <a:rPr lang="en-US" dirty="0"/>
              <a:t> which is </a:t>
            </a:r>
            <a:r>
              <a:rPr dirty="0"/>
              <a:t>the standard CMS-0057-F expects.</a:t>
            </a:r>
          </a:p>
          <a:p>
            <a:endParaRPr lang="en-US" dirty="0"/>
          </a:p>
          <a:p>
            <a:r>
              <a:rPr dirty="0"/>
              <a:t>In the middle, the </a:t>
            </a:r>
            <a:r>
              <a:rPr b="1" dirty="0"/>
              <a:t>gateway</a:t>
            </a:r>
            <a:r>
              <a:rPr dirty="0"/>
              <a:t>. One APIM instance, and it is the only path in. Six layers of</a:t>
            </a:r>
            <a:r>
              <a:rPr lang="en-US" dirty="0"/>
              <a:t> </a:t>
            </a:r>
            <a:r>
              <a:rPr dirty="0"/>
              <a:t>policy run on every </a:t>
            </a:r>
            <a:r>
              <a:rPr lang="en-US" dirty="0"/>
              <a:t>call</a:t>
            </a:r>
          </a:p>
          <a:p>
            <a:endParaRPr dirty="0"/>
          </a:p>
          <a:p>
            <a:r>
              <a:rPr dirty="0"/>
              <a:t>At the bottom, two FHIR services. This is the physical boundary. Contoso's data is in one,</a:t>
            </a:r>
            <a:r>
              <a:rPr lang="en-US" dirty="0"/>
              <a:t> </a:t>
            </a:r>
            <a:r>
              <a:rPr dirty="0"/>
              <a:t>Fabrikam's is in the other. Inside Contoso's service, its two contracts are separated</a:t>
            </a:r>
            <a:r>
              <a:rPr lang="en-US" dirty="0"/>
              <a:t> </a:t>
            </a:r>
            <a:r>
              <a:rPr dirty="0"/>
              <a:t>logically by a tag.</a:t>
            </a:r>
          </a:p>
          <a:p>
            <a:endParaRPr dirty="0"/>
          </a:p>
          <a:p>
            <a:r>
              <a:rPr lang="en-US" dirty="0"/>
              <a:t>Keep in mind that “</a:t>
            </a:r>
            <a:r>
              <a:rPr dirty="0"/>
              <a:t>no route exists from Contoso</a:t>
            </a:r>
            <a:r>
              <a:rPr lang="en-US" dirty="0"/>
              <a:t> </a:t>
            </a:r>
            <a:r>
              <a:rPr dirty="0"/>
              <a:t>to here. Not 'no policy allows it' - no route exists</a:t>
            </a:r>
            <a:r>
              <a:rPr lang="en-US" dirty="0"/>
              <a:t> at all</a:t>
            </a:r>
            <a:r>
              <a:rPr dirty="0"/>
              <a:t>"</a:t>
            </a:r>
          </a:p>
          <a:p>
            <a:endParaRPr dirty="0"/>
          </a:p>
          <a:p>
            <a:r>
              <a:rPr dirty="0"/>
              <a:t>If someone asks about BasicV2: "That is a POC tier - it does not support VNet injection.</a:t>
            </a:r>
            <a:r>
              <a:rPr lang="en-US" dirty="0"/>
              <a:t> </a:t>
            </a:r>
            <a:r>
              <a:rPr dirty="0"/>
              <a:t>For production you would be on Premium V2</a:t>
            </a:r>
            <a:r>
              <a:rPr lang="en-US" dirty="0"/>
              <a:t> – Prov has central US approved already</a:t>
            </a:r>
            <a:r>
              <a:rPr dirty="0"/>
              <a: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Between payers, the boundary is physical. Separate FHIR service, separate data store,</a:t>
            </a:r>
            <a:r>
              <a:rPr lang="en-US" dirty="0"/>
              <a:t> </a:t>
            </a:r>
            <a:r>
              <a:rPr dirty="0"/>
              <a:t>separate access control. The important property is </a:t>
            </a:r>
            <a:r>
              <a:rPr lang="en-US" dirty="0"/>
              <a:t> </a:t>
            </a:r>
            <a:r>
              <a:rPr dirty="0"/>
              <a:t>a defect in one of</a:t>
            </a:r>
          </a:p>
          <a:p>
            <a:r>
              <a:rPr dirty="0"/>
              <a:t>my policies cannot leak Contoso to Fabrikam, because Fabrikam's credential has no path to</a:t>
            </a:r>
            <a:r>
              <a:rPr lang="en-US" dirty="0"/>
              <a:t> </a:t>
            </a:r>
            <a:r>
              <a:rPr dirty="0"/>
              <a:t>Contoso's service at all. The blast radius is bounded by architecture rather than by</a:t>
            </a:r>
          </a:p>
          <a:p>
            <a:r>
              <a:rPr dirty="0"/>
              <a:t>whether I wrote the policy correctly.</a:t>
            </a:r>
          </a:p>
          <a:p>
            <a:endParaRPr dirty="0"/>
          </a:p>
          <a:p>
            <a:r>
              <a:rPr dirty="0"/>
              <a:t>Within a payer, the boundary is logical. Contracts are a tag on the data, enforced here at</a:t>
            </a:r>
            <a:r>
              <a:rPr lang="en-US" dirty="0"/>
              <a:t> </a:t>
            </a:r>
            <a:r>
              <a:rPr dirty="0"/>
              <a:t>the gateway.</a:t>
            </a:r>
            <a:r>
              <a:rPr lang="en-US" dirty="0"/>
              <a:t> A</a:t>
            </a:r>
            <a:r>
              <a:rPr dirty="0"/>
              <a:t> defect here could expose one contract</a:t>
            </a:r>
            <a:r>
              <a:rPr lang="en-US" dirty="0"/>
              <a:t> </a:t>
            </a:r>
            <a:r>
              <a:rPr dirty="0"/>
              <a:t>to another inside the same payer. That is a genuine</a:t>
            </a:r>
            <a:r>
              <a:rPr lang="en-US" dirty="0"/>
              <a:t> risk,</a:t>
            </a:r>
            <a:r>
              <a:rPr dirty="0"/>
              <a:t> and we are accepting it on</a:t>
            </a:r>
            <a:r>
              <a:rPr lang="en-US" dirty="0"/>
              <a:t> </a:t>
            </a:r>
            <a:r>
              <a:rPr dirty="0"/>
              <a:t>purpose."</a:t>
            </a:r>
          </a:p>
          <a:p>
            <a:endParaRPr dirty="0"/>
          </a:p>
          <a:p>
            <a:r>
              <a:rPr lang="en-US" dirty="0"/>
              <a:t>This means - </a:t>
            </a:r>
            <a:r>
              <a:rPr dirty="0"/>
              <a:t>Physical separation stops a mistake. Logical separation stops</a:t>
            </a:r>
            <a:r>
              <a:rPr lang="en-US" dirty="0"/>
              <a:t> </a:t>
            </a:r>
            <a:r>
              <a:rPr dirty="0"/>
              <a:t>a query.</a:t>
            </a:r>
            <a:r>
              <a:rPr lang="en-US" dirty="0"/>
              <a:t> </a:t>
            </a:r>
            <a:r>
              <a:rPr dirty="0"/>
              <a:t>So</a:t>
            </a:r>
            <a:r>
              <a:rPr lang="en-US" dirty="0"/>
              <a:t>, </a:t>
            </a:r>
            <a:r>
              <a:rPr dirty="0"/>
              <a:t>you spend the expensive boundary only where a failure crosses a company line, and you</a:t>
            </a:r>
            <a:r>
              <a:rPr lang="en-US" dirty="0"/>
              <a:t> </a:t>
            </a:r>
            <a:r>
              <a:rPr dirty="0"/>
              <a:t>use the cheap one where both parties already have a contract with you. That is what lets</a:t>
            </a:r>
            <a:r>
              <a:rPr lang="en-US" dirty="0"/>
              <a:t> </a:t>
            </a:r>
            <a:r>
              <a:rPr dirty="0"/>
              <a:t>this scale to two hundred payers without provisioning two hundred services."</a:t>
            </a:r>
          </a:p>
          <a:p>
            <a:endParaRPr dirty="0"/>
          </a:p>
          <a:p>
            <a:r>
              <a:rPr lang="en-US" dirty="0"/>
              <a:t>Now </a:t>
            </a:r>
            <a:r>
              <a:rPr dirty="0"/>
              <a:t>"why is logical good enough for contracts?" </a:t>
            </a:r>
            <a:r>
              <a:rPr lang="en-US" dirty="0"/>
              <a:t> </a:t>
            </a:r>
          </a:p>
          <a:p>
            <a:r>
              <a:rPr lang="en-US" dirty="0"/>
              <a:t>Answer</a:t>
            </a:r>
            <a:r>
              <a:rPr dirty="0"/>
              <a:t>: "Because the</a:t>
            </a:r>
            <a:r>
              <a:rPr lang="en-US" dirty="0"/>
              <a:t> </a:t>
            </a:r>
            <a:r>
              <a:rPr dirty="0"/>
              <a:t>counterparty is the same legal entity either way. If CT-3456 leaked to CT-7788, both are</a:t>
            </a:r>
            <a:r>
              <a:rPr lang="en-US" dirty="0"/>
              <a:t> </a:t>
            </a:r>
            <a:r>
              <a:rPr dirty="0"/>
              <a:t>Contoso. If Contoso leaked to Fabrikam, that is a breach between two competitors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lang="en-US" dirty="0"/>
              <a:t>Now </a:t>
            </a:r>
            <a:r>
              <a:rPr dirty="0"/>
              <a:t>question was: </a:t>
            </a:r>
            <a:r>
              <a:rPr lang="en-US" dirty="0"/>
              <a:t>"</a:t>
            </a:r>
            <a:r>
              <a:rPr dirty="0"/>
              <a:t>can inbound and outbound be isolated from each other within one service?</a:t>
            </a:r>
            <a:r>
              <a:rPr lang="en-US" dirty="0"/>
              <a:t> </a:t>
            </a:r>
            <a:r>
              <a:rPr dirty="0"/>
              <a:t>The answer is yes, and the reason is because neither of</a:t>
            </a:r>
            <a:r>
              <a:rPr lang="en-US" dirty="0"/>
              <a:t> </a:t>
            </a:r>
            <a:r>
              <a:rPr dirty="0"/>
              <a:t>them can be reached directly.</a:t>
            </a:r>
          </a:p>
          <a:p>
            <a:endParaRPr dirty="0"/>
          </a:p>
          <a:p>
            <a:r>
              <a:rPr dirty="0"/>
              <a:t>On the </a:t>
            </a:r>
            <a:r>
              <a:rPr b="1" dirty="0"/>
              <a:t>left</a:t>
            </a:r>
            <a:r>
              <a:rPr dirty="0"/>
              <a:t>, the outbound route. A payer can search, and their search is always filtered to</a:t>
            </a:r>
            <a:r>
              <a:rPr lang="en-US" dirty="0"/>
              <a:t> </a:t>
            </a:r>
            <a:r>
              <a:rPr dirty="0"/>
              <a:t>their own contracts whether they ask for it or not. They can run a Group-scoped bulk export,</a:t>
            </a:r>
            <a:r>
              <a:rPr lang="en-US" dirty="0"/>
              <a:t> </a:t>
            </a:r>
            <a:r>
              <a:rPr dirty="0"/>
              <a:t>but only against a Group in their own contract. They can read the capability statement.</a:t>
            </a:r>
            <a:r>
              <a:rPr lang="en-US" dirty="0"/>
              <a:t> </a:t>
            </a:r>
            <a:r>
              <a:rPr dirty="0"/>
              <a:t>They cannot write anything - every write verb is refused. And they cannot run a system-level</a:t>
            </a:r>
            <a:r>
              <a:rPr lang="en-US" dirty="0"/>
              <a:t> </a:t>
            </a:r>
            <a:r>
              <a:rPr dirty="0"/>
              <a:t>or patient-level export, only Group-scoped.</a:t>
            </a:r>
            <a:r>
              <a:rPr lang="en-US" dirty="0"/>
              <a:t> </a:t>
            </a:r>
          </a:p>
          <a:p>
            <a:endParaRPr lang="en-US" dirty="0"/>
          </a:p>
          <a:p>
            <a:r>
              <a:rPr dirty="0"/>
              <a:t>On the </a:t>
            </a:r>
            <a:r>
              <a:rPr b="1" dirty="0"/>
              <a:t>right</a:t>
            </a:r>
            <a:r>
              <a:rPr dirty="0"/>
              <a:t>, the inbound route, which is how Northwind Health pushes data in. It can write, and</a:t>
            </a:r>
            <a:r>
              <a:rPr lang="en-US" dirty="0"/>
              <a:t> </a:t>
            </a:r>
            <a:r>
              <a:rPr dirty="0"/>
              <a:t>every write is stamped with a contract tag. That header is mandatory - if it is missing, the</a:t>
            </a:r>
            <a:r>
              <a:rPr lang="en-US" dirty="0"/>
              <a:t> </a:t>
            </a:r>
            <a:r>
              <a:rPr dirty="0"/>
              <a:t>write is rejected, because if ingest does not stamp then export cannot filter. And export is</a:t>
            </a:r>
            <a:r>
              <a:rPr lang="en-US" dirty="0"/>
              <a:t> </a:t>
            </a:r>
            <a:r>
              <a:rPr dirty="0"/>
              <a:t>denied outright on this route, so even if an ingest credential were compromised, it cannot</a:t>
            </a:r>
          </a:p>
          <a:p>
            <a:r>
              <a:rPr dirty="0"/>
              <a:t>be turned around and used to read data out."</a:t>
            </a:r>
          </a:p>
          <a:p>
            <a:endParaRPr dirty="0"/>
          </a:p>
          <a:p>
            <a:r>
              <a:rPr lang="en-US" dirty="0"/>
              <a:t>This means: both routes reach the same FHIR service, which the payer's credential cannot access directly — each route is the only door in, and each runs its own allow-list before opening.</a:t>
            </a:r>
          </a:p>
          <a:p>
            <a:endParaRPr dirty="0"/>
          </a:p>
          <a:p>
            <a:r>
              <a:rPr lang="en-US" dirty="0"/>
              <a:t>Now a </a:t>
            </a:r>
            <a:r>
              <a:rPr dirty="0"/>
              <a:t>question - "what if someone gets the FHIR URL?" </a:t>
            </a:r>
            <a:endParaRPr lang="en-US" dirty="0"/>
          </a:p>
          <a:p>
            <a:r>
              <a:rPr dirty="0"/>
              <a:t>Answer: "They can have it</a:t>
            </a:r>
            <a:r>
              <a:rPr lang="en-US" dirty="0"/>
              <a:t> as </a:t>
            </a:r>
            <a:r>
              <a:rPr dirty="0"/>
              <a:t>It is</a:t>
            </a:r>
            <a:r>
              <a:rPr lang="en-US" dirty="0"/>
              <a:t> may not be </a:t>
            </a:r>
            <a:r>
              <a:rPr dirty="0"/>
              <a:t>a secret</a:t>
            </a:r>
            <a:r>
              <a:rPr lang="en-US" dirty="0"/>
              <a:t> but w</a:t>
            </a:r>
            <a:r>
              <a:rPr dirty="0"/>
              <a:t>ithout a role assignment </a:t>
            </a:r>
            <a:r>
              <a:rPr lang="en-US" dirty="0"/>
              <a:t>that</a:t>
            </a:r>
            <a:r>
              <a:rPr dirty="0"/>
              <a:t> URL is useless</a:t>
            </a:r>
            <a:r>
              <a:rPr lang="en-US" dirty="0"/>
              <a:t>. </a:t>
            </a:r>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So lets learn how Enforcement of Contract Boundary happens – 2 steps working only as a pair</a:t>
            </a:r>
          </a:p>
          <a:p>
            <a:endParaRPr dirty="0"/>
          </a:p>
          <a:p>
            <a:r>
              <a:rPr dirty="0"/>
              <a:t>On ingest, every resource gets stamped. Northwind Health posts a Patient with a contract header, and the policy writes that contract into meta.tag on the resource itself. That header is mandatory. If ingest does not stamp, export has nothing to filter on.</a:t>
            </a:r>
          </a:p>
          <a:p>
            <a:endParaRPr dirty="0"/>
          </a:p>
          <a:p>
            <a:r>
              <a:rPr dirty="0"/>
              <a:t>On read, the filter is forced. Look carefully at the top line on the right - the payer sent a _tag of their own, and it does not matter what they put there. The policy overwrites it. It does not merge it, it does not validate it, it discards it and substitutes the contracts this caller holds. A payer cannot widen their own scope by editing the query string. </a:t>
            </a:r>
          </a:p>
          <a:p>
            <a:endParaRPr dirty="0"/>
          </a:p>
          <a:p>
            <a:r>
              <a:rPr dirty="0"/>
              <a:t>In the middle is the entitlement map. That is a named value in APIM - configuration, not code.  </a:t>
            </a:r>
            <a:endParaRPr lang="en-US" dirty="0"/>
          </a:p>
          <a:p>
            <a:endParaRPr dirty="0"/>
          </a:p>
          <a:p>
            <a:r>
              <a:rPr dirty="0"/>
              <a:t>And that gives you the green box, which is the operational answer to 'what does payer number three cost us'. Register an app, add one line to that map, create the Group. No redeployment, no code change, no downtime.</a:t>
            </a:r>
            <a:endParaRPr lang="en-US" dirty="0"/>
          </a:p>
          <a:p>
            <a:endParaRPr dirty="0"/>
          </a:p>
          <a:p>
            <a:r>
              <a:rPr dirty="0"/>
              <a:t>So maybe a question - "why a tag rather than just filtering in the query?" </a:t>
            </a:r>
          </a:p>
          <a:p>
            <a:r>
              <a:rPr dirty="0"/>
              <a:t>Answer: "Because the tag travels with the resource. Any future consumer - a bulk export, an analytics pipeline, a second gateway - sees the same boundary without having to re-derive it. The boundary is in the data, not just in the request path."</a:t>
            </a:r>
          </a:p>
          <a:p>
            <a:r>
              <a:rPr lang="en-US" dirty="0"/>
              <a:t>-------------------------</a:t>
            </a:r>
            <a:endParaRPr dirty="0"/>
          </a:p>
          <a:p>
            <a:r>
              <a:rPr dirty="0"/>
              <a:t>If they ask what revocation </a:t>
            </a:r>
            <a:r>
              <a:rPr lang="en-US" dirty="0"/>
              <a:t>looks</a:t>
            </a:r>
            <a:r>
              <a:rPr dirty="0"/>
              <a:t> like, it is the same edit in reverse. demo-revoke-contract.ps1 takes CT-7788 away from Contoso and the very next call - same token, same URL, nothing redeployed - comes back with half the patients and one contract instead of two. About three seconds. Then it puts it back. The payer's credential is never touched, because revocation is an entitlement decision, not a credential one.</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Now lets do some live runs – Lemme switch to the terminal.</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show </a:t>
            </a:r>
            <a:r>
              <a:rPr lang="en-US" dirty="0" err="1"/>
              <a:t>vscode</a:t>
            </a:r>
            <a:r>
              <a:rPr lang="en-US" dirty="0"/>
              <a:t> and follow Word doc</a:t>
            </a:r>
          </a:p>
          <a:p>
            <a:endParaRPr lang="en-US" dirty="0"/>
          </a:p>
          <a:p>
            <a:endParaRPr dirty="0"/>
          </a:p>
          <a:p>
            <a:r>
              <a:rPr dirty="0"/>
              <a:t>./scripts/run-isolation-tests.ps1 runs against the deployed gateway  ·  mints short-lived credentials and destroys them on exit</a:t>
            </a:r>
          </a:p>
          <a:p>
            <a:endParaRPr dirty="0"/>
          </a:p>
          <a:p>
            <a:r>
              <a:rPr dirty="0"/>
              <a:t>./scripts/demo-revoke-contract.ps1 revokes CT-7788 live and restores it  ·  same token, same URL — 50 patients drops to 25 in about three seconds</a:t>
            </a:r>
          </a:p>
          <a:p>
            <a:endParaRPr dirty="0"/>
          </a:p>
          <a:p>
            <a:r>
              <a:rPr dirty="0"/>
              <a:t>./scripts/show-audit-attribution.ps1 reads the FHIR service's own audit log  ·  green rows carry the payer and contracts, the red row is the call that skipped the gateway and has no attribution at all</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lang="en-US" dirty="0"/>
              <a:t>Let's emphasize on these three commands specifically from the s</a:t>
            </a:r>
            <a:r>
              <a:rPr dirty="0"/>
              <a:t>ixteen </a:t>
            </a:r>
            <a:r>
              <a:rPr lang="en-US" dirty="0"/>
              <a:t>commands as these 3 </a:t>
            </a:r>
            <a:r>
              <a:rPr dirty="0"/>
              <a:t>carry the argument.</a:t>
            </a:r>
          </a:p>
          <a:p>
            <a:endParaRPr dirty="0"/>
          </a:p>
          <a:p>
            <a:r>
              <a:rPr lang="en-US" dirty="0"/>
              <a:t>4 : payer B app, valid payer A audience : </a:t>
            </a:r>
            <a:r>
              <a:rPr dirty="0"/>
              <a:t>Fabrikam's application, holding a token that is technically valid </a:t>
            </a:r>
            <a:r>
              <a:rPr lang="en-US" dirty="0"/>
              <a:t>–</a:t>
            </a:r>
            <a:r>
              <a:rPr dirty="0"/>
              <a:t> correctly</a:t>
            </a:r>
            <a:r>
              <a:rPr lang="en-US" dirty="0"/>
              <a:t> </a:t>
            </a:r>
            <a:r>
              <a:rPr dirty="0"/>
              <a:t>signed, correct audience for Contoso's endpoint. It still gets a 403. The entitlement map</a:t>
            </a:r>
            <a:r>
              <a:rPr lang="en-US" dirty="0"/>
              <a:t> </a:t>
            </a:r>
            <a:r>
              <a:rPr dirty="0"/>
              <a:t>says this caller belongs to payer B, the endpoint is payer A, and the call dies at layer two.</a:t>
            </a:r>
          </a:p>
          <a:p>
            <a:r>
              <a:rPr dirty="0"/>
              <a:t>What that proves is that the boundary holds against a legitimate credential. Anyone can stop</a:t>
            </a:r>
            <a:r>
              <a:rPr lang="en-US" dirty="0"/>
              <a:t> </a:t>
            </a:r>
            <a:r>
              <a:rPr dirty="0"/>
              <a:t>a forged token. Stopping a real one that is simply pointed at the wrong tenant is the harder</a:t>
            </a:r>
          </a:p>
          <a:p>
            <a:r>
              <a:rPr dirty="0"/>
              <a:t>case.</a:t>
            </a:r>
          </a:p>
          <a:p>
            <a:endParaRPr dirty="0"/>
          </a:p>
          <a:p>
            <a:r>
              <a:rPr lang="en-US" dirty="0"/>
              <a:t>12 : </a:t>
            </a:r>
            <a:r>
              <a:rPr dirty="0"/>
              <a:t> </a:t>
            </a:r>
            <a:r>
              <a:rPr lang="en-US" dirty="0"/>
              <a:t>Good for security review -</a:t>
            </a:r>
            <a:r>
              <a:rPr dirty="0"/>
              <a:t> Here the payer skips</a:t>
            </a:r>
            <a:r>
              <a:rPr lang="en-US" dirty="0"/>
              <a:t> </a:t>
            </a:r>
            <a:r>
              <a:rPr dirty="0"/>
              <a:t>the gateway completely - payer token, FHIR hostname, no APIM anywhere in the path</a:t>
            </a:r>
            <a:r>
              <a:rPr lang="en-US" dirty="0"/>
              <a:t> and </a:t>
            </a:r>
            <a:r>
              <a:rPr dirty="0"/>
              <a:t>answer is 403, not 401.</a:t>
            </a:r>
          </a:p>
          <a:p>
            <a:r>
              <a:rPr dirty="0"/>
              <a:t>That distinction is the whole design. A 401 would mean 'we do not recognize you'. A 403</a:t>
            </a:r>
            <a:r>
              <a:rPr lang="en-US" dirty="0"/>
              <a:t> </a:t>
            </a:r>
            <a:r>
              <a:rPr dirty="0"/>
              <a:t>means Entra recognized them perfectly and they simply hold no permission. And no policy bug</a:t>
            </a:r>
          </a:p>
          <a:p>
            <a:r>
              <a:rPr dirty="0"/>
              <a:t>of mine can grant it, because there is no policy in that path at all.</a:t>
            </a:r>
          </a:p>
          <a:p>
            <a:endParaRPr dirty="0"/>
          </a:p>
          <a:p>
            <a:r>
              <a:rPr lang="en-US" dirty="0"/>
              <a:t>13b</a:t>
            </a:r>
            <a:r>
              <a:rPr dirty="0"/>
              <a:t>. Payer A holds two contracts. We do not check the status code, we read the body,</a:t>
            </a:r>
            <a:r>
              <a:rPr lang="en-US" dirty="0"/>
              <a:t> </a:t>
            </a:r>
            <a:r>
              <a:rPr dirty="0"/>
              <a:t>resource by </a:t>
            </a:r>
            <a:r>
              <a:rPr lang="en-US" dirty="0"/>
              <a:t>resource and</a:t>
            </a:r>
            <a:r>
              <a:rPr dirty="0"/>
              <a:t> assert that only CT-3456 came back. A 200 would have passed a</a:t>
            </a:r>
          </a:p>
          <a:p>
            <a:r>
              <a:rPr dirty="0"/>
              <a:t>status check and told us nothing</a:t>
            </a:r>
          </a:p>
          <a:p>
            <a:endParaRPr dirty="0"/>
          </a:p>
          <a:p>
            <a:r>
              <a:rPr lang="en-US" dirty="0"/>
              <a:t>We are now Learning that</a:t>
            </a:r>
            <a:r>
              <a:rPr dirty="0"/>
              <a:t> "Skipping the gateway does not skip the control. It removes the only means of</a:t>
            </a:r>
            <a:r>
              <a:rPr lang="en-US" dirty="0"/>
              <a:t> </a:t>
            </a:r>
            <a:r>
              <a:rPr dirty="0"/>
              <a:t>access."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lang="en-US" dirty="0"/>
              <a:t>This is the Contoso Health Plan outbound policy in depth - seven layers, all in one file.</a:t>
            </a:r>
          </a:p>
          <a:p>
            <a:endParaRPr lang="en-US"/>
          </a:p>
          <a:p>
            <a:r>
              <a:rPr lang="en-US" dirty="0"/>
              <a:t>L1 Authentication. Standard validate-jwt against Entra: signature, expiry, audience, issuer. Nothing exotic - it just proves the token is one of ours. Fails with 401.</a:t>
            </a:r>
          </a:p>
          <a:p>
            <a:endParaRPr lang="en-US"/>
          </a:p>
          <a:p>
            <a:r>
              <a:rPr lang="en-US" dirty="0"/>
              <a:t>L2 Entitlement. Takes the azp claim - the calling application's ID - and looks up which payer that application belongs to and which contracts it holds. The cross-payer guard lives here, and this is the layer that assertion four exercises. Fails with 403.</a:t>
            </a:r>
          </a:p>
          <a:p>
            <a:endParaRPr lang="en-US"/>
          </a:p>
          <a:p>
            <a:r>
              <a:rPr lang="en-US" dirty="0"/>
              <a:t>L3 Route allow-list. Classifies the operation and checks it against the allow-list. Outbound is read-only, full stop - any write verb is rejected.</a:t>
            </a:r>
          </a:p>
          <a:p>
            <a:endParaRPr lang="en-US"/>
          </a:p>
          <a:p>
            <a:r>
              <a:rPr lang="en-US" dirty="0"/>
              <a:t>L4a / 4b Contract boundary. Two halves of the same idea. 4a: a $export must name a Group that sits inside your own contract - system-level and patient-level exports are refused. 4b: on searches, the _tag parameter is overwritten with the caller's contracts, never merged with what they sent, so a caller can narrow their scope but never widen it.</a:t>
            </a:r>
          </a:p>
          <a:p>
            <a:endParaRPr lang="en-US"/>
          </a:p>
          <a:p>
            <a:r>
              <a:rPr lang="en-US" dirty="0"/>
              <a:t>L5 Rate limiting and export lock. 600 requests per minute, 50,000 per day, and one bulk export per payer per five minutes. Worth flagging the implementation detail: the export lock is a cache entry, not a second rate-limit policy. Two rate-limit policies in the same section do not both fire, and the failure is silent - that is real APIM behaviour and it cost me an afternoon.</a:t>
            </a:r>
          </a:p>
          <a:p>
            <a:endParaRPr lang="en-US"/>
          </a:p>
          <a:p>
            <a:r>
              <a:rPr lang="en-US" dirty="0"/>
              <a:t>L6 Trusted broker. This is the keystone. The gateway attaches its own managed identity token and discards the payer's entirely. Every call that reaches AHDS is made by the gateway, as the gateway. The payer's token got them through the front door and no further.</a:t>
            </a:r>
          </a:p>
          <a:p>
            <a:endParaRPr lang="en-US"/>
          </a:p>
          <a:p>
            <a:r>
              <a:rPr lang="en-US" dirty="0"/>
              <a:t>If asked why 401 at layer 1 but 403 at layer 2: 401 means we do not know who you are; 403 means we know exactly who you are and you may not do this. Getting that distinction right matters for the payer's own error handling.</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lang="en-US"/>
              <a:t>Tracing - show the UI, then follow the Word doc.</a:t>
            </a:r>
          </a:p>
          <a:p>
            <a:endParaRPr lang="en-US"/>
          </a:p>
          <a:p>
            <a:r>
              <a:rPr lang="en-US"/>
              <a:t>Tracing is a per-request replay. It records every policy the gateway ran on a single call - inbound, backend, outbound, on-error - with the variables set and the decision taken at each step. It is opt-in per request, not always-on logging, and the trace is kept only briefly.</a:t>
            </a:r>
          </a:p>
          <a:p>
            <a:endParaRPr lang="en-US"/>
          </a:p>
          <a:p>
            <a:r>
              <a:rPr lang="en-US"/>
              <a:t>Two ways in. The Test tab in the portal, which is what I am about to show. Or send the call yourself with an Ocp-Apim-Trace header and read the trace location off the response.</a:t>
            </a:r>
          </a:p>
          <a:p>
            <a:endParaRPr lang="en-US"/>
          </a:p>
          <a:p>
            <a:r>
              <a:rPr lang="en-US"/>
              <a:t>Live, two calls with the same token. I have minted one token for Fabrikam's application, audienced for Fabrikam's FHIR service.</a:t>
            </a:r>
          </a:p>
          <a:p>
            <a:endParaRPr lang="en-US"/>
          </a:p>
          <a:p>
            <a:r>
              <a:rPr lang="en-US"/>
              <a:t>First call, Fabrikam's own endpoint. 200. Open the trace and you can watch the backend section execute - the gateway brokered it and AHDS answered.</a:t>
            </a:r>
          </a:p>
          <a:p>
            <a:endParaRPr lang="en-US"/>
          </a:p>
          <a:p>
            <a:r>
              <a:rPr lang="en-US"/>
              <a:t>Second call, same token, Contoso's endpoint. 401. That trace is what is on the slide.</a:t>
            </a:r>
          </a:p>
          <a:p>
            <a:endParaRPr lang="en-US"/>
          </a:p>
          <a:p>
            <a:r>
              <a:rPr lang="en-US"/>
              <a:t>Read it. validate-jwt failed on the first check. The token is genuine and correctly signed, but its audience is Fabrikam's FHIR service and this API accepts only Contoso's. The call stopped at layer one and returned a FHIR OperationOutcome.</a:t>
            </a:r>
          </a:p>
          <a:p>
            <a:endParaRPr lang="en-US"/>
          </a:p>
          <a:p>
            <a:r>
              <a:rPr lang="en-US"/>
              <a:t>The last line is the one that matters. The backend section never executed. AHDS was never called. Contoso's FHIR service never saw the request at all.</a:t>
            </a:r>
          </a:p>
          <a:p>
            <a:endParaRPr lang="en-US"/>
          </a:p>
          <a:p>
            <a:r>
              <a:rPr lang="en-US"/>
              <a:t>Note how short that trace is. The call never reached the entitlement map or any of the layers behind it, because it never got past the front door. A caller that does clear the audience check - a real payer with a valid token for this endpoint - gets further, and then you see the entitlement lookup and the cross-payer guard make the next decision. That is assertion four in the test grid.</a:t>
            </a:r>
          </a:p>
          <a:p>
            <a:endParaRPr lang="en-US"/>
          </a:p>
          <a:p>
            <a:r>
              <a:rPr lang="en-US"/>
              <a:t>Why this matters day to day. A payer opens a ticket saying your API is broken. This tells you in seconds whether you refused them and at which layer. No verbose logging, and no asking them to reproduce it.</a:t>
            </a:r>
          </a:p>
          <a:p>
            <a:endParaRPr lang="en-US"/>
          </a:p>
          <a:p>
            <a:r>
              <a:rPr lang="en-US"/>
              <a:t>If asked about retention: traces are short-lived and only generated on request. For persistent evidence you want the gateway logs in Log Analytics - there is a KQL query for 403s by payer in the environment script.</a:t>
            </a:r>
          </a:p>
          <a:p>
            <a:endParaRPr lang="en-US"/>
          </a:p>
          <a:p>
            <a:r>
              <a:rPr lang="en-US"/>
              <a:t>And the durable half is the FHIR service's own audit log. APIM stamps the payer, the calling app id and the contract set onto every brokered call, and AHDS records them itself. So attribution holds even if you do not trust our gateway telemetry. show-audit-attribution.ps1 prints it, and a call that skipped the gateway comes back with no attribution at all - which is exactly what you want the audit log to say about it.</a:t>
            </a:r>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lang="en-US" dirty="0"/>
              <a:t>Top half is the payer. All three are SMART Backend Services - client credentials, no user present. Only the credential differs.</a:t>
            </a:r>
          </a:p>
          <a:p>
            <a:endParaRPr lang="en-US" dirty="0"/>
          </a:p>
          <a:p>
            <a:r>
              <a:rPr lang="en-US" dirty="0"/>
              <a:t>Secret: a shared password. It is what the POC uses, and I would not ship it. This tenant caps secrets at thirty days, which does not scale across forty payers.</a:t>
            </a:r>
          </a:p>
          <a:p>
            <a:r>
              <a:rPr lang="en-US" dirty="0"/>
              <a:t>Certificate: the payer signs an assertion with a private key. Nothing shared travels, but you still own a rotation process.</a:t>
            </a:r>
          </a:p>
          <a:p>
            <a:endParaRPr lang="en-US" dirty="0"/>
          </a:p>
          <a:p>
            <a:r>
              <a:rPr lang="en-US" dirty="0"/>
              <a:t>Federated identity credential: the payer's own identity provider issues the assertion and Entra trusts it. No secret, no certificate, nothing to rotate. This is preferred</a:t>
            </a:r>
          </a:p>
          <a:p>
            <a:endParaRPr lang="en-US" dirty="0"/>
          </a:p>
          <a:p>
            <a:r>
              <a:rPr lang="en-US" dirty="0"/>
              <a:t>Bottom half matters more, and these numbers are from the live environment this morning. Both payer applications hold zero Azure role assignments. The only identity with FHIR Data Contributor is the gateway's managed identity.</a:t>
            </a:r>
          </a:p>
          <a:p>
            <a:r>
              <a:rPr lang="en-US" dirty="0"/>
              <a:t>That is why assertion twelve returns a 403. There is nothing to take from those applications, because they were never given anything.</a:t>
            </a:r>
          </a:p>
          <a:p>
            <a:endParaRPr lang="en-US" dirty="0"/>
          </a:p>
          <a:p>
            <a:r>
              <a:rPr lang="en-US" dirty="0"/>
              <a:t>Expected question - "how do we rotate forty payer secrets?" You do not. You move to federated credentials and the payer manages it. That is decision three on the next slide.</a:t>
            </a:r>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lang="en-US"/>
              <a:t>Four decisions. I would like to leave with at least the first two.</a:t>
            </a:r>
          </a:p>
          <a:p>
            <a:endParaRPr lang="en-US"/>
          </a:p>
          <a:p>
            <a:r>
              <a:rPr lang="en-US"/>
              <a:t>One - confirm the separation model. Physical per payer, logical per contract, enforced at the gateway. Everything downstream assumes this. If it is wrong I would rather find out here than after we have built on it.</a:t>
            </a:r>
          </a:p>
          <a:p>
            <a:endParaRPr lang="en-US"/>
          </a:p>
          <a:p>
            <a:r>
              <a:rPr lang="en-US"/>
              <a:t>Two - inbound and outbound stay as separate APIs over one FHIR service per payer. The alternative is two FHIR services per payer, one to ingest and one to publish.</a:t>
            </a:r>
          </a:p>
          <a:p>
            <a:endParaRPr lang="en-US"/>
          </a:p>
          <a:p>
            <a:r>
              <a:rPr lang="en-US"/>
              <a:t>There is no hourly charge on a FHIR service at all - it bills on requests, stored data and export volume - so the same traffic costs the same either way. Our own two services billed zero last month. What doubles is storage - and the operational estate, (eighty instances instead of forty)</a:t>
            </a:r>
          </a:p>
          <a:p>
            <a:r>
              <a:rPr lang="en-US"/>
              <a:t>Price is not the argument. Two services means you copy every record from ingest to publish, and you own that pipeline, its lag and its reconciliation. One service means the write lands where the reads happen. The tradeoff is that the boundary is policy rather than a resource wall - which is what part five proved, and why the payer applications hold zero role assignments.</a:t>
            </a:r>
          </a:p>
          <a:p>
            <a:endParaRPr lang="en-US"/>
          </a:p>
          <a:p>
            <a:r>
              <a:rPr lang="en-US"/>
              <a:t>Three - the payer credential model. Long lead time, because it changes the paperwork you send a payer at onboarding. My recommendation is federated identity credentials. Starting with certificates is reasonable.</a:t>
            </a:r>
          </a:p>
          <a:p>
            <a:endParaRPr lang="en-US"/>
          </a:p>
          <a:p>
            <a:r>
              <a:rPr lang="en-US"/>
              <a:t>Four – Get the exact export volume numbers - payers, members per payer, schedule. The cost calculator can then help get the production costs going forward.</a:t>
            </a:r>
          </a:p>
          <a:p>
            <a:endParaRPr lang="en-US"/>
          </a:p>
          <a:p>
            <a:r>
              <a:rPr lang="en-US"/>
              <a:t>If they will not decide today: can we put an owner and a date on each instead.</a:t>
            </a:r>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Say: "Two things here. What tier, and the risk I cannot close on my own.</a:t>
            </a:r>
          </a:p>
          <a:p>
            <a:endParaRPr dirty="0"/>
          </a:p>
          <a:p>
            <a:r>
              <a:rPr dirty="0"/>
              <a:t>On tier - the POC runs on BasicV2 and I want to be clear that is not a production answer. It</a:t>
            </a:r>
          </a:p>
          <a:p>
            <a:r>
              <a:rPr dirty="0"/>
              <a:t>does not support VNet injection. It was the right call for proving </a:t>
            </a:r>
            <a:r>
              <a:rPr dirty="0" err="1"/>
              <a:t>behaviour</a:t>
            </a:r>
            <a:r>
              <a:rPr dirty="0"/>
              <a:t> quickly and the</a:t>
            </a:r>
          </a:p>
          <a:p>
            <a:r>
              <a:rPr dirty="0"/>
              <a:t>wrong call for PHI in production.</a:t>
            </a:r>
          </a:p>
          <a:p>
            <a:endParaRPr dirty="0"/>
          </a:p>
          <a:p>
            <a:r>
              <a:rPr dirty="0"/>
              <a:t>StandardV2 is probably your fit - VNet integration and </a:t>
            </a:r>
            <a:r>
              <a:rPr dirty="0" err="1"/>
              <a:t>autoscale</a:t>
            </a:r>
            <a:r>
              <a:rPr dirty="0"/>
              <a:t>. Premium if your security</a:t>
            </a:r>
          </a:p>
          <a:p>
            <a:r>
              <a:rPr dirty="0"/>
              <a:t>review insists on full VNet injection, multi-region or availability zones. That is a</a:t>
            </a:r>
          </a:p>
          <a:p>
            <a:r>
              <a:rPr dirty="0"/>
              <a:t>conversation with your security architects, not a technical blocker either way. The policies</a:t>
            </a:r>
          </a:p>
          <a:p>
            <a:r>
              <a:rPr dirty="0"/>
              <a:t>are identical across all three - nothing I have shown you today changes.</a:t>
            </a:r>
          </a:p>
          <a:p>
            <a:endParaRPr dirty="0"/>
          </a:p>
          <a:p>
            <a:r>
              <a:rPr dirty="0"/>
              <a:t>Now the amber box, and this is the most important slide in part seven."</a:t>
            </a:r>
          </a:p>
          <a:p>
            <a:endParaRPr dirty="0"/>
          </a:p>
          <a:p>
            <a:r>
              <a:rPr dirty="0"/>
              <a:t>Read the quote. Then:</a:t>
            </a:r>
          </a:p>
          <a:p>
            <a:endParaRPr dirty="0"/>
          </a:p>
          <a:p>
            <a:r>
              <a:rPr dirty="0"/>
              <a:t>"This is the failure mode this design has not been sized against. Forty payers all exporting</a:t>
            </a:r>
          </a:p>
          <a:p>
            <a:r>
              <a:rPr dirty="0"/>
              <a:t>on the same overnight schedule. The gateway holds one export per payer per five minutes,</a:t>
            </a:r>
          </a:p>
          <a:p>
            <a:r>
              <a:rPr dirty="0"/>
              <a:t>which turns a stampede into a queue - that is assertion fifteen, the 429. But I picked five</a:t>
            </a:r>
          </a:p>
          <a:p>
            <a:r>
              <a:rPr dirty="0"/>
              <a:t>minutes as a reasonable-sounding number, not as the output of a capacity model.</a:t>
            </a:r>
          </a:p>
          <a:p>
            <a:endParaRPr dirty="0"/>
          </a:p>
          <a:p>
            <a:r>
              <a:rPr dirty="0"/>
              <a:t>To size it properly I need three numbers from you: how many payers, how many members each,</a:t>
            </a:r>
          </a:p>
          <a:p>
            <a:r>
              <a:rPr dirty="0"/>
              <a:t>and on what schedule they export. Give me those and I will come back with a sized design</a:t>
            </a:r>
          </a:p>
          <a:p>
            <a:r>
              <a:rPr dirty="0"/>
              <a:t>and a cost. Without them, anything I tell you about capacity is a guess with a confident</a:t>
            </a:r>
          </a:p>
          <a:p>
            <a:r>
              <a:rPr dirty="0"/>
              <a:t>tone."</a:t>
            </a:r>
          </a:p>
          <a:p>
            <a:endParaRPr dirty="0"/>
          </a:p>
          <a:p>
            <a:r>
              <a:rPr dirty="0"/>
              <a:t>That honesty plays well. Do not oversell here.</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lang="en-US"/>
              <a:t>Close here. Keep it short - people are ready to leave.</a:t>
            </a:r>
          </a:p>
          <a:p>
            <a:endParaRPr lang="en-US"/>
          </a:p>
          <a:p>
            <a:r>
              <a:rPr lang="en-US"/>
              <a:t>Say: "Four actions, two on each side.</a:t>
            </a:r>
          </a:p>
          <a:p>
            <a:endParaRPr lang="en-US"/>
          </a:p>
          <a:p>
            <a:r>
              <a:rPr lang="en-US"/>
              <a:t>You owe me export volumes and a security review. I owe you a sized production design once</a:t>
            </a:r>
          </a:p>
          <a:p>
            <a:r>
              <a:rPr lang="en-US"/>
              <a:t>those volumes land, and an onboarding guide for federated credentials.</a:t>
            </a:r>
          </a:p>
          <a:p>
            <a:endParaRPr lang="en-US"/>
          </a:p>
          <a:p>
            <a:r>
              <a:rPr lang="en-US"/>
              <a:t>The environment stays up. The resource group, the policies, the Bicep and the test suite are</a:t>
            </a:r>
          </a:p>
          <a:p>
            <a:r>
              <a:rPr lang="en-US"/>
              <a:t>all in the handover folder. Run the suite yourself. Change a policy and watch a test go red -</a:t>
            </a:r>
          </a:p>
          <a:p>
            <a:r>
              <a:rPr lang="en-US"/>
              <a:t>that is genuinely the fastest way to understand what the gateway is doing.</a:t>
            </a:r>
          </a:p>
          <a:p>
            <a:endParaRPr lang="en-US"/>
          </a:p>
          <a:p>
            <a:r>
              <a:rPr lang="en-US"/>
              <a:t>The fifth item is new since we built this. APIM now stamps the payer, the app id and the contract set onto every brokered call, and the FHIR service records them in its own audit log - not ours. So attribution holds even if you do not trust our gateway telemetry, and a call that skipped the gateway has no attribution at all. show-audit-attribution.ps1 prints it.</a:t>
            </a:r>
          </a:p>
          <a:p>
            <a:endParaRPr lang="en-US"/>
          </a:p>
          <a:p>
            <a:r>
              <a:rPr lang="en-US"/>
              <a:t>And the last line is a real invitation, not a rhetorical one. The strongest thing you can do</a:t>
            </a:r>
          </a:p>
          <a:p>
            <a:r>
              <a:rPr lang="en-US"/>
              <a:t>with this is try to break it. If anyone here can get one payer's data out of the other's</a:t>
            </a:r>
          </a:p>
          <a:p>
            <a:r>
              <a:rPr lang="en-US"/>
              <a:t>endpoint, I want to hear about it before your security review does."</a:t>
            </a:r>
          </a:p>
          <a:p>
            <a:endParaRPr lang="en-US"/>
          </a:p>
          <a:p>
            <a:r>
              <a:rPr lang="en-US"/>
              <a:t>Then: "What did I miss?" And stop.</a:t>
            </a:r>
            <a:endParaRP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68680" y="1975104"/>
            <a:ext cx="10424160" cy="1289969"/>
          </a:xfrm>
          <a:prstGeom prst="rect">
            <a:avLst/>
          </a:prstGeom>
          <a:noFill/>
        </p:spPr>
        <p:txBody>
          <a:bodyPr wrap="square" lIns="0" tIns="0" rIns="0" bIns="0" anchor="t">
            <a:spAutoFit/>
          </a:bodyPr>
          <a:lstStyle/>
          <a:p>
            <a:pPr algn="l">
              <a:lnSpc>
                <a:spcPct val="106000"/>
              </a:lnSpc>
            </a:pPr>
            <a:r>
              <a:rPr sz="4100" b="1" i="0" dirty="0">
                <a:solidFill>
                  <a:srgbClr val="FFFFFF"/>
                </a:solidFill>
                <a:latin typeface="Cambria"/>
              </a:rPr>
              <a:t>Azure API Management </a:t>
            </a:r>
            <a:r>
              <a:rPr lang="en-US" sz="4100" b="1" i="0" dirty="0">
                <a:solidFill>
                  <a:srgbClr val="FFFFFF"/>
                </a:solidFill>
                <a:latin typeface="Cambria"/>
              </a:rPr>
              <a:t>on</a:t>
            </a:r>
            <a:r>
              <a:rPr sz="4100" b="1" i="0" dirty="0">
                <a:solidFill>
                  <a:srgbClr val="FFFFFF"/>
                </a:solidFill>
                <a:latin typeface="Cambria"/>
              </a:rPr>
              <a:t>
Azure Health Data Services</a:t>
            </a:r>
          </a:p>
        </p:txBody>
      </p:sp>
      <p:sp>
        <p:nvSpPr>
          <p:cNvPr id="5" name="Rectangle 4"/>
          <p:cNvSpPr/>
          <p:nvPr/>
        </p:nvSpPr>
        <p:spPr>
          <a:xfrm>
            <a:off x="868680" y="3529584"/>
            <a:ext cx="1828800" cy="27432"/>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ectangle 7"/>
          <p:cNvSpPr/>
          <p:nvPr/>
        </p:nvSpPr>
        <p:spPr>
          <a:xfrm>
            <a:off x="566928" y="6345936"/>
            <a:ext cx="11064240" cy="12801"/>
          </a:xfrm>
          <a:prstGeom prst="rect">
            <a:avLst/>
          </a:prstGeom>
          <a:solidFill>
            <a:srgbClr val="2C50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10058400" y="6428232"/>
            <a:ext cx="1572768" cy="219456"/>
          </a:xfrm>
          <a:prstGeom prst="rect">
            <a:avLst/>
          </a:prstGeom>
          <a:noFill/>
        </p:spPr>
        <p:txBody>
          <a:bodyPr wrap="square" lIns="0" tIns="0" rIns="0" bIns="0" anchor="t">
            <a:spAutoFit/>
          </a:bodyPr>
          <a:lstStyle/>
          <a:p>
            <a:pPr algn="r">
              <a:lnSpc>
                <a:spcPct val="100000"/>
              </a:lnSpc>
            </a:pPr>
            <a:r>
              <a:rPr sz="900" b="0" i="0">
                <a:solidFill>
                  <a:srgbClr val="7F9AB5"/>
                </a:solidFill>
                <a:latin typeface="Calibri"/>
              </a:rPr>
              <a:t>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8FA"/>
        </a:solidFill>
        <a:effectLst/>
      </p:bgPr>
    </p:bg>
    <p:spTree>
      <p:nvGrpSpPr>
        <p:cNvPr id="1" name=""/>
        <p:cNvGrpSpPr/>
        <p:nvPr/>
      </p:nvGrpSpPr>
      <p:grpSpPr>
        <a:xfrm>
          <a:off x="0" y="0"/>
          <a:ext cx="0" cy="0"/>
          <a:chOff x="0" y="0"/>
          <a:chExt cx="0" cy="0"/>
        </a:xfrm>
      </p:grpSpPr>
      <p:sp>
        <p:nvSpPr>
          <p:cNvPr id="2" name="Rectangle 1"/>
          <p:cNvSpPr/>
          <p:nvPr/>
        </p:nvSpPr>
        <p:spPr>
          <a:xfrm>
            <a:off x="566928" y="420624"/>
            <a:ext cx="68580" cy="65836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701040" y="491767"/>
            <a:ext cx="10789920" cy="415498"/>
          </a:xfrm>
          <a:prstGeom prst="rect">
            <a:avLst/>
          </a:prstGeom>
          <a:noFill/>
        </p:spPr>
        <p:txBody>
          <a:bodyPr wrap="square" lIns="0" tIns="0" rIns="0" bIns="0" anchor="t">
            <a:spAutoFit/>
          </a:bodyPr>
          <a:lstStyle/>
          <a:p>
            <a:pPr algn="l">
              <a:lnSpc>
                <a:spcPct val="100000"/>
              </a:lnSpc>
            </a:pPr>
            <a:r>
              <a:rPr lang="en-US" sz="2700" b="1" i="0" dirty="0">
                <a:solidFill>
                  <a:srgbClr val="12283D"/>
                </a:solidFill>
                <a:latin typeface="Cambria"/>
              </a:rPr>
              <a:t>AGENDA</a:t>
            </a:r>
            <a:endParaRPr sz="2700" b="1" i="0" dirty="0">
              <a:solidFill>
                <a:srgbClr val="12283D"/>
              </a:solidFill>
              <a:latin typeface="Cambria"/>
            </a:endParaRPr>
          </a:p>
        </p:txBody>
      </p:sp>
      <p:sp>
        <p:nvSpPr>
          <p:cNvPr id="5" name="Rectangle 4"/>
          <p:cNvSpPr/>
          <p:nvPr/>
        </p:nvSpPr>
        <p:spPr>
          <a:xfrm>
            <a:off x="566928" y="6345936"/>
            <a:ext cx="11064240" cy="12801"/>
          </a:xfrm>
          <a:prstGeom prst="rect">
            <a:avLst/>
          </a:prstGeom>
          <a:solidFill>
            <a:srgbClr val="D8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0058400" y="6428232"/>
            <a:ext cx="1572768" cy="219456"/>
          </a:xfrm>
          <a:prstGeom prst="rect">
            <a:avLst/>
          </a:prstGeom>
          <a:noFill/>
        </p:spPr>
        <p:txBody>
          <a:bodyPr wrap="square" lIns="0" tIns="0" rIns="0" bIns="0" anchor="t">
            <a:spAutoFit/>
          </a:bodyPr>
          <a:lstStyle/>
          <a:p>
            <a:pPr algn="r">
              <a:lnSpc>
                <a:spcPct val="100000"/>
              </a:lnSpc>
            </a:pPr>
            <a:r>
              <a:rPr sz="900" b="0" i="0">
                <a:solidFill>
                  <a:srgbClr val="5A6B7B"/>
                </a:solidFill>
                <a:latin typeface="Calibri"/>
              </a:rPr>
              <a:t>02</a:t>
            </a:r>
          </a:p>
        </p:txBody>
      </p:sp>
      <p:sp>
        <p:nvSpPr>
          <p:cNvPr id="8" name="Rounded Rectangle 7"/>
          <p:cNvSpPr/>
          <p:nvPr/>
        </p:nvSpPr>
        <p:spPr>
          <a:xfrm>
            <a:off x="566928" y="1481328"/>
            <a:ext cx="11064240" cy="548640"/>
          </a:xfrm>
          <a:prstGeom prst="roundRect">
            <a:avLst>
              <a:gd name="adj" fmla="val 6000"/>
            </a:avLst>
          </a:prstGeom>
          <a:solidFill>
            <a:srgbClr val="FFFFFF"/>
          </a:solidFill>
          <a:ln w="9525">
            <a:solidFill>
              <a:srgbClr val="D8E2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749808" y="1609344"/>
            <a:ext cx="292608" cy="292608"/>
          </a:xfrm>
          <a:prstGeom prst="ellipse">
            <a:avLst/>
          </a:prstGeom>
          <a:solidFill>
            <a:srgbClr val="B9C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49808" y="1650492"/>
            <a:ext cx="292608" cy="228600"/>
          </a:xfrm>
          <a:prstGeom prst="rect">
            <a:avLst/>
          </a:prstGeom>
          <a:noFill/>
        </p:spPr>
        <p:txBody>
          <a:bodyPr wrap="square" lIns="0" tIns="0" rIns="0" bIns="0" anchor="t">
            <a:spAutoFit/>
          </a:bodyPr>
          <a:lstStyle/>
          <a:p>
            <a:pPr algn="ctr">
              <a:lnSpc>
                <a:spcPct val="100000"/>
              </a:lnSpc>
            </a:pPr>
            <a:r>
              <a:rPr sz="1100" b="1" i="0">
                <a:solidFill>
                  <a:srgbClr val="FFFFFF"/>
                </a:solidFill>
                <a:latin typeface="Calibri"/>
              </a:rPr>
              <a:t>1</a:t>
            </a:r>
          </a:p>
        </p:txBody>
      </p:sp>
      <p:sp>
        <p:nvSpPr>
          <p:cNvPr id="11" name="TextBox 10"/>
          <p:cNvSpPr txBox="1"/>
          <p:nvPr/>
        </p:nvSpPr>
        <p:spPr>
          <a:xfrm>
            <a:off x="1207008" y="1581912"/>
            <a:ext cx="4206240" cy="256032"/>
          </a:xfrm>
          <a:prstGeom prst="rect">
            <a:avLst/>
          </a:prstGeom>
          <a:noFill/>
        </p:spPr>
        <p:txBody>
          <a:bodyPr wrap="square" lIns="0" tIns="0" rIns="0" bIns="0" anchor="t">
            <a:spAutoFit/>
          </a:bodyPr>
          <a:lstStyle/>
          <a:p>
            <a:pPr algn="l">
              <a:lnSpc>
                <a:spcPct val="100000"/>
              </a:lnSpc>
            </a:pPr>
            <a:r>
              <a:rPr sz="1400" b="1" i="0">
                <a:solidFill>
                  <a:srgbClr val="12283D"/>
                </a:solidFill>
                <a:latin typeface="Calibri"/>
              </a:rPr>
              <a:t>Objectives and scope</a:t>
            </a:r>
          </a:p>
        </p:txBody>
      </p:sp>
      <p:sp>
        <p:nvSpPr>
          <p:cNvPr id="12" name="TextBox 11"/>
          <p:cNvSpPr txBox="1"/>
          <p:nvPr/>
        </p:nvSpPr>
        <p:spPr>
          <a:xfrm>
            <a:off x="1207008" y="1792224"/>
            <a:ext cx="7863840" cy="219456"/>
          </a:xfrm>
          <a:prstGeom prst="rect">
            <a:avLst/>
          </a:prstGeom>
          <a:noFill/>
        </p:spPr>
        <p:txBody>
          <a:bodyPr wrap="square" lIns="0" tIns="0" rIns="0" bIns="0" anchor="t">
            <a:spAutoFit/>
          </a:bodyPr>
          <a:lstStyle/>
          <a:p>
            <a:pPr algn="l">
              <a:lnSpc>
                <a:spcPct val="100000"/>
              </a:lnSpc>
            </a:pPr>
            <a:r>
              <a:rPr sz="1100" b="0" i="0">
                <a:solidFill>
                  <a:srgbClr val="5A6B7B"/>
                </a:solidFill>
                <a:latin typeface="Calibri"/>
              </a:rPr>
              <a:t>What we are answering today, and what we are not</a:t>
            </a:r>
          </a:p>
        </p:txBody>
      </p:sp>
      <p:sp>
        <p:nvSpPr>
          <p:cNvPr id="14" name="Rounded Rectangle 13"/>
          <p:cNvSpPr/>
          <p:nvPr/>
        </p:nvSpPr>
        <p:spPr>
          <a:xfrm>
            <a:off x="566928" y="2089404"/>
            <a:ext cx="11064240" cy="548640"/>
          </a:xfrm>
          <a:prstGeom prst="roundRect">
            <a:avLst>
              <a:gd name="adj" fmla="val 6000"/>
            </a:avLst>
          </a:prstGeom>
          <a:solidFill>
            <a:srgbClr val="FFFFFF"/>
          </a:solidFill>
          <a:ln w="9525">
            <a:solidFill>
              <a:srgbClr val="D8E2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749808" y="2217420"/>
            <a:ext cx="292608" cy="292608"/>
          </a:xfrm>
          <a:prstGeom prst="ellipse">
            <a:avLst/>
          </a:prstGeom>
          <a:solidFill>
            <a:srgbClr val="B9C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749808" y="2258568"/>
            <a:ext cx="292608" cy="228600"/>
          </a:xfrm>
          <a:prstGeom prst="rect">
            <a:avLst/>
          </a:prstGeom>
          <a:noFill/>
        </p:spPr>
        <p:txBody>
          <a:bodyPr wrap="square" lIns="0" tIns="0" rIns="0" bIns="0" anchor="t">
            <a:spAutoFit/>
          </a:bodyPr>
          <a:lstStyle/>
          <a:p>
            <a:pPr algn="ctr">
              <a:lnSpc>
                <a:spcPct val="100000"/>
              </a:lnSpc>
            </a:pPr>
            <a:r>
              <a:rPr sz="1100" b="1" i="0">
                <a:solidFill>
                  <a:srgbClr val="FFFFFF"/>
                </a:solidFill>
                <a:latin typeface="Calibri"/>
              </a:rPr>
              <a:t>2</a:t>
            </a:r>
          </a:p>
        </p:txBody>
      </p:sp>
      <p:sp>
        <p:nvSpPr>
          <p:cNvPr id="17" name="TextBox 16"/>
          <p:cNvSpPr txBox="1"/>
          <p:nvPr/>
        </p:nvSpPr>
        <p:spPr>
          <a:xfrm>
            <a:off x="1207008" y="2189988"/>
            <a:ext cx="4206240" cy="256032"/>
          </a:xfrm>
          <a:prstGeom prst="rect">
            <a:avLst/>
          </a:prstGeom>
          <a:noFill/>
        </p:spPr>
        <p:txBody>
          <a:bodyPr wrap="square" lIns="0" tIns="0" rIns="0" bIns="0" anchor="t">
            <a:spAutoFit/>
          </a:bodyPr>
          <a:lstStyle/>
          <a:p>
            <a:pPr algn="l">
              <a:lnSpc>
                <a:spcPct val="100000"/>
              </a:lnSpc>
            </a:pPr>
            <a:r>
              <a:rPr sz="1400" b="1" i="0">
                <a:solidFill>
                  <a:srgbClr val="12283D"/>
                </a:solidFill>
                <a:latin typeface="Calibri"/>
              </a:rPr>
              <a:t>Overview of APIM</a:t>
            </a:r>
          </a:p>
        </p:txBody>
      </p:sp>
      <p:sp>
        <p:nvSpPr>
          <p:cNvPr id="18" name="TextBox 17"/>
          <p:cNvSpPr txBox="1"/>
          <p:nvPr/>
        </p:nvSpPr>
        <p:spPr>
          <a:xfrm>
            <a:off x="1207008" y="2400300"/>
            <a:ext cx="7863840" cy="219456"/>
          </a:xfrm>
          <a:prstGeom prst="rect">
            <a:avLst/>
          </a:prstGeom>
          <a:noFill/>
        </p:spPr>
        <p:txBody>
          <a:bodyPr wrap="square" lIns="0" tIns="0" rIns="0" bIns="0" anchor="t">
            <a:spAutoFit/>
          </a:bodyPr>
          <a:lstStyle/>
          <a:p>
            <a:pPr algn="l">
              <a:lnSpc>
                <a:spcPct val="100000"/>
              </a:lnSpc>
            </a:pPr>
            <a:r>
              <a:rPr sz="1100" b="0" i="0">
                <a:solidFill>
                  <a:srgbClr val="5A6B7B"/>
                </a:solidFill>
                <a:latin typeface="Calibri"/>
              </a:rPr>
              <a:t>What the product is, for those who have not used it</a:t>
            </a:r>
          </a:p>
        </p:txBody>
      </p:sp>
      <p:sp>
        <p:nvSpPr>
          <p:cNvPr id="20" name="Rounded Rectangle 19"/>
          <p:cNvSpPr/>
          <p:nvPr/>
        </p:nvSpPr>
        <p:spPr>
          <a:xfrm>
            <a:off x="566928" y="2697480"/>
            <a:ext cx="11064240" cy="548640"/>
          </a:xfrm>
          <a:prstGeom prst="roundRect">
            <a:avLst>
              <a:gd name="adj" fmla="val 6000"/>
            </a:avLst>
          </a:prstGeom>
          <a:solidFill>
            <a:srgbClr val="FFFFFF"/>
          </a:solidFill>
          <a:ln w="9525">
            <a:solidFill>
              <a:srgbClr val="D8E2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Oval 20"/>
          <p:cNvSpPr/>
          <p:nvPr/>
        </p:nvSpPr>
        <p:spPr>
          <a:xfrm>
            <a:off x="749808" y="2825496"/>
            <a:ext cx="292608" cy="292608"/>
          </a:xfrm>
          <a:prstGeom prst="ellipse">
            <a:avLst/>
          </a:prstGeom>
          <a:solidFill>
            <a:srgbClr val="B9C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49808" y="2866644"/>
            <a:ext cx="292608" cy="228600"/>
          </a:xfrm>
          <a:prstGeom prst="rect">
            <a:avLst/>
          </a:prstGeom>
          <a:noFill/>
        </p:spPr>
        <p:txBody>
          <a:bodyPr wrap="square" lIns="0" tIns="0" rIns="0" bIns="0" anchor="t">
            <a:spAutoFit/>
          </a:bodyPr>
          <a:lstStyle/>
          <a:p>
            <a:pPr algn="ctr">
              <a:lnSpc>
                <a:spcPct val="100000"/>
              </a:lnSpc>
            </a:pPr>
            <a:r>
              <a:rPr sz="1100" b="1" i="0">
                <a:solidFill>
                  <a:srgbClr val="FFFFFF"/>
                </a:solidFill>
                <a:latin typeface="Calibri"/>
              </a:rPr>
              <a:t>3</a:t>
            </a:r>
          </a:p>
        </p:txBody>
      </p:sp>
      <p:sp>
        <p:nvSpPr>
          <p:cNvPr id="23" name="TextBox 22"/>
          <p:cNvSpPr txBox="1"/>
          <p:nvPr/>
        </p:nvSpPr>
        <p:spPr>
          <a:xfrm>
            <a:off x="1207008" y="2798064"/>
            <a:ext cx="4206240" cy="256032"/>
          </a:xfrm>
          <a:prstGeom prst="rect">
            <a:avLst/>
          </a:prstGeom>
          <a:noFill/>
        </p:spPr>
        <p:txBody>
          <a:bodyPr wrap="square" lIns="0" tIns="0" rIns="0" bIns="0" anchor="t">
            <a:spAutoFit/>
          </a:bodyPr>
          <a:lstStyle/>
          <a:p>
            <a:pPr algn="l">
              <a:lnSpc>
                <a:spcPct val="100000"/>
              </a:lnSpc>
            </a:pPr>
            <a:r>
              <a:rPr sz="1400" b="1" i="0">
                <a:solidFill>
                  <a:srgbClr val="12283D"/>
                </a:solidFill>
                <a:latin typeface="Calibri"/>
              </a:rPr>
              <a:t>APIM in the CMS architecture</a:t>
            </a:r>
          </a:p>
        </p:txBody>
      </p:sp>
      <p:sp>
        <p:nvSpPr>
          <p:cNvPr id="24" name="TextBox 23"/>
          <p:cNvSpPr txBox="1"/>
          <p:nvPr/>
        </p:nvSpPr>
        <p:spPr>
          <a:xfrm>
            <a:off x="1207008" y="3008376"/>
            <a:ext cx="7863840" cy="219456"/>
          </a:xfrm>
          <a:prstGeom prst="rect">
            <a:avLst/>
          </a:prstGeom>
          <a:noFill/>
        </p:spPr>
        <p:txBody>
          <a:bodyPr wrap="square" lIns="0" tIns="0" rIns="0" bIns="0" anchor="t">
            <a:spAutoFit/>
          </a:bodyPr>
          <a:lstStyle/>
          <a:p>
            <a:pPr algn="l">
              <a:lnSpc>
                <a:spcPct val="100000"/>
              </a:lnSpc>
            </a:pPr>
            <a:r>
              <a:rPr sz="1100" b="0" i="0">
                <a:solidFill>
                  <a:srgbClr val="5A6B7B"/>
                </a:solidFill>
                <a:latin typeface="Calibri"/>
              </a:rPr>
              <a:t>Where it sits, and what it is responsible for</a:t>
            </a:r>
          </a:p>
        </p:txBody>
      </p:sp>
      <p:sp>
        <p:nvSpPr>
          <p:cNvPr id="26" name="Rounded Rectangle 25"/>
          <p:cNvSpPr/>
          <p:nvPr/>
        </p:nvSpPr>
        <p:spPr>
          <a:xfrm>
            <a:off x="566928" y="3305556"/>
            <a:ext cx="11064240" cy="548640"/>
          </a:xfrm>
          <a:prstGeom prst="roundRect">
            <a:avLst>
              <a:gd name="adj" fmla="val 6000"/>
            </a:avLst>
          </a:prstGeom>
          <a:solidFill>
            <a:srgbClr val="ECF4F8"/>
          </a:solidFill>
          <a:ln w="9525">
            <a:solidFill>
              <a:srgbClr val="4FA6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Oval 26"/>
          <p:cNvSpPr/>
          <p:nvPr/>
        </p:nvSpPr>
        <p:spPr>
          <a:xfrm>
            <a:off x="749808" y="3433572"/>
            <a:ext cx="292608" cy="29260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749808" y="3474720"/>
            <a:ext cx="292608" cy="228600"/>
          </a:xfrm>
          <a:prstGeom prst="rect">
            <a:avLst/>
          </a:prstGeom>
          <a:noFill/>
        </p:spPr>
        <p:txBody>
          <a:bodyPr wrap="square" lIns="0" tIns="0" rIns="0" bIns="0" anchor="t">
            <a:spAutoFit/>
          </a:bodyPr>
          <a:lstStyle/>
          <a:p>
            <a:pPr algn="ctr">
              <a:lnSpc>
                <a:spcPct val="100000"/>
              </a:lnSpc>
            </a:pPr>
            <a:r>
              <a:rPr sz="1100" b="1" i="0">
                <a:solidFill>
                  <a:srgbClr val="FFFFFF"/>
                </a:solidFill>
                <a:latin typeface="Calibri"/>
              </a:rPr>
              <a:t>4</a:t>
            </a:r>
          </a:p>
        </p:txBody>
      </p:sp>
      <p:sp>
        <p:nvSpPr>
          <p:cNvPr id="29" name="TextBox 28"/>
          <p:cNvSpPr txBox="1"/>
          <p:nvPr/>
        </p:nvSpPr>
        <p:spPr>
          <a:xfrm>
            <a:off x="1207008" y="3406140"/>
            <a:ext cx="4206240" cy="256032"/>
          </a:xfrm>
          <a:prstGeom prst="rect">
            <a:avLst/>
          </a:prstGeom>
          <a:noFill/>
        </p:spPr>
        <p:txBody>
          <a:bodyPr wrap="square" lIns="0" tIns="0" rIns="0" bIns="0" anchor="t">
            <a:spAutoFit/>
          </a:bodyPr>
          <a:lstStyle/>
          <a:p>
            <a:pPr algn="l">
              <a:lnSpc>
                <a:spcPct val="100000"/>
              </a:lnSpc>
            </a:pPr>
            <a:r>
              <a:rPr sz="1400" b="1" i="0">
                <a:solidFill>
                  <a:srgbClr val="12283D"/>
                </a:solidFill>
                <a:latin typeface="Calibri"/>
              </a:rPr>
              <a:t>Inbound vs outbound partitioning</a:t>
            </a:r>
          </a:p>
        </p:txBody>
      </p:sp>
      <p:sp>
        <p:nvSpPr>
          <p:cNvPr id="30" name="TextBox 29"/>
          <p:cNvSpPr txBox="1"/>
          <p:nvPr/>
        </p:nvSpPr>
        <p:spPr>
          <a:xfrm>
            <a:off x="1207008" y="3616452"/>
            <a:ext cx="7863840" cy="169277"/>
          </a:xfrm>
          <a:prstGeom prst="rect">
            <a:avLst/>
          </a:prstGeom>
          <a:noFill/>
        </p:spPr>
        <p:txBody>
          <a:bodyPr wrap="square" lIns="0" tIns="0" rIns="0" bIns="0" anchor="t">
            <a:spAutoFit/>
          </a:bodyPr>
          <a:lstStyle/>
          <a:p>
            <a:pPr algn="l">
              <a:lnSpc>
                <a:spcPct val="100000"/>
              </a:lnSpc>
            </a:pPr>
            <a:r>
              <a:rPr sz="1100" b="0" i="0" dirty="0">
                <a:solidFill>
                  <a:srgbClr val="5A6B7B"/>
                </a:solidFill>
                <a:latin typeface="Calibri"/>
              </a:rPr>
              <a:t>The model, and </a:t>
            </a:r>
            <a:r>
              <a:rPr lang="en-US" sz="1100" b="0" i="0" dirty="0">
                <a:solidFill>
                  <a:srgbClr val="5A6B7B"/>
                </a:solidFill>
                <a:latin typeface="Calibri"/>
              </a:rPr>
              <a:t>how </a:t>
            </a:r>
            <a:r>
              <a:rPr sz="1100" b="0" i="0" dirty="0">
                <a:solidFill>
                  <a:srgbClr val="5A6B7B"/>
                </a:solidFill>
                <a:latin typeface="Calibri"/>
              </a:rPr>
              <a:t>one FHIR service can serve both</a:t>
            </a:r>
          </a:p>
        </p:txBody>
      </p:sp>
      <p:sp>
        <p:nvSpPr>
          <p:cNvPr id="32" name="Rounded Rectangle 31"/>
          <p:cNvSpPr/>
          <p:nvPr/>
        </p:nvSpPr>
        <p:spPr>
          <a:xfrm>
            <a:off x="566928" y="3913632"/>
            <a:ext cx="11064240" cy="548640"/>
          </a:xfrm>
          <a:prstGeom prst="roundRect">
            <a:avLst>
              <a:gd name="adj" fmla="val 6000"/>
            </a:avLst>
          </a:prstGeom>
          <a:solidFill>
            <a:srgbClr val="ECF4F8"/>
          </a:solidFill>
          <a:ln w="9525">
            <a:solidFill>
              <a:srgbClr val="4FA6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Oval 32"/>
          <p:cNvSpPr/>
          <p:nvPr/>
        </p:nvSpPr>
        <p:spPr>
          <a:xfrm>
            <a:off x="749808" y="4041648"/>
            <a:ext cx="292608" cy="29260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749808" y="4082796"/>
            <a:ext cx="292608" cy="228600"/>
          </a:xfrm>
          <a:prstGeom prst="rect">
            <a:avLst/>
          </a:prstGeom>
          <a:noFill/>
        </p:spPr>
        <p:txBody>
          <a:bodyPr wrap="square" lIns="0" tIns="0" rIns="0" bIns="0" anchor="t">
            <a:spAutoFit/>
          </a:bodyPr>
          <a:lstStyle/>
          <a:p>
            <a:pPr algn="ctr">
              <a:lnSpc>
                <a:spcPct val="100000"/>
              </a:lnSpc>
            </a:pPr>
            <a:r>
              <a:rPr sz="1100" b="1" i="0">
                <a:solidFill>
                  <a:srgbClr val="FFFFFF"/>
                </a:solidFill>
                <a:latin typeface="Calibri"/>
              </a:rPr>
              <a:t>5</a:t>
            </a:r>
          </a:p>
        </p:txBody>
      </p:sp>
      <p:sp>
        <p:nvSpPr>
          <p:cNvPr id="35" name="TextBox 34"/>
          <p:cNvSpPr txBox="1"/>
          <p:nvPr/>
        </p:nvSpPr>
        <p:spPr>
          <a:xfrm>
            <a:off x="1207008" y="4014216"/>
            <a:ext cx="4206240" cy="256032"/>
          </a:xfrm>
          <a:prstGeom prst="rect">
            <a:avLst/>
          </a:prstGeom>
          <a:noFill/>
        </p:spPr>
        <p:txBody>
          <a:bodyPr wrap="square" lIns="0" tIns="0" rIns="0" bIns="0" anchor="t">
            <a:spAutoFit/>
          </a:bodyPr>
          <a:lstStyle/>
          <a:p>
            <a:pPr algn="l">
              <a:lnSpc>
                <a:spcPct val="100000"/>
              </a:lnSpc>
            </a:pPr>
            <a:r>
              <a:rPr sz="1400" b="1" i="0">
                <a:solidFill>
                  <a:srgbClr val="12283D"/>
                </a:solidFill>
                <a:latin typeface="Calibri"/>
              </a:rPr>
              <a:t>Gateway isolation with tests</a:t>
            </a:r>
          </a:p>
        </p:txBody>
      </p:sp>
      <p:sp>
        <p:nvSpPr>
          <p:cNvPr id="36" name="TextBox 35"/>
          <p:cNvSpPr txBox="1"/>
          <p:nvPr/>
        </p:nvSpPr>
        <p:spPr>
          <a:xfrm>
            <a:off x="1207008" y="4224528"/>
            <a:ext cx="7863840" cy="169277"/>
          </a:xfrm>
          <a:prstGeom prst="rect">
            <a:avLst/>
          </a:prstGeom>
          <a:noFill/>
        </p:spPr>
        <p:txBody>
          <a:bodyPr wrap="square" lIns="0" tIns="0" rIns="0" bIns="0" anchor="t">
            <a:spAutoFit/>
          </a:bodyPr>
          <a:lstStyle/>
          <a:p>
            <a:pPr algn="l">
              <a:lnSpc>
                <a:spcPct val="100000"/>
              </a:lnSpc>
            </a:pPr>
            <a:r>
              <a:rPr lang="en-US" sz="1100" b="0" i="0" dirty="0">
                <a:solidFill>
                  <a:srgbClr val="5A6B7B"/>
                </a:solidFill>
                <a:latin typeface="Calibri"/>
              </a:rPr>
              <a:t>Tests across payers</a:t>
            </a:r>
            <a:endParaRPr sz="1100" b="0" i="0" dirty="0">
              <a:solidFill>
                <a:srgbClr val="5A6B7B"/>
              </a:solidFill>
              <a:latin typeface="Calibri"/>
            </a:endParaRPr>
          </a:p>
        </p:txBody>
      </p:sp>
      <p:sp>
        <p:nvSpPr>
          <p:cNvPr id="38" name="Rounded Rectangle 37"/>
          <p:cNvSpPr/>
          <p:nvPr/>
        </p:nvSpPr>
        <p:spPr>
          <a:xfrm>
            <a:off x="566928" y="4521708"/>
            <a:ext cx="11064240" cy="548640"/>
          </a:xfrm>
          <a:prstGeom prst="roundRect">
            <a:avLst>
              <a:gd name="adj" fmla="val 6000"/>
            </a:avLst>
          </a:prstGeom>
          <a:solidFill>
            <a:srgbClr val="ECF4F8"/>
          </a:solidFill>
          <a:ln w="9525">
            <a:solidFill>
              <a:srgbClr val="4FA6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Oval 38"/>
          <p:cNvSpPr/>
          <p:nvPr/>
        </p:nvSpPr>
        <p:spPr>
          <a:xfrm>
            <a:off x="749808" y="4649724"/>
            <a:ext cx="292608" cy="29260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749808" y="4690872"/>
            <a:ext cx="292608" cy="228600"/>
          </a:xfrm>
          <a:prstGeom prst="rect">
            <a:avLst/>
          </a:prstGeom>
          <a:noFill/>
        </p:spPr>
        <p:txBody>
          <a:bodyPr wrap="square" lIns="0" tIns="0" rIns="0" bIns="0" anchor="t">
            <a:spAutoFit/>
          </a:bodyPr>
          <a:lstStyle/>
          <a:p>
            <a:pPr algn="ctr">
              <a:lnSpc>
                <a:spcPct val="100000"/>
              </a:lnSpc>
            </a:pPr>
            <a:r>
              <a:rPr sz="1100" b="1" i="0">
                <a:solidFill>
                  <a:srgbClr val="FFFFFF"/>
                </a:solidFill>
                <a:latin typeface="Calibri"/>
              </a:rPr>
              <a:t>6</a:t>
            </a:r>
          </a:p>
        </p:txBody>
      </p:sp>
      <p:sp>
        <p:nvSpPr>
          <p:cNvPr id="41" name="TextBox 40"/>
          <p:cNvSpPr txBox="1"/>
          <p:nvPr/>
        </p:nvSpPr>
        <p:spPr>
          <a:xfrm>
            <a:off x="1207008" y="4622292"/>
            <a:ext cx="4206240" cy="256032"/>
          </a:xfrm>
          <a:prstGeom prst="rect">
            <a:avLst/>
          </a:prstGeom>
          <a:noFill/>
        </p:spPr>
        <p:txBody>
          <a:bodyPr wrap="square" lIns="0" tIns="0" rIns="0" bIns="0" anchor="t">
            <a:spAutoFit/>
          </a:bodyPr>
          <a:lstStyle/>
          <a:p>
            <a:pPr algn="l">
              <a:lnSpc>
                <a:spcPct val="100000"/>
              </a:lnSpc>
            </a:pPr>
            <a:r>
              <a:rPr sz="1400" b="1" i="0">
                <a:solidFill>
                  <a:srgbClr val="12283D"/>
                </a:solidFill>
                <a:latin typeface="Calibri"/>
              </a:rPr>
              <a:t>Policy walkthrough and debug trace</a:t>
            </a:r>
          </a:p>
        </p:txBody>
      </p:sp>
      <p:sp>
        <p:nvSpPr>
          <p:cNvPr id="42" name="TextBox 41"/>
          <p:cNvSpPr txBox="1"/>
          <p:nvPr/>
        </p:nvSpPr>
        <p:spPr>
          <a:xfrm>
            <a:off x="1207008" y="4832604"/>
            <a:ext cx="7863840" cy="169277"/>
          </a:xfrm>
          <a:prstGeom prst="rect">
            <a:avLst/>
          </a:prstGeom>
          <a:noFill/>
        </p:spPr>
        <p:txBody>
          <a:bodyPr wrap="square" lIns="0" tIns="0" rIns="0" bIns="0" anchor="t">
            <a:spAutoFit/>
          </a:bodyPr>
          <a:lstStyle/>
          <a:p>
            <a:pPr algn="l">
              <a:lnSpc>
                <a:spcPct val="100000"/>
              </a:lnSpc>
            </a:pPr>
            <a:r>
              <a:rPr lang="en-US" sz="1100" b="0" i="0" dirty="0">
                <a:solidFill>
                  <a:srgbClr val="5A6B7B"/>
                </a:solidFill>
                <a:latin typeface="Calibri"/>
              </a:rPr>
              <a:t>Tracing</a:t>
            </a:r>
            <a:endParaRPr sz="1100" b="0" i="0" dirty="0">
              <a:solidFill>
                <a:srgbClr val="5A6B7B"/>
              </a:solidFill>
              <a:latin typeface="Calibri"/>
            </a:endParaRPr>
          </a:p>
        </p:txBody>
      </p:sp>
      <p:sp>
        <p:nvSpPr>
          <p:cNvPr id="44" name="Rounded Rectangle 43"/>
          <p:cNvSpPr/>
          <p:nvPr/>
        </p:nvSpPr>
        <p:spPr>
          <a:xfrm>
            <a:off x="566928" y="5129784"/>
            <a:ext cx="11064240" cy="548640"/>
          </a:xfrm>
          <a:prstGeom prst="roundRect">
            <a:avLst>
              <a:gd name="adj" fmla="val 6000"/>
            </a:avLst>
          </a:prstGeom>
          <a:solidFill>
            <a:srgbClr val="FFFFFF"/>
          </a:solidFill>
          <a:ln w="9525">
            <a:solidFill>
              <a:srgbClr val="D8E2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Oval 44"/>
          <p:cNvSpPr/>
          <p:nvPr/>
        </p:nvSpPr>
        <p:spPr>
          <a:xfrm>
            <a:off x="749808" y="5257800"/>
            <a:ext cx="292608" cy="292608"/>
          </a:xfrm>
          <a:prstGeom prst="ellipse">
            <a:avLst/>
          </a:prstGeom>
          <a:solidFill>
            <a:srgbClr val="B9C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p:cNvSpPr txBox="1"/>
          <p:nvPr/>
        </p:nvSpPr>
        <p:spPr>
          <a:xfrm>
            <a:off x="749808" y="5298948"/>
            <a:ext cx="292608" cy="228600"/>
          </a:xfrm>
          <a:prstGeom prst="rect">
            <a:avLst/>
          </a:prstGeom>
          <a:noFill/>
        </p:spPr>
        <p:txBody>
          <a:bodyPr wrap="square" lIns="0" tIns="0" rIns="0" bIns="0" anchor="t">
            <a:spAutoFit/>
          </a:bodyPr>
          <a:lstStyle/>
          <a:p>
            <a:pPr algn="ctr">
              <a:lnSpc>
                <a:spcPct val="100000"/>
              </a:lnSpc>
            </a:pPr>
            <a:r>
              <a:rPr sz="1100" b="1" i="0">
                <a:solidFill>
                  <a:srgbClr val="FFFFFF"/>
                </a:solidFill>
                <a:latin typeface="Calibri"/>
              </a:rPr>
              <a:t>7</a:t>
            </a:r>
          </a:p>
        </p:txBody>
      </p:sp>
      <p:sp>
        <p:nvSpPr>
          <p:cNvPr id="47" name="TextBox 46"/>
          <p:cNvSpPr txBox="1"/>
          <p:nvPr/>
        </p:nvSpPr>
        <p:spPr>
          <a:xfrm>
            <a:off x="1207008" y="5230368"/>
            <a:ext cx="4206240" cy="256032"/>
          </a:xfrm>
          <a:prstGeom prst="rect">
            <a:avLst/>
          </a:prstGeom>
          <a:noFill/>
        </p:spPr>
        <p:txBody>
          <a:bodyPr wrap="square" lIns="0" tIns="0" rIns="0" bIns="0" anchor="t">
            <a:spAutoFit/>
          </a:bodyPr>
          <a:lstStyle/>
          <a:p>
            <a:pPr algn="l">
              <a:lnSpc>
                <a:spcPct val="100000"/>
              </a:lnSpc>
            </a:pPr>
            <a:r>
              <a:rPr sz="1400" b="1" i="0">
                <a:solidFill>
                  <a:srgbClr val="12283D"/>
                </a:solidFill>
                <a:latin typeface="Calibri"/>
              </a:rPr>
              <a:t>Credentials, identity and deployment</a:t>
            </a:r>
          </a:p>
        </p:txBody>
      </p:sp>
      <p:sp>
        <p:nvSpPr>
          <p:cNvPr id="48" name="TextBox 47"/>
          <p:cNvSpPr txBox="1"/>
          <p:nvPr/>
        </p:nvSpPr>
        <p:spPr>
          <a:xfrm>
            <a:off x="1207008" y="5440680"/>
            <a:ext cx="7863840" cy="169277"/>
          </a:xfrm>
          <a:prstGeom prst="rect">
            <a:avLst/>
          </a:prstGeom>
          <a:noFill/>
        </p:spPr>
        <p:txBody>
          <a:bodyPr wrap="square" lIns="0" tIns="0" rIns="0" bIns="0" anchor="t">
            <a:spAutoFit/>
          </a:bodyPr>
          <a:lstStyle/>
          <a:p>
            <a:pPr algn="l">
              <a:lnSpc>
                <a:spcPct val="100000"/>
              </a:lnSpc>
            </a:pPr>
            <a:r>
              <a:rPr sz="1100" b="0" i="0" dirty="0">
                <a:solidFill>
                  <a:srgbClr val="5A6B7B"/>
                </a:solidFill>
                <a:latin typeface="Calibri"/>
              </a:rPr>
              <a:t>How a payer authenticates, and run</a:t>
            </a:r>
            <a:r>
              <a:rPr lang="en-US" sz="1100" b="0" i="0" dirty="0">
                <a:solidFill>
                  <a:srgbClr val="5A6B7B"/>
                </a:solidFill>
                <a:latin typeface="Calibri"/>
              </a:rPr>
              <a:t>s</a:t>
            </a:r>
            <a:r>
              <a:rPr sz="1100" b="0" i="0" dirty="0">
                <a:solidFill>
                  <a:srgbClr val="5A6B7B"/>
                </a:solidFill>
                <a:latin typeface="Calibri"/>
              </a:rPr>
              <a:t> in prod</a:t>
            </a:r>
          </a:p>
        </p:txBody>
      </p:sp>
      <p:sp>
        <p:nvSpPr>
          <p:cNvPr id="50" name="Rounded Rectangle 49"/>
          <p:cNvSpPr/>
          <p:nvPr/>
        </p:nvSpPr>
        <p:spPr>
          <a:xfrm>
            <a:off x="566928" y="5737860"/>
            <a:ext cx="11064240" cy="548640"/>
          </a:xfrm>
          <a:prstGeom prst="roundRect">
            <a:avLst>
              <a:gd name="adj" fmla="val 6000"/>
            </a:avLst>
          </a:prstGeom>
          <a:solidFill>
            <a:srgbClr val="FFFFFF"/>
          </a:solidFill>
          <a:ln w="9525">
            <a:solidFill>
              <a:srgbClr val="D8E2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Oval 50"/>
          <p:cNvSpPr/>
          <p:nvPr/>
        </p:nvSpPr>
        <p:spPr>
          <a:xfrm>
            <a:off x="749808" y="5865876"/>
            <a:ext cx="292608" cy="292608"/>
          </a:xfrm>
          <a:prstGeom prst="ellipse">
            <a:avLst/>
          </a:prstGeom>
          <a:solidFill>
            <a:srgbClr val="B9C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TextBox 51"/>
          <p:cNvSpPr txBox="1"/>
          <p:nvPr/>
        </p:nvSpPr>
        <p:spPr>
          <a:xfrm>
            <a:off x="749808" y="5907024"/>
            <a:ext cx="292608" cy="228600"/>
          </a:xfrm>
          <a:prstGeom prst="rect">
            <a:avLst/>
          </a:prstGeom>
          <a:noFill/>
        </p:spPr>
        <p:txBody>
          <a:bodyPr wrap="square" lIns="0" tIns="0" rIns="0" bIns="0" anchor="t">
            <a:spAutoFit/>
          </a:bodyPr>
          <a:lstStyle/>
          <a:p>
            <a:pPr algn="ctr">
              <a:lnSpc>
                <a:spcPct val="100000"/>
              </a:lnSpc>
            </a:pPr>
            <a:r>
              <a:rPr sz="1100" b="1" i="0">
                <a:solidFill>
                  <a:srgbClr val="FFFFFF"/>
                </a:solidFill>
                <a:latin typeface="Calibri"/>
              </a:rPr>
              <a:t>8</a:t>
            </a:r>
          </a:p>
        </p:txBody>
      </p:sp>
      <p:sp>
        <p:nvSpPr>
          <p:cNvPr id="53" name="TextBox 52"/>
          <p:cNvSpPr txBox="1"/>
          <p:nvPr/>
        </p:nvSpPr>
        <p:spPr>
          <a:xfrm>
            <a:off x="1207008" y="5838444"/>
            <a:ext cx="4206240" cy="215444"/>
          </a:xfrm>
          <a:prstGeom prst="rect">
            <a:avLst/>
          </a:prstGeom>
          <a:noFill/>
        </p:spPr>
        <p:txBody>
          <a:bodyPr wrap="square" lIns="0" tIns="0" rIns="0" bIns="0" anchor="t">
            <a:spAutoFit/>
          </a:bodyPr>
          <a:lstStyle/>
          <a:p>
            <a:pPr algn="l">
              <a:lnSpc>
                <a:spcPct val="100000"/>
              </a:lnSpc>
            </a:pPr>
            <a:r>
              <a:rPr sz="1400" b="1" i="0" dirty="0">
                <a:solidFill>
                  <a:srgbClr val="12283D"/>
                </a:solidFill>
                <a:latin typeface="Calibri"/>
              </a:rPr>
              <a:t>Decisions </a:t>
            </a:r>
            <a:r>
              <a:rPr lang="en-US" sz="1400" b="1" i="0" dirty="0">
                <a:solidFill>
                  <a:srgbClr val="12283D"/>
                </a:solidFill>
                <a:latin typeface="Calibri"/>
              </a:rPr>
              <a:t>/</a:t>
            </a:r>
            <a:r>
              <a:rPr sz="1400" b="1" i="0" dirty="0">
                <a:solidFill>
                  <a:srgbClr val="12283D"/>
                </a:solidFill>
                <a:latin typeface="Calibri"/>
              </a:rPr>
              <a:t> next steps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8FA"/>
        </a:solidFill>
        <a:effectLst/>
      </p:bgPr>
    </p:bg>
    <p:spTree>
      <p:nvGrpSpPr>
        <p:cNvPr id="1" name=""/>
        <p:cNvGrpSpPr/>
        <p:nvPr/>
      </p:nvGrpSpPr>
      <p:grpSpPr>
        <a:xfrm>
          <a:off x="0" y="0"/>
          <a:ext cx="0" cy="0"/>
          <a:chOff x="0" y="0"/>
          <a:chExt cx="0" cy="0"/>
        </a:xfrm>
      </p:grpSpPr>
      <p:sp>
        <p:nvSpPr>
          <p:cNvPr id="2" name="Rectangle 1"/>
          <p:cNvSpPr/>
          <p:nvPr/>
        </p:nvSpPr>
        <p:spPr>
          <a:xfrm>
            <a:off x="566928" y="420624"/>
            <a:ext cx="68580" cy="65836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777240" y="542059"/>
            <a:ext cx="10789920" cy="415498"/>
          </a:xfrm>
          <a:prstGeom prst="rect">
            <a:avLst/>
          </a:prstGeom>
          <a:noFill/>
        </p:spPr>
        <p:txBody>
          <a:bodyPr wrap="square" lIns="0" tIns="0" rIns="0" bIns="0" anchor="t">
            <a:spAutoFit/>
          </a:bodyPr>
          <a:lstStyle/>
          <a:p>
            <a:pPr algn="l">
              <a:lnSpc>
                <a:spcPct val="100000"/>
              </a:lnSpc>
            </a:pPr>
            <a:r>
              <a:rPr lang="en-US" sz="2700" b="1" i="0" dirty="0">
                <a:solidFill>
                  <a:srgbClr val="12283D"/>
                </a:solidFill>
                <a:latin typeface="Cambria"/>
              </a:rPr>
              <a:t>OBJECTIVE AND SCOPE</a:t>
            </a:r>
            <a:endParaRPr sz="2700" b="1" i="0" dirty="0">
              <a:solidFill>
                <a:srgbClr val="12283D"/>
              </a:solidFill>
              <a:latin typeface="Cambria"/>
            </a:endParaRPr>
          </a:p>
        </p:txBody>
      </p:sp>
      <p:sp>
        <p:nvSpPr>
          <p:cNvPr id="5" name="Rectangle 4"/>
          <p:cNvSpPr/>
          <p:nvPr/>
        </p:nvSpPr>
        <p:spPr>
          <a:xfrm>
            <a:off x="566928" y="6345936"/>
            <a:ext cx="11064240" cy="12801"/>
          </a:xfrm>
          <a:prstGeom prst="rect">
            <a:avLst/>
          </a:prstGeom>
          <a:solidFill>
            <a:srgbClr val="D8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0058400" y="6428232"/>
            <a:ext cx="1572768" cy="219456"/>
          </a:xfrm>
          <a:prstGeom prst="rect">
            <a:avLst/>
          </a:prstGeom>
          <a:noFill/>
        </p:spPr>
        <p:txBody>
          <a:bodyPr wrap="square" lIns="0" tIns="0" rIns="0" bIns="0" anchor="t">
            <a:spAutoFit/>
          </a:bodyPr>
          <a:lstStyle/>
          <a:p>
            <a:pPr algn="r">
              <a:lnSpc>
                <a:spcPct val="100000"/>
              </a:lnSpc>
            </a:pPr>
            <a:r>
              <a:rPr sz="900" b="0" i="0">
                <a:solidFill>
                  <a:srgbClr val="5A6B7B"/>
                </a:solidFill>
                <a:latin typeface="Calibri"/>
              </a:rPr>
              <a:t>03</a:t>
            </a:r>
          </a:p>
        </p:txBody>
      </p:sp>
      <p:sp>
        <p:nvSpPr>
          <p:cNvPr id="8" name="Rounded Rectangle 7"/>
          <p:cNvSpPr/>
          <p:nvPr/>
        </p:nvSpPr>
        <p:spPr>
          <a:xfrm>
            <a:off x="635508" y="1205992"/>
            <a:ext cx="5440680" cy="2921000"/>
          </a:xfrm>
          <a:prstGeom prst="roundRect">
            <a:avLst>
              <a:gd name="adj" fmla="val 6000"/>
            </a:avLst>
          </a:prstGeom>
          <a:solidFill>
            <a:srgbClr val="FFFFFF"/>
          </a:solidFill>
          <a:ln w="9525">
            <a:solidFill>
              <a:srgbClr val="D8E2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909828" y="1434592"/>
            <a:ext cx="4937760" cy="274320"/>
          </a:xfrm>
          <a:prstGeom prst="rect">
            <a:avLst/>
          </a:prstGeom>
          <a:noFill/>
        </p:spPr>
        <p:txBody>
          <a:bodyPr wrap="square" lIns="0" tIns="0" rIns="0" bIns="0" anchor="t">
            <a:spAutoFit/>
          </a:bodyPr>
          <a:lstStyle/>
          <a:p>
            <a:pPr algn="l">
              <a:lnSpc>
                <a:spcPct val="100000"/>
              </a:lnSpc>
            </a:pPr>
            <a:r>
              <a:rPr sz="1100" b="1" i="0">
                <a:solidFill>
                  <a:srgbClr val="1C7293"/>
                </a:solidFill>
                <a:latin typeface="Calibri"/>
              </a:rPr>
              <a:t>IN SCOPE - we answer these today</a:t>
            </a:r>
          </a:p>
        </p:txBody>
      </p:sp>
      <p:sp>
        <p:nvSpPr>
          <p:cNvPr id="10" name="TextBox 9"/>
          <p:cNvSpPr txBox="1"/>
          <p:nvPr/>
        </p:nvSpPr>
        <p:spPr>
          <a:xfrm>
            <a:off x="909828" y="1800352"/>
            <a:ext cx="4937760" cy="2194575"/>
          </a:xfrm>
          <a:prstGeom prst="rect">
            <a:avLst/>
          </a:prstGeom>
          <a:noFill/>
        </p:spPr>
        <p:txBody>
          <a:bodyPr wrap="square" lIns="0" tIns="0" rIns="0" bIns="0" anchor="t">
            <a:spAutoFit/>
          </a:bodyPr>
          <a:lstStyle/>
          <a:p>
            <a:pPr algn="l">
              <a:lnSpc>
                <a:spcPct val="114000"/>
              </a:lnSpc>
            </a:pPr>
            <a:r>
              <a:rPr sz="1250" b="1" i="0" dirty="0">
                <a:solidFill>
                  <a:srgbClr val="12283D"/>
                </a:solidFill>
                <a:latin typeface="Calibri"/>
              </a:rPr>
              <a:t>Can one FHIR service serve inbound and outbound safely?</a:t>
            </a:r>
          </a:p>
          <a:p>
            <a:pPr algn="l">
              <a:lnSpc>
                <a:spcPct val="114000"/>
              </a:lnSpc>
              <a:spcBef>
                <a:spcPts val="200"/>
              </a:spcBef>
            </a:pPr>
            <a:r>
              <a:rPr sz="1200" b="0" i="0" dirty="0">
                <a:solidFill>
                  <a:srgbClr val="5A6B7B"/>
                </a:solidFill>
                <a:latin typeface="Calibri"/>
              </a:rPr>
              <a:t>Platform Engineering's question </a:t>
            </a:r>
            <a:r>
              <a:rPr lang="en-US" sz="1200" b="0" i="0" dirty="0">
                <a:solidFill>
                  <a:srgbClr val="5A6B7B"/>
                </a:solidFill>
                <a:latin typeface="Calibri"/>
              </a:rPr>
              <a:t>-- </a:t>
            </a:r>
            <a:r>
              <a:rPr sz="1200" b="0" i="0" dirty="0">
                <a:solidFill>
                  <a:srgbClr val="5A6B7B"/>
                </a:solidFill>
                <a:latin typeface="Calibri"/>
              </a:rPr>
              <a:t>answered with running policy</a:t>
            </a:r>
          </a:p>
          <a:p>
            <a:pPr algn="l">
              <a:lnSpc>
                <a:spcPct val="114000"/>
              </a:lnSpc>
              <a:spcBef>
                <a:spcPts val="1000"/>
              </a:spcBef>
            </a:pPr>
            <a:r>
              <a:rPr sz="1250" b="1" i="0" dirty="0">
                <a:solidFill>
                  <a:srgbClr val="12283D"/>
                </a:solidFill>
                <a:latin typeface="Calibri"/>
              </a:rPr>
              <a:t>What stops payer A reading payer B?</a:t>
            </a:r>
          </a:p>
          <a:p>
            <a:pPr algn="l">
              <a:lnSpc>
                <a:spcPct val="114000"/>
              </a:lnSpc>
              <a:spcBef>
                <a:spcPts val="200"/>
              </a:spcBef>
            </a:pPr>
            <a:r>
              <a:rPr sz="1200" b="0" i="0" dirty="0">
                <a:solidFill>
                  <a:srgbClr val="5A6B7B"/>
                </a:solidFill>
                <a:latin typeface="Calibri"/>
              </a:rPr>
              <a:t>Demonstrated</a:t>
            </a:r>
            <a:r>
              <a:rPr lang="en-US" sz="1200" dirty="0">
                <a:solidFill>
                  <a:srgbClr val="5A6B7B"/>
                </a:solidFill>
                <a:latin typeface="Calibri"/>
              </a:rPr>
              <a:t> and asserted </a:t>
            </a:r>
            <a:endParaRPr sz="1200" b="0" i="0" dirty="0">
              <a:solidFill>
                <a:srgbClr val="5A6B7B"/>
              </a:solidFill>
              <a:latin typeface="Calibri"/>
            </a:endParaRPr>
          </a:p>
          <a:p>
            <a:pPr algn="l">
              <a:lnSpc>
                <a:spcPct val="114000"/>
              </a:lnSpc>
              <a:spcBef>
                <a:spcPts val="1000"/>
              </a:spcBef>
            </a:pPr>
            <a:r>
              <a:rPr sz="1250" b="1" i="0" dirty="0">
                <a:solidFill>
                  <a:srgbClr val="12283D"/>
                </a:solidFill>
                <a:latin typeface="Calibri"/>
              </a:rPr>
              <a:t>How do contracts partition inside one payer?</a:t>
            </a:r>
          </a:p>
          <a:p>
            <a:pPr algn="l">
              <a:lnSpc>
                <a:spcPct val="114000"/>
              </a:lnSpc>
              <a:spcBef>
                <a:spcPts val="200"/>
              </a:spcBef>
            </a:pPr>
            <a:r>
              <a:rPr sz="1200" b="0" i="0" dirty="0">
                <a:solidFill>
                  <a:srgbClr val="5A6B7B"/>
                </a:solidFill>
                <a:latin typeface="Calibri"/>
              </a:rPr>
              <a:t>meta.tag plus enforced _tag injection at the gateway</a:t>
            </a:r>
          </a:p>
          <a:p>
            <a:pPr algn="l">
              <a:lnSpc>
                <a:spcPct val="114000"/>
              </a:lnSpc>
              <a:spcBef>
                <a:spcPts val="1000"/>
              </a:spcBef>
            </a:pPr>
            <a:r>
              <a:rPr sz="1250" b="1" i="0" dirty="0">
                <a:solidFill>
                  <a:srgbClr val="12283D"/>
                </a:solidFill>
                <a:latin typeface="Calibri"/>
              </a:rPr>
              <a:t>What does onboarding payer number </a:t>
            </a:r>
            <a:r>
              <a:rPr lang="en-US" sz="1250" b="1" i="0" dirty="0">
                <a:solidFill>
                  <a:srgbClr val="12283D"/>
                </a:solidFill>
                <a:latin typeface="Calibri"/>
              </a:rPr>
              <a:t>involve</a:t>
            </a:r>
            <a:r>
              <a:rPr sz="1250" b="1" i="0" dirty="0">
                <a:solidFill>
                  <a:srgbClr val="12283D"/>
                </a:solidFill>
                <a:latin typeface="Calibri"/>
              </a:rPr>
              <a:t>?</a:t>
            </a:r>
          </a:p>
          <a:p>
            <a:pPr algn="l">
              <a:lnSpc>
                <a:spcPct val="114000"/>
              </a:lnSpc>
              <a:spcBef>
                <a:spcPts val="200"/>
              </a:spcBef>
            </a:pPr>
            <a:r>
              <a:rPr sz="1200" b="0" i="0" dirty="0">
                <a:solidFill>
                  <a:srgbClr val="5A6B7B"/>
                </a:solidFill>
                <a:latin typeface="Calibri"/>
              </a:rPr>
              <a:t>A configuration change </a:t>
            </a:r>
          </a:p>
        </p:txBody>
      </p:sp>
      <p:sp>
        <p:nvSpPr>
          <p:cNvPr id="11" name="Rounded Rectangle 10"/>
          <p:cNvSpPr/>
          <p:nvPr/>
        </p:nvSpPr>
        <p:spPr>
          <a:xfrm>
            <a:off x="6268212" y="1205992"/>
            <a:ext cx="5431536" cy="2921000"/>
          </a:xfrm>
          <a:prstGeom prst="roundRect">
            <a:avLst>
              <a:gd name="adj" fmla="val 6000"/>
            </a:avLst>
          </a:prstGeom>
          <a:solidFill>
            <a:srgbClr val="F7F9FB"/>
          </a:solidFill>
          <a:ln w="9525">
            <a:solidFill>
              <a:srgbClr val="D8E2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542532" y="1434592"/>
            <a:ext cx="4937760" cy="169277"/>
          </a:xfrm>
          <a:prstGeom prst="rect">
            <a:avLst/>
          </a:prstGeom>
          <a:noFill/>
        </p:spPr>
        <p:txBody>
          <a:bodyPr wrap="square" lIns="0" tIns="0" rIns="0" bIns="0" anchor="t">
            <a:spAutoFit/>
          </a:bodyPr>
          <a:lstStyle/>
          <a:p>
            <a:pPr algn="l">
              <a:lnSpc>
                <a:spcPct val="100000"/>
              </a:lnSpc>
            </a:pPr>
            <a:r>
              <a:rPr sz="1100" b="1" i="0" dirty="0">
                <a:solidFill>
                  <a:srgbClr val="D9822B"/>
                </a:solidFill>
                <a:latin typeface="Calibri"/>
              </a:rPr>
              <a:t>OUT OF SCOPE </a:t>
            </a:r>
          </a:p>
        </p:txBody>
      </p:sp>
      <p:sp>
        <p:nvSpPr>
          <p:cNvPr id="13" name="TextBox 12"/>
          <p:cNvSpPr txBox="1"/>
          <p:nvPr/>
        </p:nvSpPr>
        <p:spPr>
          <a:xfrm>
            <a:off x="6542532" y="1800352"/>
            <a:ext cx="4758621" cy="1374159"/>
          </a:xfrm>
          <a:prstGeom prst="rect">
            <a:avLst/>
          </a:prstGeom>
          <a:noFill/>
        </p:spPr>
        <p:txBody>
          <a:bodyPr wrap="square" lIns="0" tIns="0" rIns="0" bIns="0" anchor="t">
            <a:spAutoFit/>
          </a:bodyPr>
          <a:lstStyle/>
          <a:p>
            <a:pPr algn="l">
              <a:lnSpc>
                <a:spcPct val="114000"/>
              </a:lnSpc>
            </a:pPr>
            <a:r>
              <a:rPr sz="1250" b="1" i="0" dirty="0">
                <a:solidFill>
                  <a:srgbClr val="12283D"/>
                </a:solidFill>
                <a:latin typeface="Calibri"/>
              </a:rPr>
              <a:t>Production capacity sizing</a:t>
            </a:r>
          </a:p>
          <a:p>
            <a:pPr algn="l">
              <a:lnSpc>
                <a:spcPct val="114000"/>
              </a:lnSpc>
              <a:spcBef>
                <a:spcPts val="200"/>
              </a:spcBef>
            </a:pPr>
            <a:r>
              <a:rPr sz="1200" b="0" i="0" dirty="0">
                <a:solidFill>
                  <a:srgbClr val="5A6B7B"/>
                </a:solidFill>
                <a:latin typeface="Calibri"/>
              </a:rPr>
              <a:t>Needs </a:t>
            </a:r>
            <a:r>
              <a:rPr lang="en-US" sz="1200" b="0" i="0" dirty="0">
                <a:solidFill>
                  <a:srgbClr val="5A6B7B"/>
                </a:solidFill>
                <a:latin typeface="Calibri"/>
              </a:rPr>
              <a:t>exact </a:t>
            </a:r>
            <a:r>
              <a:rPr sz="1200" b="0" i="0" dirty="0">
                <a:solidFill>
                  <a:srgbClr val="5A6B7B"/>
                </a:solidFill>
                <a:latin typeface="Calibri"/>
              </a:rPr>
              <a:t>export volumes; </a:t>
            </a:r>
          </a:p>
          <a:p>
            <a:pPr algn="l">
              <a:lnSpc>
                <a:spcPct val="114000"/>
              </a:lnSpc>
              <a:spcBef>
                <a:spcPts val="1000"/>
              </a:spcBef>
            </a:pPr>
            <a:r>
              <a:rPr sz="1250" b="1" i="0" dirty="0">
                <a:solidFill>
                  <a:srgbClr val="12283D"/>
                </a:solidFill>
                <a:latin typeface="Calibri"/>
              </a:rPr>
              <a:t>SMART on FHIR scope-level filtering</a:t>
            </a:r>
          </a:p>
          <a:p>
            <a:pPr algn="l">
              <a:lnSpc>
                <a:spcPct val="114000"/>
              </a:lnSpc>
              <a:spcBef>
                <a:spcPts val="200"/>
              </a:spcBef>
            </a:pPr>
            <a:r>
              <a:rPr sz="1200" b="0" i="0" dirty="0">
                <a:solidFill>
                  <a:srgbClr val="5A6B7B"/>
                </a:solidFill>
                <a:latin typeface="Calibri"/>
              </a:rPr>
              <a:t>AHDS does not enforce contract scopes - that is why APIM is here</a:t>
            </a:r>
          </a:p>
          <a:p>
            <a:pPr algn="l">
              <a:lnSpc>
                <a:spcPct val="114000"/>
              </a:lnSpc>
              <a:spcBef>
                <a:spcPts val="1000"/>
              </a:spcBef>
            </a:pPr>
            <a:r>
              <a:rPr sz="1250" b="1" i="0" dirty="0">
                <a:solidFill>
                  <a:srgbClr val="12283D"/>
                </a:solidFill>
                <a:latin typeface="Calibri"/>
              </a:rPr>
              <a:t>Payer contracting and legal</a:t>
            </a:r>
          </a:p>
        </p:txBody>
      </p:sp>
      <p:sp>
        <p:nvSpPr>
          <p:cNvPr id="14" name="Rounded Rectangle 13"/>
          <p:cNvSpPr/>
          <p:nvPr/>
        </p:nvSpPr>
        <p:spPr>
          <a:xfrm>
            <a:off x="635508" y="5537200"/>
            <a:ext cx="11064240" cy="711200"/>
          </a:xfrm>
          <a:prstGeom prst="roundRect">
            <a:avLst>
              <a:gd name="adj" fmla="val 6000"/>
            </a:avLst>
          </a:prstGeom>
          <a:solidFill>
            <a:srgbClr val="E8F4EC"/>
          </a:solidFill>
          <a:ln w="9525">
            <a:solidFill>
              <a:srgbClr val="2E8B5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909828" y="5778500"/>
            <a:ext cx="10515600" cy="244554"/>
          </a:xfrm>
          <a:prstGeom prst="rect">
            <a:avLst/>
          </a:prstGeom>
          <a:noFill/>
        </p:spPr>
        <p:txBody>
          <a:bodyPr wrap="square" lIns="0" tIns="0" rIns="0" bIns="0" anchor="t">
            <a:spAutoFit/>
          </a:bodyPr>
          <a:lstStyle/>
          <a:p>
            <a:pPr algn="l">
              <a:lnSpc>
                <a:spcPct val="122000"/>
              </a:lnSpc>
            </a:pPr>
            <a:r>
              <a:rPr lang="en-US" sz="1400" b="1" i="0" dirty="0">
                <a:solidFill>
                  <a:srgbClr val="12283D"/>
                </a:solidFill>
                <a:latin typeface="Calibri"/>
              </a:rPr>
              <a:t>GOAL : </a:t>
            </a:r>
            <a:r>
              <a:rPr lang="en-US" sz="1400" dirty="0">
                <a:solidFill>
                  <a:srgbClr val="12283D"/>
                </a:solidFill>
                <a:latin typeface="Calibri"/>
              </a:rPr>
              <a:t>W</a:t>
            </a:r>
            <a:r>
              <a:rPr sz="1400" b="0" i="0" dirty="0">
                <a:solidFill>
                  <a:srgbClr val="12283D"/>
                </a:solidFill>
                <a:latin typeface="Calibri"/>
              </a:rPr>
              <a:t>hen two payers call the same platform, what physically prevents one from reading the other's members?</a:t>
            </a:r>
          </a:p>
        </p:txBody>
      </p:sp>
      <p:sp>
        <p:nvSpPr>
          <p:cNvPr id="20" name="TextBox 19"/>
          <p:cNvSpPr txBox="1"/>
          <p:nvPr/>
        </p:nvSpPr>
        <p:spPr>
          <a:xfrm>
            <a:off x="635508" y="4368292"/>
            <a:ext cx="10668000" cy="203200"/>
          </a:xfrm>
          <a:prstGeom prst="rect">
            <a:avLst/>
          </a:prstGeom>
          <a:noFill/>
        </p:spPr>
        <p:txBody>
          <a:bodyPr wrap="square" lIns="0" tIns="0" rIns="0" bIns="0" anchor="t">
            <a:noAutofit/>
          </a:bodyPr>
          <a:lstStyle/>
          <a:p>
            <a:pPr algn="l">
              <a:lnSpc>
                <a:spcPct val="105000"/>
              </a:lnSpc>
            </a:pPr>
            <a:r>
              <a:rPr sz="1400" b="1" i="0" spc="120" dirty="0">
                <a:solidFill>
                  <a:srgbClr val="155A73"/>
                </a:solidFill>
                <a:latin typeface="Calibri"/>
              </a:rPr>
              <a:t>WHAT YOU ASKED LAST SESSION</a:t>
            </a:r>
          </a:p>
        </p:txBody>
      </p:sp>
      <p:sp>
        <p:nvSpPr>
          <p:cNvPr id="21" name="TextBox 20"/>
          <p:cNvSpPr txBox="1"/>
          <p:nvPr/>
        </p:nvSpPr>
        <p:spPr>
          <a:xfrm>
            <a:off x="635508" y="4673092"/>
            <a:ext cx="5054600" cy="558800"/>
          </a:xfrm>
          <a:prstGeom prst="rect">
            <a:avLst/>
          </a:prstGeom>
          <a:noFill/>
        </p:spPr>
        <p:txBody>
          <a:bodyPr wrap="square" lIns="0" tIns="0" rIns="0" bIns="0" anchor="t">
            <a:noAutofit/>
          </a:bodyPr>
          <a:lstStyle/>
          <a:p>
            <a:pPr algn="l">
              <a:lnSpc>
                <a:spcPct val="105000"/>
              </a:lnSpc>
            </a:pPr>
            <a:r>
              <a:rPr sz="1400" b="0" i="1" dirty="0">
                <a:solidFill>
                  <a:srgbClr val="12283D"/>
                </a:solidFill>
                <a:latin typeface="Calibri"/>
              </a:rPr>
              <a:t>“Separate instances per payer — and within a payer, contracts are a logical separation, not physical.”</a:t>
            </a:r>
          </a:p>
        </p:txBody>
      </p:sp>
      <p:sp>
        <p:nvSpPr>
          <p:cNvPr id="22" name="TextBox 21"/>
          <p:cNvSpPr txBox="1"/>
          <p:nvPr/>
        </p:nvSpPr>
        <p:spPr>
          <a:xfrm>
            <a:off x="6274308" y="4673092"/>
            <a:ext cx="5054600" cy="558800"/>
          </a:xfrm>
          <a:prstGeom prst="rect">
            <a:avLst/>
          </a:prstGeom>
          <a:noFill/>
        </p:spPr>
        <p:txBody>
          <a:bodyPr wrap="square" lIns="0" tIns="0" rIns="0" bIns="0" anchor="t">
            <a:noAutofit/>
          </a:bodyPr>
          <a:lstStyle/>
          <a:p>
            <a:pPr algn="l">
              <a:lnSpc>
                <a:spcPct val="105000"/>
              </a:lnSpc>
            </a:pPr>
            <a:r>
              <a:rPr sz="1400" b="0" i="1">
                <a:solidFill>
                  <a:srgbClr val="12283D"/>
                </a:solidFill>
                <a:latin typeface="Calibri"/>
              </a:rPr>
              <a:t>“Can inbound and outbound be isolated from each other within one service? We don’t want a payer querying our inbound data.”</a:t>
            </a:r>
          </a:p>
        </p:txBody>
      </p:sp>
    </p:spTree>
    <p:extLst>
      <p:ext uri="{BB962C8B-B14F-4D97-AF65-F5344CB8AC3E}">
        <p14:creationId xmlns:p14="http://schemas.microsoft.com/office/powerpoint/2010/main" val="18207737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55B3CB-372E-4CA2-0BD6-6C17328511B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8367ACB-5950-8A39-EDBA-45498976FD0C}"/>
              </a:ext>
            </a:extLst>
          </p:cNvPr>
          <p:cNvSpPr/>
          <p:nvPr/>
        </p:nvSpPr>
        <p:spPr>
          <a:xfrm>
            <a:off x="566928" y="420624"/>
            <a:ext cx="68580" cy="65836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a:extLst>
              <a:ext uri="{FF2B5EF4-FFF2-40B4-BE49-F238E27FC236}">
                <a16:creationId xmlns:a16="http://schemas.microsoft.com/office/drawing/2014/main" id="{10531AA1-F672-27C5-1000-8D2E7E9FBA4C}"/>
              </a:ext>
            </a:extLst>
          </p:cNvPr>
          <p:cNvSpPr txBox="1"/>
          <p:nvPr/>
        </p:nvSpPr>
        <p:spPr>
          <a:xfrm>
            <a:off x="777240" y="658368"/>
            <a:ext cx="10789920" cy="415498"/>
          </a:xfrm>
          <a:prstGeom prst="rect">
            <a:avLst/>
          </a:prstGeom>
          <a:noFill/>
        </p:spPr>
        <p:txBody>
          <a:bodyPr wrap="square" lIns="0" tIns="0" rIns="0" bIns="0" anchor="t">
            <a:spAutoFit/>
          </a:bodyPr>
          <a:lstStyle/>
          <a:p>
            <a:pPr algn="l">
              <a:lnSpc>
                <a:spcPct val="100000"/>
              </a:lnSpc>
            </a:pPr>
            <a:r>
              <a:rPr lang="en-US" sz="2700" b="1" i="0" dirty="0">
                <a:solidFill>
                  <a:srgbClr val="12283D"/>
                </a:solidFill>
                <a:latin typeface="Cambria"/>
              </a:rPr>
              <a:t>Overview : </a:t>
            </a:r>
            <a:r>
              <a:rPr sz="2700" b="1" i="0" dirty="0">
                <a:solidFill>
                  <a:srgbClr val="12283D"/>
                </a:solidFill>
                <a:latin typeface="Cambria"/>
              </a:rPr>
              <a:t>API Management</a:t>
            </a:r>
          </a:p>
        </p:txBody>
      </p:sp>
      <p:sp>
        <p:nvSpPr>
          <p:cNvPr id="5" name="Rectangle 4">
            <a:extLst>
              <a:ext uri="{FF2B5EF4-FFF2-40B4-BE49-F238E27FC236}">
                <a16:creationId xmlns:a16="http://schemas.microsoft.com/office/drawing/2014/main" id="{6FD22E9E-059E-8BE2-BC69-5C42DC497CB6}"/>
              </a:ext>
            </a:extLst>
          </p:cNvPr>
          <p:cNvSpPr/>
          <p:nvPr/>
        </p:nvSpPr>
        <p:spPr>
          <a:xfrm>
            <a:off x="566928" y="6345936"/>
            <a:ext cx="11064240" cy="12801"/>
          </a:xfrm>
          <a:prstGeom prst="rect">
            <a:avLst/>
          </a:prstGeom>
          <a:solidFill>
            <a:srgbClr val="D8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a:extLst>
              <a:ext uri="{FF2B5EF4-FFF2-40B4-BE49-F238E27FC236}">
                <a16:creationId xmlns:a16="http://schemas.microsoft.com/office/drawing/2014/main" id="{E4F8D428-77EE-6C7B-DCEB-0FAE425CA7E6}"/>
              </a:ext>
            </a:extLst>
          </p:cNvPr>
          <p:cNvSpPr txBox="1"/>
          <p:nvPr/>
        </p:nvSpPr>
        <p:spPr>
          <a:xfrm>
            <a:off x="10058400" y="6428232"/>
            <a:ext cx="1572768" cy="219456"/>
          </a:xfrm>
          <a:prstGeom prst="rect">
            <a:avLst/>
          </a:prstGeom>
          <a:noFill/>
        </p:spPr>
        <p:txBody>
          <a:bodyPr wrap="square" lIns="0" tIns="0" rIns="0" bIns="0" anchor="t">
            <a:spAutoFit/>
          </a:bodyPr>
          <a:lstStyle/>
          <a:p>
            <a:pPr algn="r">
              <a:lnSpc>
                <a:spcPct val="100000"/>
              </a:lnSpc>
            </a:pPr>
            <a:r>
              <a:rPr sz="900" b="0" i="0">
                <a:solidFill>
                  <a:srgbClr val="5A6B7B"/>
                </a:solidFill>
                <a:latin typeface="Calibri"/>
              </a:rPr>
              <a:t>05</a:t>
            </a:r>
          </a:p>
        </p:txBody>
      </p:sp>
      <p:pic>
        <p:nvPicPr>
          <p:cNvPr id="3" name="Picture 2" descr="Diagram showing key components of Azure API Management.">
            <a:extLst>
              <a:ext uri="{FF2B5EF4-FFF2-40B4-BE49-F238E27FC236}">
                <a16:creationId xmlns:a16="http://schemas.microsoft.com/office/drawing/2014/main" id="{7A282ECF-9782-D2C6-4889-1D9B4E13D6B8}"/>
              </a:ext>
            </a:extLst>
          </p:cNvPr>
          <p:cNvPicPr>
            <a:picLocks noChangeAspect="1"/>
          </p:cNvPicPr>
          <p:nvPr/>
        </p:nvPicPr>
        <p:blipFill>
          <a:blip r:embed="rId3"/>
          <a:stretch>
            <a:fillRect/>
          </a:stretch>
        </p:blipFill>
        <p:spPr>
          <a:xfrm>
            <a:off x="635508" y="1236207"/>
            <a:ext cx="9857790" cy="5035908"/>
          </a:xfrm>
          <a:prstGeom prst="rect">
            <a:avLst/>
          </a:prstGeom>
          <a:ln>
            <a:solidFill>
              <a:schemeClr val="tx1"/>
            </a:solidFill>
          </a:ln>
        </p:spPr>
      </p:pic>
    </p:spTree>
    <p:extLst>
      <p:ext uri="{BB962C8B-B14F-4D97-AF65-F5344CB8AC3E}">
        <p14:creationId xmlns:p14="http://schemas.microsoft.com/office/powerpoint/2010/main" val="2758313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8FA"/>
        </a:solidFill>
        <a:effectLst/>
      </p:bgPr>
    </p:bg>
    <p:spTree>
      <p:nvGrpSpPr>
        <p:cNvPr id="1" name=""/>
        <p:cNvGrpSpPr/>
        <p:nvPr/>
      </p:nvGrpSpPr>
      <p:grpSpPr>
        <a:xfrm>
          <a:off x="0" y="0"/>
          <a:ext cx="0" cy="0"/>
          <a:chOff x="0" y="0"/>
          <a:chExt cx="0" cy="0"/>
        </a:xfrm>
      </p:grpSpPr>
      <p:sp>
        <p:nvSpPr>
          <p:cNvPr id="2" name="Rectangle 1"/>
          <p:cNvSpPr/>
          <p:nvPr/>
        </p:nvSpPr>
        <p:spPr>
          <a:xfrm>
            <a:off x="566928" y="420624"/>
            <a:ext cx="68580" cy="65836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777240" y="658368"/>
            <a:ext cx="10789920" cy="415498"/>
          </a:xfrm>
          <a:prstGeom prst="rect">
            <a:avLst/>
          </a:prstGeom>
          <a:noFill/>
        </p:spPr>
        <p:txBody>
          <a:bodyPr wrap="square" lIns="0" tIns="0" rIns="0" bIns="0" anchor="t">
            <a:spAutoFit/>
          </a:bodyPr>
          <a:lstStyle/>
          <a:p>
            <a:pPr algn="l">
              <a:lnSpc>
                <a:spcPct val="100000"/>
              </a:lnSpc>
            </a:pPr>
            <a:r>
              <a:rPr lang="en-US" sz="2700" b="1" i="0" dirty="0">
                <a:solidFill>
                  <a:srgbClr val="12283D"/>
                </a:solidFill>
                <a:latin typeface="Cambria"/>
              </a:rPr>
              <a:t>Overview : </a:t>
            </a:r>
            <a:r>
              <a:rPr sz="2700" b="1" i="0" dirty="0">
                <a:solidFill>
                  <a:srgbClr val="12283D"/>
                </a:solidFill>
                <a:latin typeface="Cambria"/>
              </a:rPr>
              <a:t>API Management</a:t>
            </a:r>
          </a:p>
        </p:txBody>
      </p:sp>
      <p:sp>
        <p:nvSpPr>
          <p:cNvPr id="5" name="Rectangle 4"/>
          <p:cNvSpPr/>
          <p:nvPr/>
        </p:nvSpPr>
        <p:spPr>
          <a:xfrm>
            <a:off x="566928" y="6345936"/>
            <a:ext cx="11064240" cy="12801"/>
          </a:xfrm>
          <a:prstGeom prst="rect">
            <a:avLst/>
          </a:prstGeom>
          <a:solidFill>
            <a:srgbClr val="D8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0058400" y="6428232"/>
            <a:ext cx="1572768" cy="219456"/>
          </a:xfrm>
          <a:prstGeom prst="rect">
            <a:avLst/>
          </a:prstGeom>
          <a:noFill/>
        </p:spPr>
        <p:txBody>
          <a:bodyPr wrap="square" lIns="0" tIns="0" rIns="0" bIns="0" anchor="t">
            <a:spAutoFit/>
          </a:bodyPr>
          <a:lstStyle/>
          <a:p>
            <a:pPr algn="r">
              <a:lnSpc>
                <a:spcPct val="100000"/>
              </a:lnSpc>
            </a:pPr>
            <a:r>
              <a:rPr sz="900" b="0" i="0">
                <a:solidFill>
                  <a:srgbClr val="5A6B7B"/>
                </a:solidFill>
                <a:latin typeface="Calibri"/>
              </a:rPr>
              <a:t>06</a:t>
            </a:r>
          </a:p>
        </p:txBody>
      </p:sp>
      <p:sp>
        <p:nvSpPr>
          <p:cNvPr id="8" name="TextBox 7"/>
          <p:cNvSpPr txBox="1"/>
          <p:nvPr/>
        </p:nvSpPr>
        <p:spPr>
          <a:xfrm>
            <a:off x="566928" y="1389888"/>
            <a:ext cx="11064240" cy="207749"/>
          </a:xfrm>
          <a:prstGeom prst="rect">
            <a:avLst/>
          </a:prstGeom>
          <a:noFill/>
        </p:spPr>
        <p:txBody>
          <a:bodyPr wrap="square" lIns="0" tIns="0" rIns="0" bIns="0" anchor="t">
            <a:spAutoFit/>
          </a:bodyPr>
          <a:lstStyle/>
          <a:p>
            <a:pPr algn="l">
              <a:lnSpc>
                <a:spcPct val="100000"/>
              </a:lnSpc>
            </a:pPr>
            <a:r>
              <a:rPr sz="1350" b="0" i="0" dirty="0">
                <a:solidFill>
                  <a:srgbClr val="5A6B7B"/>
                </a:solidFill>
                <a:latin typeface="Calibri"/>
              </a:rPr>
              <a:t>A </a:t>
            </a:r>
            <a:r>
              <a:rPr lang="en-US" sz="1350" b="0" i="0" dirty="0">
                <a:solidFill>
                  <a:srgbClr val="5A6B7B"/>
                </a:solidFill>
                <a:latin typeface="Calibri"/>
              </a:rPr>
              <a:t>Programmable </a:t>
            </a:r>
            <a:r>
              <a:rPr sz="1350" b="0" i="0" dirty="0">
                <a:solidFill>
                  <a:srgbClr val="5A6B7B"/>
                </a:solidFill>
                <a:latin typeface="Calibri"/>
              </a:rPr>
              <a:t>reverse proxy </a:t>
            </a:r>
            <a:r>
              <a:rPr lang="en-US" sz="1350" b="0" i="0" dirty="0">
                <a:solidFill>
                  <a:srgbClr val="5A6B7B"/>
                </a:solidFill>
                <a:latin typeface="Calibri"/>
              </a:rPr>
              <a:t>- </a:t>
            </a:r>
            <a:r>
              <a:rPr sz="1350" b="0" i="0" dirty="0">
                <a:solidFill>
                  <a:srgbClr val="5A6B7B"/>
                </a:solidFill>
                <a:latin typeface="Calibri"/>
              </a:rPr>
              <a:t>Every call to your API goes through it, and you decide what happens on the way.</a:t>
            </a:r>
          </a:p>
        </p:txBody>
      </p:sp>
      <p:sp>
        <p:nvSpPr>
          <p:cNvPr id="9" name="Rounded Rectangle 8"/>
          <p:cNvSpPr/>
          <p:nvPr/>
        </p:nvSpPr>
        <p:spPr>
          <a:xfrm>
            <a:off x="566928" y="1828800"/>
            <a:ext cx="5440680" cy="731520"/>
          </a:xfrm>
          <a:prstGeom prst="roundRect">
            <a:avLst>
              <a:gd name="adj" fmla="val 6000"/>
            </a:avLst>
          </a:prstGeom>
          <a:solidFill>
            <a:srgbClr val="FFFFFF"/>
          </a:solidFill>
          <a:ln w="9525">
            <a:solidFill>
              <a:srgbClr val="D8E2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566928" y="1828800"/>
            <a:ext cx="50292" cy="7315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22960" y="1947672"/>
            <a:ext cx="4937760" cy="237744"/>
          </a:xfrm>
          <a:prstGeom prst="rect">
            <a:avLst/>
          </a:prstGeom>
          <a:noFill/>
        </p:spPr>
        <p:txBody>
          <a:bodyPr wrap="square" lIns="0" tIns="0" rIns="0" bIns="0" anchor="t">
            <a:spAutoFit/>
          </a:bodyPr>
          <a:lstStyle/>
          <a:p>
            <a:pPr algn="l">
              <a:lnSpc>
                <a:spcPct val="100000"/>
              </a:lnSpc>
            </a:pPr>
            <a:r>
              <a:rPr sz="1350" b="1" i="0">
                <a:solidFill>
                  <a:srgbClr val="12283D"/>
                </a:solidFill>
                <a:latin typeface="Calibri"/>
              </a:rPr>
              <a:t>Gateway</a:t>
            </a:r>
          </a:p>
        </p:txBody>
      </p:sp>
      <p:sp>
        <p:nvSpPr>
          <p:cNvPr id="12" name="TextBox 11"/>
          <p:cNvSpPr txBox="1"/>
          <p:nvPr/>
        </p:nvSpPr>
        <p:spPr>
          <a:xfrm>
            <a:off x="822960" y="2212848"/>
            <a:ext cx="5029200" cy="274320"/>
          </a:xfrm>
          <a:prstGeom prst="rect">
            <a:avLst/>
          </a:prstGeom>
          <a:noFill/>
        </p:spPr>
        <p:txBody>
          <a:bodyPr wrap="square" lIns="0" tIns="0" rIns="0" bIns="0" anchor="t">
            <a:spAutoFit/>
          </a:bodyPr>
          <a:lstStyle/>
          <a:p>
            <a:pPr algn="l">
              <a:lnSpc>
                <a:spcPct val="110000"/>
              </a:lnSpc>
            </a:pPr>
            <a:r>
              <a:rPr sz="1150" b="0" i="0">
                <a:solidFill>
                  <a:srgbClr val="5A6B7B"/>
                </a:solidFill>
                <a:latin typeface="Calibri"/>
              </a:rPr>
              <a:t>The runtime. Receives every call, applies policy, forwards to the backend.</a:t>
            </a:r>
          </a:p>
        </p:txBody>
      </p:sp>
      <p:sp>
        <p:nvSpPr>
          <p:cNvPr id="13" name="Rounded Rectangle 12"/>
          <p:cNvSpPr/>
          <p:nvPr/>
        </p:nvSpPr>
        <p:spPr>
          <a:xfrm>
            <a:off x="6199632" y="1828800"/>
            <a:ext cx="5440680" cy="731520"/>
          </a:xfrm>
          <a:prstGeom prst="roundRect">
            <a:avLst>
              <a:gd name="adj" fmla="val 6000"/>
            </a:avLst>
          </a:prstGeom>
          <a:solidFill>
            <a:srgbClr val="FFFFFF"/>
          </a:solidFill>
          <a:ln w="9525">
            <a:solidFill>
              <a:srgbClr val="D8E2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6199632" y="1828800"/>
            <a:ext cx="50292" cy="7315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455664" y="1947672"/>
            <a:ext cx="4937760" cy="237744"/>
          </a:xfrm>
          <a:prstGeom prst="rect">
            <a:avLst/>
          </a:prstGeom>
          <a:noFill/>
        </p:spPr>
        <p:txBody>
          <a:bodyPr wrap="square" lIns="0" tIns="0" rIns="0" bIns="0" anchor="t">
            <a:spAutoFit/>
          </a:bodyPr>
          <a:lstStyle/>
          <a:p>
            <a:pPr algn="l">
              <a:lnSpc>
                <a:spcPct val="100000"/>
              </a:lnSpc>
            </a:pPr>
            <a:r>
              <a:rPr sz="1350" b="1" i="0">
                <a:solidFill>
                  <a:srgbClr val="12283D"/>
                </a:solidFill>
                <a:latin typeface="Calibri"/>
              </a:rPr>
              <a:t>API</a:t>
            </a:r>
          </a:p>
        </p:txBody>
      </p:sp>
      <p:sp>
        <p:nvSpPr>
          <p:cNvPr id="16" name="TextBox 15"/>
          <p:cNvSpPr txBox="1"/>
          <p:nvPr/>
        </p:nvSpPr>
        <p:spPr>
          <a:xfrm>
            <a:off x="6455664" y="2212848"/>
            <a:ext cx="5029200" cy="274320"/>
          </a:xfrm>
          <a:prstGeom prst="rect">
            <a:avLst/>
          </a:prstGeom>
          <a:noFill/>
        </p:spPr>
        <p:txBody>
          <a:bodyPr wrap="square" lIns="0" tIns="0" rIns="0" bIns="0" anchor="t">
            <a:spAutoFit/>
          </a:bodyPr>
          <a:lstStyle/>
          <a:p>
            <a:pPr algn="l">
              <a:lnSpc>
                <a:spcPct val="110000"/>
              </a:lnSpc>
            </a:pPr>
            <a:r>
              <a:rPr sz="1150" b="0" i="0">
                <a:solidFill>
                  <a:srgbClr val="5A6B7B"/>
                </a:solidFill>
                <a:latin typeface="Calibri"/>
              </a:rPr>
              <a:t>A route definition. We have four - two per payer, inbound and outbound.</a:t>
            </a:r>
          </a:p>
        </p:txBody>
      </p:sp>
      <p:sp>
        <p:nvSpPr>
          <p:cNvPr id="17" name="Rounded Rectangle 16"/>
          <p:cNvSpPr/>
          <p:nvPr/>
        </p:nvSpPr>
        <p:spPr>
          <a:xfrm>
            <a:off x="566928" y="2670048"/>
            <a:ext cx="5440680" cy="731520"/>
          </a:xfrm>
          <a:prstGeom prst="roundRect">
            <a:avLst>
              <a:gd name="adj" fmla="val 6000"/>
            </a:avLst>
          </a:prstGeom>
          <a:solidFill>
            <a:srgbClr val="FFFFFF"/>
          </a:solidFill>
          <a:ln w="9525">
            <a:solidFill>
              <a:srgbClr val="D8E2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566928" y="2670048"/>
            <a:ext cx="50292" cy="731520"/>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822960" y="2788920"/>
            <a:ext cx="4937760" cy="237744"/>
          </a:xfrm>
          <a:prstGeom prst="rect">
            <a:avLst/>
          </a:prstGeom>
          <a:noFill/>
        </p:spPr>
        <p:txBody>
          <a:bodyPr wrap="square" lIns="0" tIns="0" rIns="0" bIns="0" anchor="t">
            <a:spAutoFit/>
          </a:bodyPr>
          <a:lstStyle/>
          <a:p>
            <a:pPr algn="l">
              <a:lnSpc>
                <a:spcPct val="100000"/>
              </a:lnSpc>
            </a:pPr>
            <a:r>
              <a:rPr sz="1350" b="1" i="0">
                <a:solidFill>
                  <a:srgbClr val="12283D"/>
                </a:solidFill>
                <a:latin typeface="Calibri"/>
              </a:rPr>
              <a:t>Policy</a:t>
            </a:r>
          </a:p>
        </p:txBody>
      </p:sp>
      <p:sp>
        <p:nvSpPr>
          <p:cNvPr id="20" name="TextBox 19"/>
          <p:cNvSpPr txBox="1"/>
          <p:nvPr/>
        </p:nvSpPr>
        <p:spPr>
          <a:xfrm>
            <a:off x="822960" y="3054096"/>
            <a:ext cx="5029200" cy="274320"/>
          </a:xfrm>
          <a:prstGeom prst="rect">
            <a:avLst/>
          </a:prstGeom>
          <a:noFill/>
        </p:spPr>
        <p:txBody>
          <a:bodyPr wrap="square" lIns="0" tIns="0" rIns="0" bIns="0" anchor="t">
            <a:spAutoFit/>
          </a:bodyPr>
          <a:lstStyle/>
          <a:p>
            <a:pPr algn="l">
              <a:lnSpc>
                <a:spcPct val="110000"/>
              </a:lnSpc>
            </a:pPr>
            <a:r>
              <a:rPr sz="1150" b="0" i="0">
                <a:solidFill>
                  <a:srgbClr val="5A6B7B"/>
                </a:solidFill>
                <a:latin typeface="Calibri"/>
              </a:rPr>
              <a:t>XML executed per call. Auth, rewriting, filtering, limits. The logic lives here.</a:t>
            </a:r>
          </a:p>
        </p:txBody>
      </p:sp>
      <p:sp>
        <p:nvSpPr>
          <p:cNvPr id="21" name="Rounded Rectangle 20"/>
          <p:cNvSpPr/>
          <p:nvPr/>
        </p:nvSpPr>
        <p:spPr>
          <a:xfrm>
            <a:off x="6199632" y="2670048"/>
            <a:ext cx="5440680" cy="731520"/>
          </a:xfrm>
          <a:prstGeom prst="roundRect">
            <a:avLst>
              <a:gd name="adj" fmla="val 6000"/>
            </a:avLst>
          </a:prstGeom>
          <a:solidFill>
            <a:srgbClr val="FFFFFF"/>
          </a:solidFill>
          <a:ln w="9525">
            <a:solidFill>
              <a:srgbClr val="D8E2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ectangle 21"/>
          <p:cNvSpPr/>
          <p:nvPr/>
        </p:nvSpPr>
        <p:spPr>
          <a:xfrm>
            <a:off x="6199632" y="2670048"/>
            <a:ext cx="50292" cy="7315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6455664" y="2788920"/>
            <a:ext cx="4937760" cy="237744"/>
          </a:xfrm>
          <a:prstGeom prst="rect">
            <a:avLst/>
          </a:prstGeom>
          <a:noFill/>
        </p:spPr>
        <p:txBody>
          <a:bodyPr wrap="square" lIns="0" tIns="0" rIns="0" bIns="0" anchor="t">
            <a:spAutoFit/>
          </a:bodyPr>
          <a:lstStyle/>
          <a:p>
            <a:pPr algn="l">
              <a:lnSpc>
                <a:spcPct val="100000"/>
              </a:lnSpc>
            </a:pPr>
            <a:r>
              <a:rPr sz="1350" b="1" i="0">
                <a:solidFill>
                  <a:srgbClr val="12283D"/>
                </a:solidFill>
                <a:latin typeface="Calibri"/>
              </a:rPr>
              <a:t>Named value</a:t>
            </a:r>
          </a:p>
        </p:txBody>
      </p:sp>
      <p:sp>
        <p:nvSpPr>
          <p:cNvPr id="24" name="TextBox 23"/>
          <p:cNvSpPr txBox="1"/>
          <p:nvPr/>
        </p:nvSpPr>
        <p:spPr>
          <a:xfrm>
            <a:off x="6455664" y="3054096"/>
            <a:ext cx="5029200" cy="274320"/>
          </a:xfrm>
          <a:prstGeom prst="rect">
            <a:avLst/>
          </a:prstGeom>
          <a:noFill/>
        </p:spPr>
        <p:txBody>
          <a:bodyPr wrap="square" lIns="0" tIns="0" rIns="0" bIns="0" anchor="t">
            <a:spAutoFit/>
          </a:bodyPr>
          <a:lstStyle/>
          <a:p>
            <a:pPr algn="l">
              <a:lnSpc>
                <a:spcPct val="110000"/>
              </a:lnSpc>
            </a:pPr>
            <a:r>
              <a:rPr sz="1150" b="0" i="0">
                <a:solidFill>
                  <a:srgbClr val="5A6B7B"/>
                </a:solidFill>
                <a:latin typeface="Calibri"/>
              </a:rPr>
              <a:t>Configuration and secrets, editable without redeploying. Our entitlement map.</a:t>
            </a:r>
          </a:p>
        </p:txBody>
      </p:sp>
      <p:sp>
        <p:nvSpPr>
          <p:cNvPr id="25" name="Rounded Rectangle 24"/>
          <p:cNvSpPr/>
          <p:nvPr/>
        </p:nvSpPr>
        <p:spPr>
          <a:xfrm>
            <a:off x="566928" y="3511296"/>
            <a:ext cx="5440680" cy="731520"/>
          </a:xfrm>
          <a:prstGeom prst="roundRect">
            <a:avLst>
              <a:gd name="adj" fmla="val 6000"/>
            </a:avLst>
          </a:prstGeom>
          <a:solidFill>
            <a:srgbClr val="FFFFFF"/>
          </a:solidFill>
          <a:ln w="9525">
            <a:solidFill>
              <a:srgbClr val="D8E2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Rectangle 25"/>
          <p:cNvSpPr/>
          <p:nvPr/>
        </p:nvSpPr>
        <p:spPr>
          <a:xfrm>
            <a:off x="566928" y="3511296"/>
            <a:ext cx="50292" cy="73152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822960" y="3630168"/>
            <a:ext cx="4937760" cy="237744"/>
          </a:xfrm>
          <a:prstGeom prst="rect">
            <a:avLst/>
          </a:prstGeom>
          <a:noFill/>
        </p:spPr>
        <p:txBody>
          <a:bodyPr wrap="square" lIns="0" tIns="0" rIns="0" bIns="0" anchor="t">
            <a:spAutoFit/>
          </a:bodyPr>
          <a:lstStyle/>
          <a:p>
            <a:pPr algn="l">
              <a:lnSpc>
                <a:spcPct val="100000"/>
              </a:lnSpc>
            </a:pPr>
            <a:r>
              <a:rPr sz="1350" b="1" i="0">
                <a:solidFill>
                  <a:srgbClr val="12283D"/>
                </a:solidFill>
                <a:latin typeface="Calibri"/>
              </a:rPr>
              <a:t>Managed identity</a:t>
            </a:r>
          </a:p>
        </p:txBody>
      </p:sp>
      <p:sp>
        <p:nvSpPr>
          <p:cNvPr id="28" name="TextBox 27"/>
          <p:cNvSpPr txBox="1"/>
          <p:nvPr/>
        </p:nvSpPr>
        <p:spPr>
          <a:xfrm>
            <a:off x="822960" y="3895344"/>
            <a:ext cx="5029200" cy="274320"/>
          </a:xfrm>
          <a:prstGeom prst="rect">
            <a:avLst/>
          </a:prstGeom>
          <a:noFill/>
        </p:spPr>
        <p:txBody>
          <a:bodyPr wrap="square" lIns="0" tIns="0" rIns="0" bIns="0" anchor="t">
            <a:spAutoFit/>
          </a:bodyPr>
          <a:lstStyle/>
          <a:p>
            <a:pPr algn="l">
              <a:lnSpc>
                <a:spcPct val="110000"/>
              </a:lnSpc>
            </a:pPr>
            <a:r>
              <a:rPr sz="1150" b="0" i="0">
                <a:solidFill>
                  <a:srgbClr val="5A6B7B"/>
                </a:solidFill>
                <a:latin typeface="Calibri"/>
              </a:rPr>
              <a:t>The gateway's own Entra identity. This is what calls FHIR - not the payer.</a:t>
            </a:r>
          </a:p>
        </p:txBody>
      </p:sp>
      <p:sp>
        <p:nvSpPr>
          <p:cNvPr id="29" name="Rounded Rectangle 28"/>
          <p:cNvSpPr/>
          <p:nvPr/>
        </p:nvSpPr>
        <p:spPr>
          <a:xfrm>
            <a:off x="6199632" y="3511296"/>
            <a:ext cx="5440680" cy="731520"/>
          </a:xfrm>
          <a:prstGeom prst="roundRect">
            <a:avLst>
              <a:gd name="adj" fmla="val 6000"/>
            </a:avLst>
          </a:prstGeom>
          <a:solidFill>
            <a:srgbClr val="FFFFFF"/>
          </a:solidFill>
          <a:ln w="9525">
            <a:solidFill>
              <a:srgbClr val="D8E2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Rectangle 29"/>
          <p:cNvSpPr/>
          <p:nvPr/>
        </p:nvSpPr>
        <p:spPr>
          <a:xfrm>
            <a:off x="6199632" y="3511296"/>
            <a:ext cx="50292" cy="731520"/>
          </a:xfrm>
          <a:prstGeom prst="rect">
            <a:avLst/>
          </a:prstGeom>
          <a:solidFill>
            <a:srgbClr val="5A6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6455664" y="3630168"/>
            <a:ext cx="4937760" cy="237744"/>
          </a:xfrm>
          <a:prstGeom prst="rect">
            <a:avLst/>
          </a:prstGeom>
          <a:noFill/>
        </p:spPr>
        <p:txBody>
          <a:bodyPr wrap="square" lIns="0" tIns="0" rIns="0" bIns="0" anchor="t">
            <a:spAutoFit/>
          </a:bodyPr>
          <a:lstStyle/>
          <a:p>
            <a:pPr algn="l">
              <a:lnSpc>
                <a:spcPct val="100000"/>
              </a:lnSpc>
            </a:pPr>
            <a:r>
              <a:rPr sz="1350" b="1" i="0">
                <a:solidFill>
                  <a:srgbClr val="12283D"/>
                </a:solidFill>
                <a:latin typeface="Calibri"/>
              </a:rPr>
              <a:t>Product / subscription</a:t>
            </a:r>
          </a:p>
        </p:txBody>
      </p:sp>
      <p:sp>
        <p:nvSpPr>
          <p:cNvPr id="32" name="TextBox 31"/>
          <p:cNvSpPr txBox="1"/>
          <p:nvPr/>
        </p:nvSpPr>
        <p:spPr>
          <a:xfrm>
            <a:off x="6455664" y="3895344"/>
            <a:ext cx="5029200" cy="274320"/>
          </a:xfrm>
          <a:prstGeom prst="rect">
            <a:avLst/>
          </a:prstGeom>
          <a:noFill/>
        </p:spPr>
        <p:txBody>
          <a:bodyPr wrap="square" lIns="0" tIns="0" rIns="0" bIns="0" anchor="t">
            <a:spAutoFit/>
          </a:bodyPr>
          <a:lstStyle/>
          <a:p>
            <a:pPr algn="l">
              <a:lnSpc>
                <a:spcPct val="110000"/>
              </a:lnSpc>
            </a:pPr>
            <a:r>
              <a:rPr sz="1150" b="0" i="0">
                <a:solidFill>
                  <a:srgbClr val="5A6B7B"/>
                </a:solidFill>
                <a:latin typeface="Calibri"/>
              </a:rPr>
              <a:t>Optional packaging and keys. We do not use them - Entra tokens instead.</a:t>
            </a:r>
          </a:p>
        </p:txBody>
      </p:sp>
      <p:sp>
        <p:nvSpPr>
          <p:cNvPr id="33" name="Rounded Rectangle 32"/>
          <p:cNvSpPr/>
          <p:nvPr/>
        </p:nvSpPr>
        <p:spPr>
          <a:xfrm>
            <a:off x="566928" y="4498848"/>
            <a:ext cx="11064240" cy="1188720"/>
          </a:xfrm>
          <a:prstGeom prst="roundRect">
            <a:avLst>
              <a:gd name="adj" fmla="val 6000"/>
            </a:avLst>
          </a:prstGeom>
          <a:solidFill>
            <a:srgbClr val="FDF3E3"/>
          </a:solidFill>
          <a:ln w="9525">
            <a:solidFill>
              <a:srgbClr val="D9822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841248" y="4681728"/>
            <a:ext cx="10515600" cy="662041"/>
          </a:xfrm>
          <a:prstGeom prst="rect">
            <a:avLst/>
          </a:prstGeom>
          <a:noFill/>
        </p:spPr>
        <p:txBody>
          <a:bodyPr wrap="square" lIns="0" tIns="0" rIns="0" bIns="0" anchor="t">
            <a:spAutoFit/>
          </a:bodyPr>
          <a:lstStyle/>
          <a:p>
            <a:pPr algn="l">
              <a:lnSpc>
                <a:spcPct val="124000"/>
              </a:lnSpc>
              <a:spcBef>
                <a:spcPts val="0"/>
              </a:spcBef>
            </a:pPr>
            <a:r>
              <a:rPr b="0" i="0" dirty="0">
                <a:solidFill>
                  <a:srgbClr val="12283D"/>
                </a:solidFill>
                <a:latin typeface="Calibri"/>
              </a:rPr>
              <a:t>AHDS role-based access control has no concept of contract. It </a:t>
            </a:r>
            <a:r>
              <a:rPr lang="en-US" b="0" i="0" dirty="0">
                <a:solidFill>
                  <a:srgbClr val="12283D"/>
                </a:solidFill>
                <a:latin typeface="Calibri"/>
              </a:rPr>
              <a:t>help setup </a:t>
            </a:r>
            <a:r>
              <a:rPr b="0" i="0" dirty="0">
                <a:solidFill>
                  <a:srgbClr val="12283D"/>
                </a:solidFill>
                <a:latin typeface="Calibri"/>
              </a:rPr>
              <a:t>identity </a:t>
            </a:r>
            <a:r>
              <a:rPr lang="en-US" b="0" i="0" dirty="0">
                <a:solidFill>
                  <a:srgbClr val="12283D"/>
                </a:solidFill>
                <a:latin typeface="Calibri"/>
              </a:rPr>
              <a:t>which </a:t>
            </a:r>
            <a:r>
              <a:rPr b="0" i="0" dirty="0">
                <a:solidFill>
                  <a:srgbClr val="12283D"/>
                </a:solidFill>
                <a:latin typeface="Calibri"/>
              </a:rPr>
              <a:t>may read FHIR service. Every rule finer than that </a:t>
            </a:r>
            <a:r>
              <a:rPr lang="en-US" b="0" i="0" dirty="0">
                <a:solidFill>
                  <a:srgbClr val="12283D"/>
                </a:solidFill>
                <a:latin typeface="Calibri"/>
              </a:rPr>
              <a:t>must</a:t>
            </a:r>
            <a:r>
              <a:rPr b="0" i="0" dirty="0">
                <a:solidFill>
                  <a:srgbClr val="12283D"/>
                </a:solidFill>
                <a:latin typeface="Calibri"/>
              </a:rPr>
              <a:t> be enforced</a:t>
            </a:r>
            <a:r>
              <a:rPr lang="en-US" b="0" i="0" dirty="0">
                <a:solidFill>
                  <a:srgbClr val="12283D"/>
                </a:solidFill>
                <a:latin typeface="Calibri"/>
              </a:rPr>
              <a:t> through APIM</a:t>
            </a:r>
            <a:endParaRPr b="0" i="0" dirty="0">
              <a:solidFill>
                <a:srgbClr val="12283D"/>
              </a:solidFill>
              <a:latin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8FA"/>
        </a:solidFill>
        <a:effectLst/>
      </p:bgPr>
    </p:bg>
    <p:spTree>
      <p:nvGrpSpPr>
        <p:cNvPr id="1" name=""/>
        <p:cNvGrpSpPr/>
        <p:nvPr/>
      </p:nvGrpSpPr>
      <p:grpSpPr>
        <a:xfrm>
          <a:off x="0" y="0"/>
          <a:ext cx="0" cy="0"/>
          <a:chOff x="0" y="0"/>
          <a:chExt cx="0" cy="0"/>
        </a:xfrm>
      </p:grpSpPr>
      <p:sp>
        <p:nvSpPr>
          <p:cNvPr id="2" name="Rectangle 1"/>
          <p:cNvSpPr/>
          <p:nvPr/>
        </p:nvSpPr>
        <p:spPr>
          <a:xfrm>
            <a:off x="566928" y="420624"/>
            <a:ext cx="68580" cy="65836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77240" y="420624"/>
            <a:ext cx="10789920" cy="161583"/>
          </a:xfrm>
          <a:prstGeom prst="rect">
            <a:avLst/>
          </a:prstGeom>
          <a:noFill/>
        </p:spPr>
        <p:txBody>
          <a:bodyPr wrap="square" lIns="0" tIns="0" rIns="0" bIns="0" anchor="t">
            <a:spAutoFit/>
          </a:bodyPr>
          <a:lstStyle/>
          <a:p>
            <a:pPr algn="l">
              <a:lnSpc>
                <a:spcPct val="100000"/>
              </a:lnSpc>
            </a:pPr>
            <a:r>
              <a:rPr lang="en-US" sz="1050" b="1" dirty="0">
                <a:solidFill>
                  <a:srgbClr val="1C7293"/>
                </a:solidFill>
                <a:latin typeface="Calibri"/>
              </a:rPr>
              <a:t>DEMO Overview </a:t>
            </a:r>
            <a:endParaRPr sz="1050" b="1" dirty="0">
              <a:solidFill>
                <a:srgbClr val="1C7293"/>
              </a:solidFill>
              <a:latin typeface="Calibri"/>
            </a:endParaRPr>
          </a:p>
        </p:txBody>
      </p:sp>
      <p:sp>
        <p:nvSpPr>
          <p:cNvPr id="4" name="TextBox 3"/>
          <p:cNvSpPr txBox="1"/>
          <p:nvPr/>
        </p:nvSpPr>
        <p:spPr>
          <a:xfrm>
            <a:off x="777240" y="658368"/>
            <a:ext cx="10789920" cy="475488"/>
          </a:xfrm>
          <a:prstGeom prst="rect">
            <a:avLst/>
          </a:prstGeom>
          <a:noFill/>
        </p:spPr>
        <p:txBody>
          <a:bodyPr wrap="square" lIns="0" tIns="0" rIns="0" bIns="0" anchor="t">
            <a:spAutoFit/>
          </a:bodyPr>
          <a:lstStyle/>
          <a:p>
            <a:pPr algn="l">
              <a:lnSpc>
                <a:spcPct val="100000"/>
              </a:lnSpc>
            </a:pPr>
            <a:r>
              <a:rPr sz="2700" b="1">
                <a:solidFill>
                  <a:srgbClr val="12283D"/>
                </a:solidFill>
                <a:latin typeface="Cambria"/>
              </a:rPr>
              <a:t>Two payers, two directions, four policies</a:t>
            </a:r>
          </a:p>
        </p:txBody>
      </p:sp>
      <p:sp>
        <p:nvSpPr>
          <p:cNvPr id="5" name="Rectangle 4"/>
          <p:cNvSpPr/>
          <p:nvPr/>
        </p:nvSpPr>
        <p:spPr>
          <a:xfrm>
            <a:off x="566928" y="6345936"/>
            <a:ext cx="11064240" cy="12801"/>
          </a:xfrm>
          <a:prstGeom prst="rect">
            <a:avLst/>
          </a:prstGeom>
          <a:solidFill>
            <a:srgbClr val="D8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0058400" y="6428232"/>
            <a:ext cx="1572768" cy="219456"/>
          </a:xfrm>
          <a:prstGeom prst="rect">
            <a:avLst/>
          </a:prstGeom>
          <a:noFill/>
        </p:spPr>
        <p:txBody>
          <a:bodyPr wrap="square" lIns="0" tIns="0" rIns="0" bIns="0" anchor="t">
            <a:spAutoFit/>
          </a:bodyPr>
          <a:lstStyle/>
          <a:p>
            <a:pPr algn="r">
              <a:lnSpc>
                <a:spcPct val="100000"/>
              </a:lnSpc>
            </a:pPr>
            <a:r>
              <a:rPr sz="900" b="0">
                <a:solidFill>
                  <a:srgbClr val="5A6B7B"/>
                </a:solidFill>
                <a:latin typeface="Calibri"/>
              </a:rPr>
              <a:t>07</a:t>
            </a:r>
          </a:p>
        </p:txBody>
      </p:sp>
      <p:sp>
        <p:nvSpPr>
          <p:cNvPr id="8" name="Rounded Rectangle 7"/>
          <p:cNvSpPr/>
          <p:nvPr/>
        </p:nvSpPr>
        <p:spPr>
          <a:xfrm>
            <a:off x="566928" y="1170432"/>
            <a:ext cx="11064240" cy="530352"/>
          </a:xfrm>
          <a:prstGeom prst="roundRect">
            <a:avLst>
              <a:gd name="adj" fmla="val 14000"/>
            </a:avLst>
          </a:prstGeom>
          <a:solidFill>
            <a:srgbClr val="E9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914400" y="1170432"/>
            <a:ext cx="411480" cy="530352"/>
          </a:xfrm>
          <a:prstGeom prst="rect">
            <a:avLst/>
          </a:prstGeom>
          <a:noFill/>
        </p:spPr>
        <p:txBody>
          <a:bodyPr wrap="square" lIns="0" tIns="0" rIns="0" bIns="0" anchor="ctr">
            <a:spAutoFit/>
          </a:bodyPr>
          <a:lstStyle/>
          <a:p>
            <a:pPr algn="l">
              <a:lnSpc>
                <a:spcPct val="100000"/>
              </a:lnSpc>
            </a:pPr>
            <a:r>
              <a:rPr sz="2600" b="1">
                <a:solidFill>
                  <a:srgbClr val="1C7293"/>
                </a:solidFill>
                <a:latin typeface="Cambria"/>
              </a:rPr>
              <a:t>2</a:t>
            </a:r>
          </a:p>
        </p:txBody>
      </p:sp>
      <p:sp>
        <p:nvSpPr>
          <p:cNvPr id="10" name="TextBox 9"/>
          <p:cNvSpPr txBox="1"/>
          <p:nvPr/>
        </p:nvSpPr>
        <p:spPr>
          <a:xfrm>
            <a:off x="1335024" y="1170432"/>
            <a:ext cx="1005840" cy="530352"/>
          </a:xfrm>
          <a:prstGeom prst="rect">
            <a:avLst/>
          </a:prstGeom>
          <a:noFill/>
        </p:spPr>
        <p:txBody>
          <a:bodyPr wrap="square" lIns="0" tIns="0" rIns="0" bIns="0" anchor="ctr">
            <a:spAutoFit/>
          </a:bodyPr>
          <a:lstStyle/>
          <a:p>
            <a:pPr algn="l">
              <a:lnSpc>
                <a:spcPct val="100000"/>
              </a:lnSpc>
            </a:pPr>
            <a:r>
              <a:rPr sz="1200" b="1">
                <a:solidFill>
                  <a:srgbClr val="12283D"/>
                </a:solidFill>
                <a:latin typeface="Calibri"/>
              </a:rPr>
              <a:t>PAYERS</a:t>
            </a:r>
          </a:p>
        </p:txBody>
      </p:sp>
      <p:sp>
        <p:nvSpPr>
          <p:cNvPr id="11" name="TextBox 10"/>
          <p:cNvSpPr txBox="1"/>
          <p:nvPr/>
        </p:nvSpPr>
        <p:spPr>
          <a:xfrm>
            <a:off x="2377440" y="1170432"/>
            <a:ext cx="320040" cy="530352"/>
          </a:xfrm>
          <a:prstGeom prst="rect">
            <a:avLst/>
          </a:prstGeom>
          <a:noFill/>
        </p:spPr>
        <p:txBody>
          <a:bodyPr wrap="square" lIns="0" tIns="0" rIns="0" bIns="0" anchor="ctr">
            <a:spAutoFit/>
          </a:bodyPr>
          <a:lstStyle/>
          <a:p>
            <a:pPr algn="l">
              <a:lnSpc>
                <a:spcPct val="100000"/>
              </a:lnSpc>
            </a:pPr>
            <a:r>
              <a:rPr sz="1900" b="0">
                <a:solidFill>
                  <a:srgbClr val="5A6B7B"/>
                </a:solidFill>
                <a:latin typeface="Calibri"/>
              </a:rPr>
              <a:t>×</a:t>
            </a:r>
          </a:p>
        </p:txBody>
      </p:sp>
      <p:sp>
        <p:nvSpPr>
          <p:cNvPr id="12" name="TextBox 11"/>
          <p:cNvSpPr txBox="1"/>
          <p:nvPr/>
        </p:nvSpPr>
        <p:spPr>
          <a:xfrm>
            <a:off x="2761488" y="1170432"/>
            <a:ext cx="411480" cy="530352"/>
          </a:xfrm>
          <a:prstGeom prst="rect">
            <a:avLst/>
          </a:prstGeom>
          <a:noFill/>
        </p:spPr>
        <p:txBody>
          <a:bodyPr wrap="square" lIns="0" tIns="0" rIns="0" bIns="0" anchor="ctr">
            <a:spAutoFit/>
          </a:bodyPr>
          <a:lstStyle/>
          <a:p>
            <a:pPr algn="l">
              <a:lnSpc>
                <a:spcPct val="100000"/>
              </a:lnSpc>
            </a:pPr>
            <a:r>
              <a:rPr sz="2600" b="1">
                <a:solidFill>
                  <a:srgbClr val="1C7293"/>
                </a:solidFill>
                <a:latin typeface="Cambria"/>
              </a:rPr>
              <a:t>2</a:t>
            </a:r>
          </a:p>
        </p:txBody>
      </p:sp>
      <p:sp>
        <p:nvSpPr>
          <p:cNvPr id="13" name="TextBox 12"/>
          <p:cNvSpPr txBox="1"/>
          <p:nvPr/>
        </p:nvSpPr>
        <p:spPr>
          <a:xfrm>
            <a:off x="3182112" y="1170432"/>
            <a:ext cx="1417320" cy="530352"/>
          </a:xfrm>
          <a:prstGeom prst="rect">
            <a:avLst/>
          </a:prstGeom>
          <a:noFill/>
        </p:spPr>
        <p:txBody>
          <a:bodyPr wrap="square" lIns="0" tIns="0" rIns="0" bIns="0" anchor="ctr">
            <a:spAutoFit/>
          </a:bodyPr>
          <a:lstStyle/>
          <a:p>
            <a:pPr algn="l">
              <a:lnSpc>
                <a:spcPct val="100000"/>
              </a:lnSpc>
            </a:pPr>
            <a:r>
              <a:rPr sz="1200" b="1">
                <a:solidFill>
                  <a:srgbClr val="12283D"/>
                </a:solidFill>
                <a:latin typeface="Calibri"/>
              </a:rPr>
              <a:t>DIRECTIONS</a:t>
            </a:r>
          </a:p>
        </p:txBody>
      </p:sp>
      <p:sp>
        <p:nvSpPr>
          <p:cNvPr id="14" name="TextBox 13"/>
          <p:cNvSpPr txBox="1"/>
          <p:nvPr/>
        </p:nvSpPr>
        <p:spPr>
          <a:xfrm>
            <a:off x="4626864" y="1170432"/>
            <a:ext cx="320040" cy="530352"/>
          </a:xfrm>
          <a:prstGeom prst="rect">
            <a:avLst/>
          </a:prstGeom>
          <a:noFill/>
        </p:spPr>
        <p:txBody>
          <a:bodyPr wrap="square" lIns="0" tIns="0" rIns="0" bIns="0" anchor="ctr">
            <a:spAutoFit/>
          </a:bodyPr>
          <a:lstStyle/>
          <a:p>
            <a:pPr algn="l">
              <a:lnSpc>
                <a:spcPct val="100000"/>
              </a:lnSpc>
            </a:pPr>
            <a:r>
              <a:rPr sz="1900" b="0">
                <a:solidFill>
                  <a:srgbClr val="5A6B7B"/>
                </a:solidFill>
                <a:latin typeface="Calibri"/>
              </a:rPr>
              <a:t>=</a:t>
            </a:r>
          </a:p>
        </p:txBody>
      </p:sp>
      <p:sp>
        <p:nvSpPr>
          <p:cNvPr id="15" name="TextBox 14"/>
          <p:cNvSpPr txBox="1"/>
          <p:nvPr/>
        </p:nvSpPr>
        <p:spPr>
          <a:xfrm>
            <a:off x="5010912" y="1170432"/>
            <a:ext cx="411480" cy="530352"/>
          </a:xfrm>
          <a:prstGeom prst="rect">
            <a:avLst/>
          </a:prstGeom>
          <a:noFill/>
        </p:spPr>
        <p:txBody>
          <a:bodyPr wrap="square" lIns="0" tIns="0" rIns="0" bIns="0" anchor="ctr">
            <a:spAutoFit/>
          </a:bodyPr>
          <a:lstStyle/>
          <a:p>
            <a:pPr algn="l">
              <a:lnSpc>
                <a:spcPct val="100000"/>
              </a:lnSpc>
            </a:pPr>
            <a:r>
              <a:rPr sz="2600" b="1">
                <a:solidFill>
                  <a:srgbClr val="2E8B57"/>
                </a:solidFill>
                <a:latin typeface="Cambria"/>
              </a:rPr>
              <a:t>4</a:t>
            </a:r>
          </a:p>
        </p:txBody>
      </p:sp>
      <p:sp>
        <p:nvSpPr>
          <p:cNvPr id="16" name="TextBox 15"/>
          <p:cNvSpPr txBox="1"/>
          <p:nvPr/>
        </p:nvSpPr>
        <p:spPr>
          <a:xfrm>
            <a:off x="5431536" y="1170432"/>
            <a:ext cx="6035040" cy="530352"/>
          </a:xfrm>
          <a:prstGeom prst="rect">
            <a:avLst/>
          </a:prstGeom>
          <a:noFill/>
        </p:spPr>
        <p:txBody>
          <a:bodyPr wrap="square" lIns="0" tIns="0" rIns="0" bIns="0" anchor="ctr">
            <a:spAutoFit/>
          </a:bodyPr>
          <a:lstStyle/>
          <a:p>
            <a:pPr algn="l">
              <a:lnSpc>
                <a:spcPct val="100000"/>
              </a:lnSpc>
            </a:pPr>
            <a:r>
              <a:rPr sz="1200" b="1">
                <a:solidFill>
                  <a:srgbClr val="12283D"/>
                </a:solidFill>
                <a:latin typeface="Calibri"/>
              </a:rPr>
              <a:t>SEPARATE APIs, EACH WITH ITS OWN POLICY DOCUMENT  ·  THE ROUTE IS THE CONTROL</a:t>
            </a:r>
          </a:p>
        </p:txBody>
      </p:sp>
      <p:sp>
        <p:nvSpPr>
          <p:cNvPr id="17" name="Rounded Rectangle 16"/>
          <p:cNvSpPr/>
          <p:nvPr/>
        </p:nvSpPr>
        <p:spPr>
          <a:xfrm>
            <a:off x="3035808" y="1828800"/>
            <a:ext cx="4224528" cy="493776"/>
          </a:xfrm>
          <a:prstGeom prst="roundRect">
            <a:avLst>
              <a:gd name="adj" fmla="val 1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3255263" y="1874519"/>
            <a:ext cx="3785615" cy="219456"/>
          </a:xfrm>
          <a:prstGeom prst="rect">
            <a:avLst/>
          </a:prstGeom>
          <a:noFill/>
        </p:spPr>
        <p:txBody>
          <a:bodyPr wrap="square" lIns="0" tIns="0" rIns="0" bIns="0" anchor="t">
            <a:spAutoFit/>
          </a:bodyPr>
          <a:lstStyle/>
          <a:p>
            <a:pPr algn="l">
              <a:lnSpc>
                <a:spcPct val="100000"/>
              </a:lnSpc>
            </a:pPr>
            <a:r>
              <a:rPr sz="1250" b="1">
                <a:solidFill>
                  <a:srgbClr val="FFFFFF"/>
                </a:solidFill>
                <a:latin typeface="Calibri"/>
              </a:rPr>
              <a:t>INBOUND</a:t>
            </a:r>
          </a:p>
        </p:txBody>
      </p:sp>
      <p:sp>
        <p:nvSpPr>
          <p:cNvPr id="19" name="TextBox 18"/>
          <p:cNvSpPr txBox="1"/>
          <p:nvPr/>
        </p:nvSpPr>
        <p:spPr>
          <a:xfrm>
            <a:off x="3255263" y="2084831"/>
            <a:ext cx="3785615" cy="201168"/>
          </a:xfrm>
          <a:prstGeom prst="rect">
            <a:avLst/>
          </a:prstGeom>
          <a:noFill/>
        </p:spPr>
        <p:txBody>
          <a:bodyPr wrap="square" lIns="0" tIns="0" rIns="0" bIns="0" anchor="t">
            <a:spAutoFit/>
          </a:bodyPr>
          <a:lstStyle/>
          <a:p>
            <a:pPr algn="l">
              <a:lnSpc>
                <a:spcPct val="100000"/>
              </a:lnSpc>
            </a:pPr>
            <a:r>
              <a:rPr sz="950" b="0">
                <a:solidFill>
                  <a:srgbClr val="DCECF5"/>
                </a:solidFill>
                <a:latin typeface="Calibri"/>
              </a:rPr>
              <a:t>Northwind Health writes data in  ·  allow-list:  ingest-principals</a:t>
            </a:r>
          </a:p>
        </p:txBody>
      </p:sp>
      <p:sp>
        <p:nvSpPr>
          <p:cNvPr id="20" name="Rounded Rectangle 19"/>
          <p:cNvSpPr/>
          <p:nvPr/>
        </p:nvSpPr>
        <p:spPr>
          <a:xfrm>
            <a:off x="7406640" y="1828800"/>
            <a:ext cx="4224528" cy="493776"/>
          </a:xfrm>
          <a:prstGeom prst="roundRect">
            <a:avLst>
              <a:gd name="adj" fmla="val 10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7626096" y="1874519"/>
            <a:ext cx="3785615" cy="219456"/>
          </a:xfrm>
          <a:prstGeom prst="rect">
            <a:avLst/>
          </a:prstGeom>
          <a:noFill/>
        </p:spPr>
        <p:txBody>
          <a:bodyPr wrap="square" lIns="0" tIns="0" rIns="0" bIns="0" anchor="t">
            <a:spAutoFit/>
          </a:bodyPr>
          <a:lstStyle/>
          <a:p>
            <a:pPr algn="l">
              <a:lnSpc>
                <a:spcPct val="100000"/>
              </a:lnSpc>
            </a:pPr>
            <a:r>
              <a:rPr sz="1250" b="1">
                <a:solidFill>
                  <a:srgbClr val="FFFFFF"/>
                </a:solidFill>
                <a:latin typeface="Calibri"/>
              </a:rPr>
              <a:t>OUTBOUND</a:t>
            </a:r>
          </a:p>
        </p:txBody>
      </p:sp>
      <p:sp>
        <p:nvSpPr>
          <p:cNvPr id="22" name="TextBox 21"/>
          <p:cNvSpPr txBox="1"/>
          <p:nvPr/>
        </p:nvSpPr>
        <p:spPr>
          <a:xfrm>
            <a:off x="7626096" y="2084831"/>
            <a:ext cx="3785615" cy="201168"/>
          </a:xfrm>
          <a:prstGeom prst="rect">
            <a:avLst/>
          </a:prstGeom>
          <a:noFill/>
        </p:spPr>
        <p:txBody>
          <a:bodyPr wrap="square" lIns="0" tIns="0" rIns="0" bIns="0" anchor="t">
            <a:spAutoFit/>
          </a:bodyPr>
          <a:lstStyle/>
          <a:p>
            <a:pPr algn="l">
              <a:lnSpc>
                <a:spcPct val="100000"/>
              </a:lnSpc>
            </a:pPr>
            <a:r>
              <a:rPr sz="950" b="0">
                <a:solidFill>
                  <a:srgbClr val="DCECF5"/>
                </a:solidFill>
                <a:latin typeface="Calibri"/>
              </a:rPr>
              <a:t>the payer reads data out  ·  allow-list:  payer-entitlements</a:t>
            </a:r>
          </a:p>
        </p:txBody>
      </p:sp>
      <p:sp>
        <p:nvSpPr>
          <p:cNvPr id="23" name="Rounded Rectangle 22"/>
          <p:cNvSpPr/>
          <p:nvPr/>
        </p:nvSpPr>
        <p:spPr>
          <a:xfrm>
            <a:off x="566928" y="2414016"/>
            <a:ext cx="2331720" cy="1353312"/>
          </a:xfrm>
          <a:prstGeom prst="roundRect">
            <a:avLst>
              <a:gd name="adj" fmla="val 6000"/>
            </a:avLst>
          </a:prstGeom>
          <a:solidFill>
            <a:srgbClr val="FFFFFF"/>
          </a:solidFill>
          <a:ln w="9525">
            <a:solidFill>
              <a:srgbClr val="D8E2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ectangle 23"/>
          <p:cNvSpPr/>
          <p:nvPr/>
        </p:nvSpPr>
        <p:spPr>
          <a:xfrm>
            <a:off x="566928" y="2414016"/>
            <a:ext cx="50292" cy="1353312"/>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749808" y="2560320"/>
            <a:ext cx="2011680" cy="457200"/>
          </a:xfrm>
          <a:prstGeom prst="rect">
            <a:avLst/>
          </a:prstGeom>
          <a:noFill/>
        </p:spPr>
        <p:txBody>
          <a:bodyPr wrap="square" lIns="0" tIns="0" rIns="0" bIns="0" anchor="t">
            <a:spAutoFit/>
          </a:bodyPr>
          <a:lstStyle/>
          <a:p>
            <a:pPr algn="l">
              <a:lnSpc>
                <a:spcPct val="106000"/>
              </a:lnSpc>
            </a:pPr>
            <a:r>
              <a:rPr sz="1250" b="1">
                <a:solidFill>
                  <a:srgbClr val="12283D"/>
                </a:solidFill>
                <a:latin typeface="Cambria"/>
              </a:rPr>
              <a:t>Contoso Health Plan</a:t>
            </a:r>
          </a:p>
        </p:txBody>
      </p:sp>
      <p:sp>
        <p:nvSpPr>
          <p:cNvPr id="26" name="TextBox 25"/>
          <p:cNvSpPr txBox="1"/>
          <p:nvPr/>
        </p:nvSpPr>
        <p:spPr>
          <a:xfrm>
            <a:off x="749808" y="3054096"/>
            <a:ext cx="2011680" cy="201168"/>
          </a:xfrm>
          <a:prstGeom prst="rect">
            <a:avLst/>
          </a:prstGeom>
          <a:noFill/>
        </p:spPr>
        <p:txBody>
          <a:bodyPr wrap="square" lIns="0" tIns="0" rIns="0" bIns="0" anchor="t">
            <a:spAutoFit/>
          </a:bodyPr>
          <a:lstStyle/>
          <a:p>
            <a:pPr algn="l">
              <a:lnSpc>
                <a:spcPct val="100000"/>
              </a:lnSpc>
            </a:pPr>
            <a:r>
              <a:rPr sz="850" b="0">
                <a:solidFill>
                  <a:srgbClr val="5A6B7B"/>
                </a:solidFill>
                <a:latin typeface="Consolas"/>
              </a:rPr>
              <a:t>northwind-cmsdqm-payera</a:t>
            </a:r>
          </a:p>
        </p:txBody>
      </p:sp>
      <p:sp>
        <p:nvSpPr>
          <p:cNvPr id="27" name="TextBox 26"/>
          <p:cNvSpPr txBox="1"/>
          <p:nvPr/>
        </p:nvSpPr>
        <p:spPr>
          <a:xfrm>
            <a:off x="749808" y="3282696"/>
            <a:ext cx="2011680" cy="201168"/>
          </a:xfrm>
          <a:prstGeom prst="rect">
            <a:avLst/>
          </a:prstGeom>
          <a:noFill/>
        </p:spPr>
        <p:txBody>
          <a:bodyPr wrap="square" lIns="0" tIns="0" rIns="0" bIns="0" anchor="t">
            <a:spAutoFit/>
          </a:bodyPr>
          <a:lstStyle/>
          <a:p>
            <a:pPr algn="l">
              <a:lnSpc>
                <a:spcPct val="100000"/>
              </a:lnSpc>
            </a:pPr>
            <a:r>
              <a:rPr sz="1100" b="1">
                <a:solidFill>
                  <a:srgbClr val="1C7293"/>
                </a:solidFill>
                <a:latin typeface="Calibri"/>
              </a:rPr>
              <a:t>CT-3456  ·  CT-7788</a:t>
            </a:r>
          </a:p>
        </p:txBody>
      </p:sp>
      <p:sp>
        <p:nvSpPr>
          <p:cNvPr id="28" name="TextBox 27"/>
          <p:cNvSpPr txBox="1"/>
          <p:nvPr/>
        </p:nvSpPr>
        <p:spPr>
          <a:xfrm>
            <a:off x="749808" y="3502152"/>
            <a:ext cx="2011680" cy="201168"/>
          </a:xfrm>
          <a:prstGeom prst="rect">
            <a:avLst/>
          </a:prstGeom>
          <a:noFill/>
        </p:spPr>
        <p:txBody>
          <a:bodyPr wrap="square" lIns="0" tIns="0" rIns="0" bIns="0" anchor="t">
            <a:spAutoFit/>
          </a:bodyPr>
          <a:lstStyle/>
          <a:p>
            <a:pPr algn="l">
              <a:lnSpc>
                <a:spcPct val="100000"/>
              </a:lnSpc>
            </a:pPr>
            <a:r>
              <a:rPr sz="950" b="0">
                <a:solidFill>
                  <a:srgbClr val="2E8B57"/>
                </a:solidFill>
                <a:latin typeface="Consolas"/>
              </a:rPr>
              <a:t>→  fhir-payera</a:t>
            </a:r>
          </a:p>
        </p:txBody>
      </p:sp>
      <p:sp>
        <p:nvSpPr>
          <p:cNvPr id="29" name="Rounded Rectangle 28"/>
          <p:cNvSpPr/>
          <p:nvPr/>
        </p:nvSpPr>
        <p:spPr>
          <a:xfrm>
            <a:off x="3035808" y="2414016"/>
            <a:ext cx="4224528" cy="1353312"/>
          </a:xfrm>
          <a:prstGeom prst="roundRect">
            <a:avLst>
              <a:gd name="adj" fmla="val 6000"/>
            </a:avLst>
          </a:prstGeom>
          <a:solidFill>
            <a:srgbClr val="FFFFFF"/>
          </a:solidFill>
          <a:ln w="9525">
            <a:solidFill>
              <a:srgbClr val="D8E2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3255263" y="2560320"/>
            <a:ext cx="2743200" cy="274320"/>
          </a:xfrm>
          <a:prstGeom prst="rect">
            <a:avLst/>
          </a:prstGeom>
          <a:noFill/>
        </p:spPr>
        <p:txBody>
          <a:bodyPr wrap="square" lIns="0" tIns="0" rIns="0" bIns="0" anchor="t">
            <a:spAutoFit/>
          </a:bodyPr>
          <a:lstStyle/>
          <a:p>
            <a:pPr algn="l">
              <a:lnSpc>
                <a:spcPct val="100000"/>
              </a:lnSpc>
            </a:pPr>
            <a:r>
              <a:rPr sz="1400" b="1">
                <a:solidFill>
                  <a:srgbClr val="1C7293"/>
                </a:solidFill>
                <a:latin typeface="Consolas"/>
              </a:rPr>
              <a:t>/payera/inbound</a:t>
            </a:r>
          </a:p>
        </p:txBody>
      </p:sp>
      <p:sp>
        <p:nvSpPr>
          <p:cNvPr id="31" name="TextBox 30"/>
          <p:cNvSpPr txBox="1"/>
          <p:nvPr/>
        </p:nvSpPr>
        <p:spPr>
          <a:xfrm>
            <a:off x="5705856" y="2596896"/>
            <a:ext cx="1335024" cy="219456"/>
          </a:xfrm>
          <a:prstGeom prst="rect">
            <a:avLst/>
          </a:prstGeom>
          <a:noFill/>
        </p:spPr>
        <p:txBody>
          <a:bodyPr wrap="square" lIns="0" tIns="0" rIns="0" bIns="0" anchor="t">
            <a:spAutoFit/>
          </a:bodyPr>
          <a:lstStyle/>
          <a:p>
            <a:pPr algn="r">
              <a:lnSpc>
                <a:spcPct val="100000"/>
              </a:lnSpc>
            </a:pPr>
            <a:r>
              <a:rPr sz="950" b="0">
                <a:solidFill>
                  <a:srgbClr val="5A6B7B"/>
                </a:solidFill>
                <a:latin typeface="Consolas"/>
              </a:rPr>
              <a:t>171 lines</a:t>
            </a:r>
          </a:p>
        </p:txBody>
      </p:sp>
      <p:sp>
        <p:nvSpPr>
          <p:cNvPr id="32" name="Rectangle 31"/>
          <p:cNvSpPr/>
          <p:nvPr/>
        </p:nvSpPr>
        <p:spPr>
          <a:xfrm>
            <a:off x="3255263" y="2907792"/>
            <a:ext cx="3785615" cy="10972"/>
          </a:xfrm>
          <a:prstGeom prst="rect">
            <a:avLst/>
          </a:prstGeom>
          <a:solidFill>
            <a:srgbClr val="D8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3255263" y="3017520"/>
            <a:ext cx="868680" cy="201168"/>
          </a:xfrm>
          <a:prstGeom prst="rect">
            <a:avLst/>
          </a:prstGeom>
          <a:noFill/>
        </p:spPr>
        <p:txBody>
          <a:bodyPr wrap="square" lIns="0" tIns="0" rIns="0" bIns="0" anchor="t">
            <a:spAutoFit/>
          </a:bodyPr>
          <a:lstStyle/>
          <a:p>
            <a:pPr algn="l">
              <a:lnSpc>
                <a:spcPct val="100000"/>
              </a:lnSpc>
            </a:pPr>
            <a:r>
              <a:rPr sz="850" b="1">
                <a:solidFill>
                  <a:srgbClr val="5A6B7B"/>
                </a:solidFill>
                <a:latin typeface="Calibri"/>
              </a:rPr>
              <a:t>CALLER</a:t>
            </a:r>
          </a:p>
        </p:txBody>
      </p:sp>
      <p:sp>
        <p:nvSpPr>
          <p:cNvPr id="34" name="TextBox 33"/>
          <p:cNvSpPr txBox="1"/>
          <p:nvPr/>
        </p:nvSpPr>
        <p:spPr>
          <a:xfrm>
            <a:off x="4151376" y="2999232"/>
            <a:ext cx="2889504" cy="219456"/>
          </a:xfrm>
          <a:prstGeom prst="rect">
            <a:avLst/>
          </a:prstGeom>
          <a:noFill/>
        </p:spPr>
        <p:txBody>
          <a:bodyPr wrap="square" lIns="0" tIns="0" rIns="0" bIns="0" anchor="t">
            <a:spAutoFit/>
          </a:bodyPr>
          <a:lstStyle/>
          <a:p>
            <a:pPr algn="l">
              <a:lnSpc>
                <a:spcPct val="100000"/>
              </a:lnSpc>
            </a:pPr>
            <a:r>
              <a:rPr sz="1050" b="0">
                <a:solidFill>
                  <a:srgbClr val="12283D"/>
                </a:solidFill>
                <a:latin typeface="Calibri"/>
              </a:rPr>
              <a:t>Northwind Health ingest pipeline</a:t>
            </a:r>
          </a:p>
        </p:txBody>
      </p:sp>
      <p:sp>
        <p:nvSpPr>
          <p:cNvPr id="35" name="TextBox 34"/>
          <p:cNvSpPr txBox="1"/>
          <p:nvPr/>
        </p:nvSpPr>
        <p:spPr>
          <a:xfrm>
            <a:off x="3255263" y="3255264"/>
            <a:ext cx="868680" cy="201168"/>
          </a:xfrm>
          <a:prstGeom prst="rect">
            <a:avLst/>
          </a:prstGeom>
          <a:noFill/>
        </p:spPr>
        <p:txBody>
          <a:bodyPr wrap="square" lIns="0" tIns="0" rIns="0" bIns="0" anchor="t">
            <a:spAutoFit/>
          </a:bodyPr>
          <a:lstStyle/>
          <a:p>
            <a:pPr algn="l">
              <a:lnSpc>
                <a:spcPct val="100000"/>
              </a:lnSpc>
            </a:pPr>
            <a:r>
              <a:rPr sz="850" b="1">
                <a:solidFill>
                  <a:srgbClr val="5A6B7B"/>
                </a:solidFill>
                <a:latin typeface="Calibri"/>
              </a:rPr>
              <a:t>VERBS</a:t>
            </a:r>
          </a:p>
        </p:txBody>
      </p:sp>
      <p:sp>
        <p:nvSpPr>
          <p:cNvPr id="36" name="TextBox 35"/>
          <p:cNvSpPr txBox="1"/>
          <p:nvPr/>
        </p:nvSpPr>
        <p:spPr>
          <a:xfrm>
            <a:off x="4151376" y="3236976"/>
            <a:ext cx="2889504" cy="219456"/>
          </a:xfrm>
          <a:prstGeom prst="rect">
            <a:avLst/>
          </a:prstGeom>
          <a:noFill/>
        </p:spPr>
        <p:txBody>
          <a:bodyPr wrap="square" lIns="0" tIns="0" rIns="0" bIns="0" anchor="t">
            <a:spAutoFit/>
          </a:bodyPr>
          <a:lstStyle/>
          <a:p>
            <a:pPr algn="l">
              <a:lnSpc>
                <a:spcPct val="100000"/>
              </a:lnSpc>
            </a:pPr>
            <a:r>
              <a:rPr sz="1050" b="0">
                <a:solidFill>
                  <a:srgbClr val="12283D"/>
                </a:solidFill>
                <a:latin typeface="Calibri"/>
              </a:rPr>
              <a:t>GET · POST · PUT · DELETE</a:t>
            </a:r>
          </a:p>
        </p:txBody>
      </p:sp>
      <p:sp>
        <p:nvSpPr>
          <p:cNvPr id="37" name="TextBox 36"/>
          <p:cNvSpPr txBox="1"/>
          <p:nvPr/>
        </p:nvSpPr>
        <p:spPr>
          <a:xfrm>
            <a:off x="3255263" y="3493008"/>
            <a:ext cx="868680" cy="201168"/>
          </a:xfrm>
          <a:prstGeom prst="rect">
            <a:avLst/>
          </a:prstGeom>
          <a:noFill/>
        </p:spPr>
        <p:txBody>
          <a:bodyPr wrap="square" lIns="0" tIns="0" rIns="0" bIns="0" anchor="t">
            <a:spAutoFit/>
          </a:bodyPr>
          <a:lstStyle/>
          <a:p>
            <a:pPr algn="l">
              <a:lnSpc>
                <a:spcPct val="100000"/>
              </a:lnSpc>
            </a:pPr>
            <a:r>
              <a:rPr sz="850" b="1">
                <a:solidFill>
                  <a:srgbClr val="5A6B7B"/>
                </a:solidFill>
                <a:latin typeface="Calibri"/>
              </a:rPr>
              <a:t>$EXPORT</a:t>
            </a:r>
          </a:p>
        </p:txBody>
      </p:sp>
      <p:sp>
        <p:nvSpPr>
          <p:cNvPr id="38" name="TextBox 37"/>
          <p:cNvSpPr txBox="1"/>
          <p:nvPr/>
        </p:nvSpPr>
        <p:spPr>
          <a:xfrm>
            <a:off x="4151376" y="3474720"/>
            <a:ext cx="2889504" cy="219456"/>
          </a:xfrm>
          <a:prstGeom prst="rect">
            <a:avLst/>
          </a:prstGeom>
          <a:noFill/>
        </p:spPr>
        <p:txBody>
          <a:bodyPr wrap="square" lIns="0" tIns="0" rIns="0" bIns="0" anchor="t">
            <a:spAutoFit/>
          </a:bodyPr>
          <a:lstStyle/>
          <a:p>
            <a:pPr algn="l">
              <a:lnSpc>
                <a:spcPct val="100000"/>
              </a:lnSpc>
            </a:pPr>
            <a:r>
              <a:rPr sz="1050" b="1">
                <a:solidFill>
                  <a:srgbClr val="B03A2B"/>
                </a:solidFill>
                <a:latin typeface="Calibri"/>
              </a:rPr>
              <a:t>$export denied</a:t>
            </a:r>
          </a:p>
        </p:txBody>
      </p:sp>
      <p:sp>
        <p:nvSpPr>
          <p:cNvPr id="39" name="Rounded Rectangle 38"/>
          <p:cNvSpPr/>
          <p:nvPr/>
        </p:nvSpPr>
        <p:spPr>
          <a:xfrm>
            <a:off x="7406640" y="2414016"/>
            <a:ext cx="4224528" cy="1353312"/>
          </a:xfrm>
          <a:prstGeom prst="roundRect">
            <a:avLst>
              <a:gd name="adj" fmla="val 6000"/>
            </a:avLst>
          </a:prstGeom>
          <a:solidFill>
            <a:srgbClr val="FFFFFF"/>
          </a:solidFill>
          <a:ln w="9525">
            <a:solidFill>
              <a:srgbClr val="D8E2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7626096" y="2560320"/>
            <a:ext cx="2743200" cy="274320"/>
          </a:xfrm>
          <a:prstGeom prst="rect">
            <a:avLst/>
          </a:prstGeom>
          <a:noFill/>
        </p:spPr>
        <p:txBody>
          <a:bodyPr wrap="square" lIns="0" tIns="0" rIns="0" bIns="0" anchor="t">
            <a:spAutoFit/>
          </a:bodyPr>
          <a:lstStyle/>
          <a:p>
            <a:pPr algn="l">
              <a:lnSpc>
                <a:spcPct val="100000"/>
              </a:lnSpc>
            </a:pPr>
            <a:r>
              <a:rPr sz="1400" b="1">
                <a:solidFill>
                  <a:srgbClr val="2E8B57"/>
                </a:solidFill>
                <a:latin typeface="Consolas"/>
              </a:rPr>
              <a:t>/payera/outbound</a:t>
            </a:r>
          </a:p>
        </p:txBody>
      </p:sp>
      <p:sp>
        <p:nvSpPr>
          <p:cNvPr id="41" name="TextBox 40"/>
          <p:cNvSpPr txBox="1"/>
          <p:nvPr/>
        </p:nvSpPr>
        <p:spPr>
          <a:xfrm>
            <a:off x="10076688" y="2596896"/>
            <a:ext cx="1335024" cy="219456"/>
          </a:xfrm>
          <a:prstGeom prst="rect">
            <a:avLst/>
          </a:prstGeom>
          <a:noFill/>
        </p:spPr>
        <p:txBody>
          <a:bodyPr wrap="square" lIns="0" tIns="0" rIns="0" bIns="0" anchor="t">
            <a:spAutoFit/>
          </a:bodyPr>
          <a:lstStyle/>
          <a:p>
            <a:pPr algn="r">
              <a:lnSpc>
                <a:spcPct val="100000"/>
              </a:lnSpc>
            </a:pPr>
            <a:r>
              <a:rPr sz="950" b="0">
                <a:solidFill>
                  <a:srgbClr val="5A6B7B"/>
                </a:solidFill>
                <a:latin typeface="Consolas"/>
              </a:rPr>
              <a:t>351 lines</a:t>
            </a:r>
          </a:p>
        </p:txBody>
      </p:sp>
      <p:sp>
        <p:nvSpPr>
          <p:cNvPr id="42" name="Rectangle 41"/>
          <p:cNvSpPr/>
          <p:nvPr/>
        </p:nvSpPr>
        <p:spPr>
          <a:xfrm>
            <a:off x="7626096" y="2907792"/>
            <a:ext cx="3785615" cy="10972"/>
          </a:xfrm>
          <a:prstGeom prst="rect">
            <a:avLst/>
          </a:prstGeom>
          <a:solidFill>
            <a:srgbClr val="D8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p:cNvSpPr txBox="1"/>
          <p:nvPr/>
        </p:nvSpPr>
        <p:spPr>
          <a:xfrm>
            <a:off x="7626096" y="3017520"/>
            <a:ext cx="868680" cy="201168"/>
          </a:xfrm>
          <a:prstGeom prst="rect">
            <a:avLst/>
          </a:prstGeom>
          <a:noFill/>
        </p:spPr>
        <p:txBody>
          <a:bodyPr wrap="square" lIns="0" tIns="0" rIns="0" bIns="0" anchor="t">
            <a:spAutoFit/>
          </a:bodyPr>
          <a:lstStyle/>
          <a:p>
            <a:pPr algn="l">
              <a:lnSpc>
                <a:spcPct val="100000"/>
              </a:lnSpc>
            </a:pPr>
            <a:r>
              <a:rPr sz="850" b="1">
                <a:solidFill>
                  <a:srgbClr val="5A6B7B"/>
                </a:solidFill>
                <a:latin typeface="Calibri"/>
              </a:rPr>
              <a:t>CALLER</a:t>
            </a:r>
          </a:p>
        </p:txBody>
      </p:sp>
      <p:sp>
        <p:nvSpPr>
          <p:cNvPr id="44" name="TextBox 43"/>
          <p:cNvSpPr txBox="1"/>
          <p:nvPr/>
        </p:nvSpPr>
        <p:spPr>
          <a:xfrm>
            <a:off x="8522208" y="2999232"/>
            <a:ext cx="2889504" cy="219456"/>
          </a:xfrm>
          <a:prstGeom prst="rect">
            <a:avLst/>
          </a:prstGeom>
          <a:noFill/>
        </p:spPr>
        <p:txBody>
          <a:bodyPr wrap="square" lIns="0" tIns="0" rIns="0" bIns="0" anchor="t">
            <a:spAutoFit/>
          </a:bodyPr>
          <a:lstStyle/>
          <a:p>
            <a:pPr algn="l">
              <a:lnSpc>
                <a:spcPct val="100000"/>
              </a:lnSpc>
            </a:pPr>
            <a:r>
              <a:rPr sz="1050" b="0">
                <a:solidFill>
                  <a:srgbClr val="12283D"/>
                </a:solidFill>
                <a:latin typeface="Calibri"/>
              </a:rPr>
              <a:t>Contoso only</a:t>
            </a:r>
          </a:p>
        </p:txBody>
      </p:sp>
      <p:sp>
        <p:nvSpPr>
          <p:cNvPr id="45" name="TextBox 44"/>
          <p:cNvSpPr txBox="1"/>
          <p:nvPr/>
        </p:nvSpPr>
        <p:spPr>
          <a:xfrm>
            <a:off x="7626096" y="3255264"/>
            <a:ext cx="868680" cy="201168"/>
          </a:xfrm>
          <a:prstGeom prst="rect">
            <a:avLst/>
          </a:prstGeom>
          <a:noFill/>
        </p:spPr>
        <p:txBody>
          <a:bodyPr wrap="square" lIns="0" tIns="0" rIns="0" bIns="0" anchor="t">
            <a:spAutoFit/>
          </a:bodyPr>
          <a:lstStyle/>
          <a:p>
            <a:pPr algn="l">
              <a:lnSpc>
                <a:spcPct val="100000"/>
              </a:lnSpc>
            </a:pPr>
            <a:r>
              <a:rPr sz="850" b="1">
                <a:solidFill>
                  <a:srgbClr val="5A6B7B"/>
                </a:solidFill>
                <a:latin typeface="Calibri"/>
              </a:rPr>
              <a:t>VERBS</a:t>
            </a:r>
          </a:p>
        </p:txBody>
      </p:sp>
      <p:sp>
        <p:nvSpPr>
          <p:cNvPr id="46" name="TextBox 45"/>
          <p:cNvSpPr txBox="1"/>
          <p:nvPr/>
        </p:nvSpPr>
        <p:spPr>
          <a:xfrm>
            <a:off x="8522208" y="3236976"/>
            <a:ext cx="2889504" cy="219456"/>
          </a:xfrm>
          <a:prstGeom prst="rect">
            <a:avLst/>
          </a:prstGeom>
          <a:noFill/>
        </p:spPr>
        <p:txBody>
          <a:bodyPr wrap="square" lIns="0" tIns="0" rIns="0" bIns="0" anchor="t">
            <a:spAutoFit/>
          </a:bodyPr>
          <a:lstStyle/>
          <a:p>
            <a:pPr algn="l">
              <a:lnSpc>
                <a:spcPct val="100000"/>
              </a:lnSpc>
            </a:pPr>
            <a:r>
              <a:rPr sz="1050" b="0">
                <a:solidFill>
                  <a:srgbClr val="12283D"/>
                </a:solidFill>
                <a:latin typeface="Calibri"/>
              </a:rPr>
              <a:t>GET only</a:t>
            </a:r>
          </a:p>
        </p:txBody>
      </p:sp>
      <p:sp>
        <p:nvSpPr>
          <p:cNvPr id="47" name="TextBox 46"/>
          <p:cNvSpPr txBox="1"/>
          <p:nvPr/>
        </p:nvSpPr>
        <p:spPr>
          <a:xfrm>
            <a:off x="7626096" y="3493008"/>
            <a:ext cx="868680" cy="201168"/>
          </a:xfrm>
          <a:prstGeom prst="rect">
            <a:avLst/>
          </a:prstGeom>
          <a:noFill/>
        </p:spPr>
        <p:txBody>
          <a:bodyPr wrap="square" lIns="0" tIns="0" rIns="0" bIns="0" anchor="t">
            <a:spAutoFit/>
          </a:bodyPr>
          <a:lstStyle/>
          <a:p>
            <a:pPr algn="l">
              <a:lnSpc>
                <a:spcPct val="100000"/>
              </a:lnSpc>
            </a:pPr>
            <a:r>
              <a:rPr sz="850" b="1">
                <a:solidFill>
                  <a:srgbClr val="5A6B7B"/>
                </a:solidFill>
                <a:latin typeface="Calibri"/>
              </a:rPr>
              <a:t>$EXPORT</a:t>
            </a:r>
          </a:p>
        </p:txBody>
      </p:sp>
      <p:sp>
        <p:nvSpPr>
          <p:cNvPr id="48" name="TextBox 47"/>
          <p:cNvSpPr txBox="1"/>
          <p:nvPr/>
        </p:nvSpPr>
        <p:spPr>
          <a:xfrm>
            <a:off x="8522208" y="3474720"/>
            <a:ext cx="2889504" cy="219456"/>
          </a:xfrm>
          <a:prstGeom prst="rect">
            <a:avLst/>
          </a:prstGeom>
          <a:noFill/>
        </p:spPr>
        <p:txBody>
          <a:bodyPr wrap="square" lIns="0" tIns="0" rIns="0" bIns="0" anchor="t">
            <a:spAutoFit/>
          </a:bodyPr>
          <a:lstStyle/>
          <a:p>
            <a:pPr algn="l">
              <a:lnSpc>
                <a:spcPct val="100000"/>
              </a:lnSpc>
            </a:pPr>
            <a:r>
              <a:rPr sz="1050" b="1">
                <a:solidFill>
                  <a:srgbClr val="2E8B57"/>
                </a:solidFill>
                <a:latin typeface="Calibri"/>
              </a:rPr>
              <a:t>Group/{id}/$export only</a:t>
            </a:r>
          </a:p>
        </p:txBody>
      </p:sp>
      <p:sp>
        <p:nvSpPr>
          <p:cNvPr id="49" name="Rounded Rectangle 48"/>
          <p:cNvSpPr/>
          <p:nvPr/>
        </p:nvSpPr>
        <p:spPr>
          <a:xfrm>
            <a:off x="566928" y="3877056"/>
            <a:ext cx="2331720" cy="1353312"/>
          </a:xfrm>
          <a:prstGeom prst="roundRect">
            <a:avLst>
              <a:gd name="adj" fmla="val 6000"/>
            </a:avLst>
          </a:prstGeom>
          <a:solidFill>
            <a:srgbClr val="FFFFFF"/>
          </a:solidFill>
          <a:ln w="9525">
            <a:solidFill>
              <a:srgbClr val="D8E2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Rectangle 49"/>
          <p:cNvSpPr/>
          <p:nvPr/>
        </p:nvSpPr>
        <p:spPr>
          <a:xfrm>
            <a:off x="566928" y="3877056"/>
            <a:ext cx="50292" cy="1353312"/>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TextBox 50"/>
          <p:cNvSpPr txBox="1"/>
          <p:nvPr/>
        </p:nvSpPr>
        <p:spPr>
          <a:xfrm>
            <a:off x="749808" y="4023360"/>
            <a:ext cx="2011680" cy="457200"/>
          </a:xfrm>
          <a:prstGeom prst="rect">
            <a:avLst/>
          </a:prstGeom>
          <a:noFill/>
        </p:spPr>
        <p:txBody>
          <a:bodyPr wrap="square" lIns="0" tIns="0" rIns="0" bIns="0" anchor="t">
            <a:spAutoFit/>
          </a:bodyPr>
          <a:lstStyle/>
          <a:p>
            <a:pPr algn="l">
              <a:lnSpc>
                <a:spcPct val="106000"/>
              </a:lnSpc>
            </a:pPr>
            <a:r>
              <a:rPr sz="1250" b="1" dirty="0">
                <a:solidFill>
                  <a:srgbClr val="12283D"/>
                </a:solidFill>
                <a:latin typeface="Cambria"/>
              </a:rPr>
              <a:t>Fabrikam Medicare Advantage</a:t>
            </a:r>
          </a:p>
        </p:txBody>
      </p:sp>
      <p:sp>
        <p:nvSpPr>
          <p:cNvPr id="52" name="TextBox 51"/>
          <p:cNvSpPr txBox="1"/>
          <p:nvPr/>
        </p:nvSpPr>
        <p:spPr>
          <a:xfrm>
            <a:off x="749808" y="4517136"/>
            <a:ext cx="2011680" cy="201168"/>
          </a:xfrm>
          <a:prstGeom prst="rect">
            <a:avLst/>
          </a:prstGeom>
          <a:noFill/>
        </p:spPr>
        <p:txBody>
          <a:bodyPr wrap="square" lIns="0" tIns="0" rIns="0" bIns="0" anchor="t">
            <a:spAutoFit/>
          </a:bodyPr>
          <a:lstStyle/>
          <a:p>
            <a:pPr algn="l">
              <a:lnSpc>
                <a:spcPct val="100000"/>
              </a:lnSpc>
            </a:pPr>
            <a:r>
              <a:rPr sz="850" b="0">
                <a:solidFill>
                  <a:srgbClr val="5A6B7B"/>
                </a:solidFill>
                <a:latin typeface="Consolas"/>
              </a:rPr>
              <a:t>northwind-cmsdqm-payerb</a:t>
            </a:r>
          </a:p>
        </p:txBody>
      </p:sp>
      <p:sp>
        <p:nvSpPr>
          <p:cNvPr id="53" name="TextBox 52"/>
          <p:cNvSpPr txBox="1"/>
          <p:nvPr/>
        </p:nvSpPr>
        <p:spPr>
          <a:xfrm>
            <a:off x="749808" y="4745736"/>
            <a:ext cx="2011680" cy="201168"/>
          </a:xfrm>
          <a:prstGeom prst="rect">
            <a:avLst/>
          </a:prstGeom>
          <a:noFill/>
        </p:spPr>
        <p:txBody>
          <a:bodyPr wrap="square" lIns="0" tIns="0" rIns="0" bIns="0" anchor="t">
            <a:spAutoFit/>
          </a:bodyPr>
          <a:lstStyle/>
          <a:p>
            <a:pPr algn="l">
              <a:lnSpc>
                <a:spcPct val="100000"/>
              </a:lnSpc>
            </a:pPr>
            <a:r>
              <a:rPr sz="1100" b="1">
                <a:solidFill>
                  <a:srgbClr val="1C7293"/>
                </a:solidFill>
                <a:latin typeface="Calibri"/>
              </a:rPr>
              <a:t>CT-9001</a:t>
            </a:r>
          </a:p>
        </p:txBody>
      </p:sp>
      <p:sp>
        <p:nvSpPr>
          <p:cNvPr id="54" name="TextBox 53"/>
          <p:cNvSpPr txBox="1"/>
          <p:nvPr/>
        </p:nvSpPr>
        <p:spPr>
          <a:xfrm>
            <a:off x="749808" y="4965192"/>
            <a:ext cx="2011680" cy="201168"/>
          </a:xfrm>
          <a:prstGeom prst="rect">
            <a:avLst/>
          </a:prstGeom>
          <a:noFill/>
        </p:spPr>
        <p:txBody>
          <a:bodyPr wrap="square" lIns="0" tIns="0" rIns="0" bIns="0" anchor="t">
            <a:spAutoFit/>
          </a:bodyPr>
          <a:lstStyle/>
          <a:p>
            <a:pPr algn="l">
              <a:lnSpc>
                <a:spcPct val="100000"/>
              </a:lnSpc>
            </a:pPr>
            <a:r>
              <a:rPr sz="950" b="0">
                <a:solidFill>
                  <a:srgbClr val="2E8B57"/>
                </a:solidFill>
                <a:latin typeface="Consolas"/>
              </a:rPr>
              <a:t>→  fhir-payerb</a:t>
            </a:r>
          </a:p>
        </p:txBody>
      </p:sp>
      <p:sp>
        <p:nvSpPr>
          <p:cNvPr id="55" name="Rounded Rectangle 54"/>
          <p:cNvSpPr/>
          <p:nvPr/>
        </p:nvSpPr>
        <p:spPr>
          <a:xfrm>
            <a:off x="3035808" y="3877056"/>
            <a:ext cx="4224528" cy="1353312"/>
          </a:xfrm>
          <a:prstGeom prst="roundRect">
            <a:avLst>
              <a:gd name="adj" fmla="val 6000"/>
            </a:avLst>
          </a:prstGeom>
          <a:solidFill>
            <a:srgbClr val="FFFFFF"/>
          </a:solidFill>
          <a:ln w="9525">
            <a:solidFill>
              <a:srgbClr val="D8E2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6" name="TextBox 55"/>
          <p:cNvSpPr txBox="1"/>
          <p:nvPr/>
        </p:nvSpPr>
        <p:spPr>
          <a:xfrm>
            <a:off x="3255263" y="4023360"/>
            <a:ext cx="2743200" cy="274320"/>
          </a:xfrm>
          <a:prstGeom prst="rect">
            <a:avLst/>
          </a:prstGeom>
          <a:noFill/>
        </p:spPr>
        <p:txBody>
          <a:bodyPr wrap="square" lIns="0" tIns="0" rIns="0" bIns="0" anchor="t">
            <a:spAutoFit/>
          </a:bodyPr>
          <a:lstStyle/>
          <a:p>
            <a:pPr algn="l">
              <a:lnSpc>
                <a:spcPct val="100000"/>
              </a:lnSpc>
            </a:pPr>
            <a:r>
              <a:rPr sz="1400" b="1">
                <a:solidFill>
                  <a:srgbClr val="1C7293"/>
                </a:solidFill>
                <a:latin typeface="Consolas"/>
              </a:rPr>
              <a:t>/payerb/inbound</a:t>
            </a:r>
          </a:p>
        </p:txBody>
      </p:sp>
      <p:sp>
        <p:nvSpPr>
          <p:cNvPr id="57" name="TextBox 56"/>
          <p:cNvSpPr txBox="1"/>
          <p:nvPr/>
        </p:nvSpPr>
        <p:spPr>
          <a:xfrm>
            <a:off x="5705856" y="4059936"/>
            <a:ext cx="1335024" cy="219456"/>
          </a:xfrm>
          <a:prstGeom prst="rect">
            <a:avLst/>
          </a:prstGeom>
          <a:noFill/>
        </p:spPr>
        <p:txBody>
          <a:bodyPr wrap="square" lIns="0" tIns="0" rIns="0" bIns="0" anchor="t">
            <a:spAutoFit/>
          </a:bodyPr>
          <a:lstStyle/>
          <a:p>
            <a:pPr algn="r">
              <a:lnSpc>
                <a:spcPct val="100000"/>
              </a:lnSpc>
            </a:pPr>
            <a:r>
              <a:rPr sz="950" b="0">
                <a:solidFill>
                  <a:srgbClr val="5A6B7B"/>
                </a:solidFill>
                <a:latin typeface="Consolas"/>
              </a:rPr>
              <a:t>171 lines</a:t>
            </a:r>
          </a:p>
        </p:txBody>
      </p:sp>
      <p:sp>
        <p:nvSpPr>
          <p:cNvPr id="58" name="Rectangle 57"/>
          <p:cNvSpPr/>
          <p:nvPr/>
        </p:nvSpPr>
        <p:spPr>
          <a:xfrm>
            <a:off x="3255263" y="4370832"/>
            <a:ext cx="3785615" cy="10972"/>
          </a:xfrm>
          <a:prstGeom prst="rect">
            <a:avLst/>
          </a:prstGeom>
          <a:solidFill>
            <a:srgbClr val="D8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TextBox 58"/>
          <p:cNvSpPr txBox="1"/>
          <p:nvPr/>
        </p:nvSpPr>
        <p:spPr>
          <a:xfrm>
            <a:off x="3255263" y="4480559"/>
            <a:ext cx="868680" cy="201168"/>
          </a:xfrm>
          <a:prstGeom prst="rect">
            <a:avLst/>
          </a:prstGeom>
          <a:noFill/>
        </p:spPr>
        <p:txBody>
          <a:bodyPr wrap="square" lIns="0" tIns="0" rIns="0" bIns="0" anchor="t">
            <a:spAutoFit/>
          </a:bodyPr>
          <a:lstStyle/>
          <a:p>
            <a:pPr algn="l">
              <a:lnSpc>
                <a:spcPct val="100000"/>
              </a:lnSpc>
            </a:pPr>
            <a:r>
              <a:rPr sz="850" b="1">
                <a:solidFill>
                  <a:srgbClr val="5A6B7B"/>
                </a:solidFill>
                <a:latin typeface="Calibri"/>
              </a:rPr>
              <a:t>CALLER</a:t>
            </a:r>
          </a:p>
        </p:txBody>
      </p:sp>
      <p:sp>
        <p:nvSpPr>
          <p:cNvPr id="60" name="TextBox 59"/>
          <p:cNvSpPr txBox="1"/>
          <p:nvPr/>
        </p:nvSpPr>
        <p:spPr>
          <a:xfrm>
            <a:off x="4151376" y="4462272"/>
            <a:ext cx="2889504" cy="219456"/>
          </a:xfrm>
          <a:prstGeom prst="rect">
            <a:avLst/>
          </a:prstGeom>
          <a:noFill/>
        </p:spPr>
        <p:txBody>
          <a:bodyPr wrap="square" lIns="0" tIns="0" rIns="0" bIns="0" anchor="t">
            <a:spAutoFit/>
          </a:bodyPr>
          <a:lstStyle/>
          <a:p>
            <a:pPr algn="l">
              <a:lnSpc>
                <a:spcPct val="100000"/>
              </a:lnSpc>
            </a:pPr>
            <a:r>
              <a:rPr sz="1050" b="0">
                <a:solidFill>
                  <a:srgbClr val="12283D"/>
                </a:solidFill>
                <a:latin typeface="Calibri"/>
              </a:rPr>
              <a:t>Northwind Health ingest pipeline</a:t>
            </a:r>
          </a:p>
        </p:txBody>
      </p:sp>
      <p:sp>
        <p:nvSpPr>
          <p:cNvPr id="61" name="TextBox 60"/>
          <p:cNvSpPr txBox="1"/>
          <p:nvPr/>
        </p:nvSpPr>
        <p:spPr>
          <a:xfrm>
            <a:off x="3255263" y="4718303"/>
            <a:ext cx="868680" cy="201168"/>
          </a:xfrm>
          <a:prstGeom prst="rect">
            <a:avLst/>
          </a:prstGeom>
          <a:noFill/>
        </p:spPr>
        <p:txBody>
          <a:bodyPr wrap="square" lIns="0" tIns="0" rIns="0" bIns="0" anchor="t">
            <a:spAutoFit/>
          </a:bodyPr>
          <a:lstStyle/>
          <a:p>
            <a:pPr algn="l">
              <a:lnSpc>
                <a:spcPct val="100000"/>
              </a:lnSpc>
            </a:pPr>
            <a:r>
              <a:rPr sz="850" b="1">
                <a:solidFill>
                  <a:srgbClr val="5A6B7B"/>
                </a:solidFill>
                <a:latin typeface="Calibri"/>
              </a:rPr>
              <a:t>VERBS</a:t>
            </a:r>
          </a:p>
        </p:txBody>
      </p:sp>
      <p:sp>
        <p:nvSpPr>
          <p:cNvPr id="62" name="TextBox 61"/>
          <p:cNvSpPr txBox="1"/>
          <p:nvPr/>
        </p:nvSpPr>
        <p:spPr>
          <a:xfrm>
            <a:off x="4151376" y="4700016"/>
            <a:ext cx="2889504" cy="219456"/>
          </a:xfrm>
          <a:prstGeom prst="rect">
            <a:avLst/>
          </a:prstGeom>
          <a:noFill/>
        </p:spPr>
        <p:txBody>
          <a:bodyPr wrap="square" lIns="0" tIns="0" rIns="0" bIns="0" anchor="t">
            <a:spAutoFit/>
          </a:bodyPr>
          <a:lstStyle/>
          <a:p>
            <a:pPr algn="l">
              <a:lnSpc>
                <a:spcPct val="100000"/>
              </a:lnSpc>
            </a:pPr>
            <a:r>
              <a:rPr sz="1050" b="0">
                <a:solidFill>
                  <a:srgbClr val="12283D"/>
                </a:solidFill>
                <a:latin typeface="Calibri"/>
              </a:rPr>
              <a:t>GET · POST · PUT · DELETE</a:t>
            </a:r>
          </a:p>
        </p:txBody>
      </p:sp>
      <p:sp>
        <p:nvSpPr>
          <p:cNvPr id="63" name="TextBox 62"/>
          <p:cNvSpPr txBox="1"/>
          <p:nvPr/>
        </p:nvSpPr>
        <p:spPr>
          <a:xfrm>
            <a:off x="3255263" y="4956048"/>
            <a:ext cx="868680" cy="201168"/>
          </a:xfrm>
          <a:prstGeom prst="rect">
            <a:avLst/>
          </a:prstGeom>
          <a:noFill/>
        </p:spPr>
        <p:txBody>
          <a:bodyPr wrap="square" lIns="0" tIns="0" rIns="0" bIns="0" anchor="t">
            <a:spAutoFit/>
          </a:bodyPr>
          <a:lstStyle/>
          <a:p>
            <a:pPr algn="l">
              <a:lnSpc>
                <a:spcPct val="100000"/>
              </a:lnSpc>
            </a:pPr>
            <a:r>
              <a:rPr sz="850" b="1">
                <a:solidFill>
                  <a:srgbClr val="5A6B7B"/>
                </a:solidFill>
                <a:latin typeface="Calibri"/>
              </a:rPr>
              <a:t>$EXPORT</a:t>
            </a:r>
          </a:p>
        </p:txBody>
      </p:sp>
      <p:sp>
        <p:nvSpPr>
          <p:cNvPr id="64" name="TextBox 63"/>
          <p:cNvSpPr txBox="1"/>
          <p:nvPr/>
        </p:nvSpPr>
        <p:spPr>
          <a:xfrm>
            <a:off x="4151376" y="4937760"/>
            <a:ext cx="2889504" cy="219456"/>
          </a:xfrm>
          <a:prstGeom prst="rect">
            <a:avLst/>
          </a:prstGeom>
          <a:noFill/>
        </p:spPr>
        <p:txBody>
          <a:bodyPr wrap="square" lIns="0" tIns="0" rIns="0" bIns="0" anchor="t">
            <a:spAutoFit/>
          </a:bodyPr>
          <a:lstStyle/>
          <a:p>
            <a:pPr algn="l">
              <a:lnSpc>
                <a:spcPct val="100000"/>
              </a:lnSpc>
            </a:pPr>
            <a:r>
              <a:rPr sz="1050" b="1">
                <a:solidFill>
                  <a:srgbClr val="B03A2B"/>
                </a:solidFill>
                <a:latin typeface="Calibri"/>
              </a:rPr>
              <a:t>$export denied</a:t>
            </a:r>
          </a:p>
        </p:txBody>
      </p:sp>
      <p:sp>
        <p:nvSpPr>
          <p:cNvPr id="65" name="Rounded Rectangle 64"/>
          <p:cNvSpPr/>
          <p:nvPr/>
        </p:nvSpPr>
        <p:spPr>
          <a:xfrm>
            <a:off x="7406640" y="3877056"/>
            <a:ext cx="4224528" cy="1353312"/>
          </a:xfrm>
          <a:prstGeom prst="roundRect">
            <a:avLst>
              <a:gd name="adj" fmla="val 6000"/>
            </a:avLst>
          </a:prstGeom>
          <a:solidFill>
            <a:srgbClr val="FFFFFF"/>
          </a:solidFill>
          <a:ln w="9525">
            <a:solidFill>
              <a:srgbClr val="D8E2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6" name="TextBox 65"/>
          <p:cNvSpPr txBox="1"/>
          <p:nvPr/>
        </p:nvSpPr>
        <p:spPr>
          <a:xfrm>
            <a:off x="7626096" y="4023360"/>
            <a:ext cx="2743200" cy="274320"/>
          </a:xfrm>
          <a:prstGeom prst="rect">
            <a:avLst/>
          </a:prstGeom>
          <a:noFill/>
        </p:spPr>
        <p:txBody>
          <a:bodyPr wrap="square" lIns="0" tIns="0" rIns="0" bIns="0" anchor="t">
            <a:spAutoFit/>
          </a:bodyPr>
          <a:lstStyle/>
          <a:p>
            <a:pPr algn="l">
              <a:lnSpc>
                <a:spcPct val="100000"/>
              </a:lnSpc>
            </a:pPr>
            <a:r>
              <a:rPr sz="1400" b="1">
                <a:solidFill>
                  <a:srgbClr val="2E8B57"/>
                </a:solidFill>
                <a:latin typeface="Consolas"/>
              </a:rPr>
              <a:t>/payerb/outbound</a:t>
            </a:r>
          </a:p>
        </p:txBody>
      </p:sp>
      <p:sp>
        <p:nvSpPr>
          <p:cNvPr id="67" name="TextBox 66"/>
          <p:cNvSpPr txBox="1"/>
          <p:nvPr/>
        </p:nvSpPr>
        <p:spPr>
          <a:xfrm>
            <a:off x="10076688" y="4059936"/>
            <a:ext cx="1335024" cy="219456"/>
          </a:xfrm>
          <a:prstGeom prst="rect">
            <a:avLst/>
          </a:prstGeom>
          <a:noFill/>
        </p:spPr>
        <p:txBody>
          <a:bodyPr wrap="square" lIns="0" tIns="0" rIns="0" bIns="0" anchor="t">
            <a:spAutoFit/>
          </a:bodyPr>
          <a:lstStyle/>
          <a:p>
            <a:pPr algn="r">
              <a:lnSpc>
                <a:spcPct val="100000"/>
              </a:lnSpc>
            </a:pPr>
            <a:r>
              <a:rPr sz="950" b="0">
                <a:solidFill>
                  <a:srgbClr val="5A6B7B"/>
                </a:solidFill>
                <a:latin typeface="Consolas"/>
              </a:rPr>
              <a:t>351 lines</a:t>
            </a:r>
          </a:p>
        </p:txBody>
      </p:sp>
      <p:sp>
        <p:nvSpPr>
          <p:cNvPr id="68" name="Rectangle 67"/>
          <p:cNvSpPr/>
          <p:nvPr/>
        </p:nvSpPr>
        <p:spPr>
          <a:xfrm>
            <a:off x="7626096" y="4370832"/>
            <a:ext cx="3785615" cy="10972"/>
          </a:xfrm>
          <a:prstGeom prst="rect">
            <a:avLst/>
          </a:prstGeom>
          <a:solidFill>
            <a:srgbClr val="D8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9" name="TextBox 68"/>
          <p:cNvSpPr txBox="1"/>
          <p:nvPr/>
        </p:nvSpPr>
        <p:spPr>
          <a:xfrm>
            <a:off x="7626096" y="4480559"/>
            <a:ext cx="868680" cy="201168"/>
          </a:xfrm>
          <a:prstGeom prst="rect">
            <a:avLst/>
          </a:prstGeom>
          <a:noFill/>
        </p:spPr>
        <p:txBody>
          <a:bodyPr wrap="square" lIns="0" tIns="0" rIns="0" bIns="0" anchor="t">
            <a:spAutoFit/>
          </a:bodyPr>
          <a:lstStyle/>
          <a:p>
            <a:pPr algn="l">
              <a:lnSpc>
                <a:spcPct val="100000"/>
              </a:lnSpc>
            </a:pPr>
            <a:r>
              <a:rPr sz="850" b="1">
                <a:solidFill>
                  <a:srgbClr val="5A6B7B"/>
                </a:solidFill>
                <a:latin typeface="Calibri"/>
              </a:rPr>
              <a:t>CALLER</a:t>
            </a:r>
          </a:p>
        </p:txBody>
      </p:sp>
      <p:sp>
        <p:nvSpPr>
          <p:cNvPr id="70" name="TextBox 69"/>
          <p:cNvSpPr txBox="1"/>
          <p:nvPr/>
        </p:nvSpPr>
        <p:spPr>
          <a:xfrm>
            <a:off x="8522208" y="4462272"/>
            <a:ext cx="2889504" cy="219456"/>
          </a:xfrm>
          <a:prstGeom prst="rect">
            <a:avLst/>
          </a:prstGeom>
          <a:noFill/>
        </p:spPr>
        <p:txBody>
          <a:bodyPr wrap="square" lIns="0" tIns="0" rIns="0" bIns="0" anchor="t">
            <a:spAutoFit/>
          </a:bodyPr>
          <a:lstStyle/>
          <a:p>
            <a:pPr algn="l">
              <a:lnSpc>
                <a:spcPct val="100000"/>
              </a:lnSpc>
            </a:pPr>
            <a:r>
              <a:rPr sz="1050" b="0" dirty="0">
                <a:solidFill>
                  <a:srgbClr val="12283D"/>
                </a:solidFill>
                <a:latin typeface="Calibri"/>
              </a:rPr>
              <a:t>Fabrikam only</a:t>
            </a:r>
          </a:p>
        </p:txBody>
      </p:sp>
      <p:sp>
        <p:nvSpPr>
          <p:cNvPr id="71" name="TextBox 70"/>
          <p:cNvSpPr txBox="1"/>
          <p:nvPr/>
        </p:nvSpPr>
        <p:spPr>
          <a:xfrm>
            <a:off x="7626096" y="4718303"/>
            <a:ext cx="868680" cy="201168"/>
          </a:xfrm>
          <a:prstGeom prst="rect">
            <a:avLst/>
          </a:prstGeom>
          <a:noFill/>
        </p:spPr>
        <p:txBody>
          <a:bodyPr wrap="square" lIns="0" tIns="0" rIns="0" bIns="0" anchor="t">
            <a:spAutoFit/>
          </a:bodyPr>
          <a:lstStyle/>
          <a:p>
            <a:pPr algn="l">
              <a:lnSpc>
                <a:spcPct val="100000"/>
              </a:lnSpc>
            </a:pPr>
            <a:r>
              <a:rPr sz="850" b="1">
                <a:solidFill>
                  <a:srgbClr val="5A6B7B"/>
                </a:solidFill>
                <a:latin typeface="Calibri"/>
              </a:rPr>
              <a:t>VERBS</a:t>
            </a:r>
          </a:p>
        </p:txBody>
      </p:sp>
      <p:sp>
        <p:nvSpPr>
          <p:cNvPr id="72" name="TextBox 71"/>
          <p:cNvSpPr txBox="1"/>
          <p:nvPr/>
        </p:nvSpPr>
        <p:spPr>
          <a:xfrm>
            <a:off x="8522208" y="4700016"/>
            <a:ext cx="2889504" cy="219456"/>
          </a:xfrm>
          <a:prstGeom prst="rect">
            <a:avLst/>
          </a:prstGeom>
          <a:noFill/>
        </p:spPr>
        <p:txBody>
          <a:bodyPr wrap="square" lIns="0" tIns="0" rIns="0" bIns="0" anchor="t">
            <a:spAutoFit/>
          </a:bodyPr>
          <a:lstStyle/>
          <a:p>
            <a:pPr algn="l">
              <a:lnSpc>
                <a:spcPct val="100000"/>
              </a:lnSpc>
            </a:pPr>
            <a:r>
              <a:rPr sz="1050" b="0">
                <a:solidFill>
                  <a:srgbClr val="12283D"/>
                </a:solidFill>
                <a:latin typeface="Calibri"/>
              </a:rPr>
              <a:t>GET only</a:t>
            </a:r>
          </a:p>
        </p:txBody>
      </p:sp>
      <p:sp>
        <p:nvSpPr>
          <p:cNvPr id="73" name="TextBox 72"/>
          <p:cNvSpPr txBox="1"/>
          <p:nvPr/>
        </p:nvSpPr>
        <p:spPr>
          <a:xfrm>
            <a:off x="7626096" y="4956048"/>
            <a:ext cx="868680" cy="201168"/>
          </a:xfrm>
          <a:prstGeom prst="rect">
            <a:avLst/>
          </a:prstGeom>
          <a:noFill/>
        </p:spPr>
        <p:txBody>
          <a:bodyPr wrap="square" lIns="0" tIns="0" rIns="0" bIns="0" anchor="t">
            <a:spAutoFit/>
          </a:bodyPr>
          <a:lstStyle/>
          <a:p>
            <a:pPr algn="l">
              <a:lnSpc>
                <a:spcPct val="100000"/>
              </a:lnSpc>
            </a:pPr>
            <a:r>
              <a:rPr sz="850" b="1">
                <a:solidFill>
                  <a:srgbClr val="5A6B7B"/>
                </a:solidFill>
                <a:latin typeface="Calibri"/>
              </a:rPr>
              <a:t>$EXPORT</a:t>
            </a:r>
          </a:p>
        </p:txBody>
      </p:sp>
      <p:sp>
        <p:nvSpPr>
          <p:cNvPr id="74" name="TextBox 73"/>
          <p:cNvSpPr txBox="1"/>
          <p:nvPr/>
        </p:nvSpPr>
        <p:spPr>
          <a:xfrm>
            <a:off x="8522208" y="4937760"/>
            <a:ext cx="2889504" cy="219456"/>
          </a:xfrm>
          <a:prstGeom prst="rect">
            <a:avLst/>
          </a:prstGeom>
          <a:noFill/>
        </p:spPr>
        <p:txBody>
          <a:bodyPr wrap="square" lIns="0" tIns="0" rIns="0" bIns="0" anchor="t">
            <a:spAutoFit/>
          </a:bodyPr>
          <a:lstStyle/>
          <a:p>
            <a:pPr algn="l">
              <a:lnSpc>
                <a:spcPct val="100000"/>
              </a:lnSpc>
            </a:pPr>
            <a:r>
              <a:rPr sz="1050" b="1">
                <a:solidFill>
                  <a:srgbClr val="2E8B57"/>
                </a:solidFill>
                <a:latin typeface="Calibri"/>
              </a:rPr>
              <a:t>Group/{id}/$export only</a:t>
            </a:r>
          </a:p>
        </p:txBody>
      </p:sp>
      <p:sp>
        <p:nvSpPr>
          <p:cNvPr id="75" name="Rounded Rectangle 74"/>
          <p:cNvSpPr/>
          <p:nvPr/>
        </p:nvSpPr>
        <p:spPr>
          <a:xfrm>
            <a:off x="566928" y="5321808"/>
            <a:ext cx="3566160" cy="914400"/>
          </a:xfrm>
          <a:prstGeom prst="roundRect">
            <a:avLst>
              <a:gd name="adj" fmla="val 6000"/>
            </a:avLst>
          </a:prstGeom>
          <a:solidFill>
            <a:srgbClr val="FFFFFF"/>
          </a:solidFill>
          <a:ln w="9525">
            <a:solidFill>
              <a:srgbClr val="D8E2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6" name="TextBox 75"/>
          <p:cNvSpPr txBox="1"/>
          <p:nvPr/>
        </p:nvSpPr>
        <p:spPr>
          <a:xfrm>
            <a:off x="768096" y="5458968"/>
            <a:ext cx="3163824" cy="182880"/>
          </a:xfrm>
          <a:prstGeom prst="rect">
            <a:avLst/>
          </a:prstGeom>
          <a:noFill/>
        </p:spPr>
        <p:txBody>
          <a:bodyPr wrap="square" lIns="0" tIns="0" rIns="0" bIns="0" anchor="t">
            <a:spAutoFit/>
          </a:bodyPr>
          <a:lstStyle/>
          <a:p>
            <a:pPr algn="l">
              <a:lnSpc>
                <a:spcPct val="100000"/>
              </a:lnSpc>
            </a:pPr>
            <a:r>
              <a:rPr sz="850" b="1">
                <a:solidFill>
                  <a:srgbClr val="1C7293"/>
                </a:solidFill>
                <a:latin typeface="Calibri"/>
              </a:rPr>
              <a:t>WHO THIS IS FOR</a:t>
            </a:r>
          </a:p>
        </p:txBody>
      </p:sp>
      <p:sp>
        <p:nvSpPr>
          <p:cNvPr id="77" name="TextBox 76"/>
          <p:cNvSpPr txBox="1"/>
          <p:nvPr/>
        </p:nvSpPr>
        <p:spPr>
          <a:xfrm>
            <a:off x="768096" y="5687568"/>
            <a:ext cx="3163824" cy="475488"/>
          </a:xfrm>
          <a:prstGeom prst="rect">
            <a:avLst/>
          </a:prstGeom>
          <a:noFill/>
        </p:spPr>
        <p:txBody>
          <a:bodyPr wrap="square" lIns="0" tIns="0" rIns="0" bIns="0" anchor="t">
            <a:spAutoFit/>
          </a:bodyPr>
          <a:lstStyle/>
          <a:p>
            <a:pPr algn="l">
              <a:lnSpc>
                <a:spcPct val="118000"/>
              </a:lnSpc>
            </a:pPr>
            <a:r>
              <a:rPr sz="1000" b="0">
                <a:solidFill>
                  <a:srgbClr val="5A6B7B"/>
                </a:solidFill>
                <a:latin typeface="Calibri"/>
              </a:rPr>
              <a:t>Northwind Health — Enterprise Architecture, Integration Engineering, Platform Engineering.  Built by Microsoft Health &amp; Life Sciences.</a:t>
            </a:r>
          </a:p>
        </p:txBody>
      </p:sp>
      <p:sp>
        <p:nvSpPr>
          <p:cNvPr id="78" name="Rounded Rectangle 77"/>
          <p:cNvSpPr/>
          <p:nvPr/>
        </p:nvSpPr>
        <p:spPr>
          <a:xfrm>
            <a:off x="4315968" y="5321808"/>
            <a:ext cx="3566160" cy="914400"/>
          </a:xfrm>
          <a:prstGeom prst="roundRect">
            <a:avLst>
              <a:gd name="adj" fmla="val 6000"/>
            </a:avLst>
          </a:prstGeom>
          <a:solidFill>
            <a:srgbClr val="FFFFFF"/>
          </a:solidFill>
          <a:ln w="9525">
            <a:solidFill>
              <a:srgbClr val="D8E2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9" name="TextBox 78"/>
          <p:cNvSpPr txBox="1"/>
          <p:nvPr/>
        </p:nvSpPr>
        <p:spPr>
          <a:xfrm>
            <a:off x="4517136" y="5458968"/>
            <a:ext cx="3163824" cy="182880"/>
          </a:xfrm>
          <a:prstGeom prst="rect">
            <a:avLst/>
          </a:prstGeom>
          <a:noFill/>
        </p:spPr>
        <p:txBody>
          <a:bodyPr wrap="square" lIns="0" tIns="0" rIns="0" bIns="0" anchor="t">
            <a:spAutoFit/>
          </a:bodyPr>
          <a:lstStyle/>
          <a:p>
            <a:pPr algn="l">
              <a:lnSpc>
                <a:spcPct val="100000"/>
              </a:lnSpc>
            </a:pPr>
            <a:r>
              <a:rPr sz="850" b="1">
                <a:solidFill>
                  <a:srgbClr val="1C7293"/>
                </a:solidFill>
                <a:latin typeface="Calibri"/>
              </a:rPr>
              <a:t>WHAT IS RUNNING</a:t>
            </a:r>
          </a:p>
        </p:txBody>
      </p:sp>
      <p:sp>
        <p:nvSpPr>
          <p:cNvPr id="80" name="TextBox 79"/>
          <p:cNvSpPr txBox="1"/>
          <p:nvPr/>
        </p:nvSpPr>
        <p:spPr>
          <a:xfrm>
            <a:off x="4517136" y="5687568"/>
            <a:ext cx="3163824" cy="475488"/>
          </a:xfrm>
          <a:prstGeom prst="rect">
            <a:avLst/>
          </a:prstGeom>
          <a:noFill/>
        </p:spPr>
        <p:txBody>
          <a:bodyPr wrap="square" lIns="0" tIns="0" rIns="0" bIns="0" anchor="t">
            <a:spAutoFit/>
          </a:bodyPr>
          <a:lstStyle/>
          <a:p>
            <a:pPr algn="l">
              <a:lnSpc>
                <a:spcPct val="118000"/>
              </a:lnSpc>
            </a:pPr>
            <a:r>
              <a:rPr sz="1000" b="0">
                <a:solidFill>
                  <a:srgbClr val="5A6B7B"/>
                </a:solidFill>
                <a:latin typeface="Calibri"/>
              </a:rPr>
              <a:t>1 × APIM BasicV2, East US 2  ·  2 × AHDS FHIR service  ·  4 APIs  ·  522 lines of deployed policy.</a:t>
            </a:r>
          </a:p>
        </p:txBody>
      </p:sp>
      <p:sp>
        <p:nvSpPr>
          <p:cNvPr id="81" name="Rounded Rectangle 80"/>
          <p:cNvSpPr/>
          <p:nvPr/>
        </p:nvSpPr>
        <p:spPr>
          <a:xfrm>
            <a:off x="8065008" y="5321808"/>
            <a:ext cx="3566160" cy="914400"/>
          </a:xfrm>
          <a:prstGeom prst="roundRect">
            <a:avLst>
              <a:gd name="adj" fmla="val 6000"/>
            </a:avLst>
          </a:prstGeom>
          <a:solidFill>
            <a:srgbClr val="FAECEA"/>
          </a:solidFill>
          <a:ln w="9525">
            <a:solidFill>
              <a:srgbClr val="B03A2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2" name="TextBox 81"/>
          <p:cNvSpPr txBox="1"/>
          <p:nvPr/>
        </p:nvSpPr>
        <p:spPr>
          <a:xfrm>
            <a:off x="8177048" y="5489083"/>
            <a:ext cx="3163824" cy="130805"/>
          </a:xfrm>
          <a:prstGeom prst="rect">
            <a:avLst/>
          </a:prstGeom>
          <a:noFill/>
        </p:spPr>
        <p:txBody>
          <a:bodyPr wrap="square" lIns="0" tIns="0" rIns="0" bIns="0" anchor="t">
            <a:spAutoFit/>
          </a:bodyPr>
          <a:lstStyle/>
          <a:p>
            <a:pPr algn="l">
              <a:lnSpc>
                <a:spcPct val="100000"/>
              </a:lnSpc>
            </a:pPr>
            <a:r>
              <a:rPr lang="en-US" sz="850" b="1" dirty="0">
                <a:solidFill>
                  <a:srgbClr val="B03A2B"/>
                </a:solidFill>
                <a:latin typeface="Calibri"/>
              </a:rPr>
              <a:t>NOTE</a:t>
            </a:r>
            <a:endParaRPr sz="850" b="1" dirty="0">
              <a:solidFill>
                <a:srgbClr val="B03A2B"/>
              </a:solidFill>
              <a:latin typeface="Calibri"/>
            </a:endParaRPr>
          </a:p>
        </p:txBody>
      </p:sp>
      <p:sp>
        <p:nvSpPr>
          <p:cNvPr id="84" name="TextBox 83"/>
          <p:cNvSpPr txBox="1"/>
          <p:nvPr/>
        </p:nvSpPr>
        <p:spPr>
          <a:xfrm>
            <a:off x="8177048" y="5687568"/>
            <a:ext cx="3289528" cy="351635"/>
          </a:xfrm>
          <a:prstGeom prst="rect">
            <a:avLst/>
          </a:prstGeom>
          <a:noFill/>
        </p:spPr>
        <p:txBody>
          <a:bodyPr wrap="square" lIns="0" tIns="0" rIns="0" bIns="0" anchor="t">
            <a:spAutoFit/>
          </a:bodyPr>
          <a:lstStyle/>
          <a:p>
            <a:pPr algn="l">
              <a:lnSpc>
                <a:spcPct val="118000"/>
              </a:lnSpc>
            </a:pPr>
            <a:r>
              <a:rPr lang="en-US" sz="1000" b="0" dirty="0">
                <a:solidFill>
                  <a:srgbClr val="12283D"/>
                </a:solidFill>
                <a:latin typeface="Calibri"/>
              </a:rPr>
              <a:t>No </a:t>
            </a:r>
            <a:r>
              <a:rPr sz="1000" b="0" dirty="0">
                <a:solidFill>
                  <a:srgbClr val="12283D"/>
                </a:solidFill>
                <a:latin typeface="Calibri"/>
              </a:rPr>
              <a:t>Azure role assignments held by either payer app. </a:t>
            </a:r>
            <a:endParaRPr lang="en-US" sz="1000" b="0" dirty="0">
              <a:solidFill>
                <a:srgbClr val="12283D"/>
              </a:solidFill>
              <a:latin typeface="Calibri"/>
            </a:endParaRPr>
          </a:p>
          <a:p>
            <a:pPr algn="l">
              <a:lnSpc>
                <a:spcPct val="118000"/>
              </a:lnSpc>
            </a:pPr>
            <a:r>
              <a:rPr sz="1000" b="0" dirty="0">
                <a:solidFill>
                  <a:srgbClr val="12283D"/>
                </a:solidFill>
                <a:latin typeface="Calibri"/>
              </a:rPr>
              <a:t>The gateway is the only path in.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8FA"/>
        </a:solidFill>
        <a:effectLst/>
      </p:bgPr>
    </p:bg>
    <p:spTree>
      <p:nvGrpSpPr>
        <p:cNvPr id="1" name=""/>
        <p:cNvGrpSpPr/>
        <p:nvPr/>
      </p:nvGrpSpPr>
      <p:grpSpPr>
        <a:xfrm>
          <a:off x="0" y="0"/>
          <a:ext cx="0" cy="0"/>
          <a:chOff x="0" y="0"/>
          <a:chExt cx="0" cy="0"/>
        </a:xfrm>
      </p:grpSpPr>
      <p:sp>
        <p:nvSpPr>
          <p:cNvPr id="2" name="Rectangle 1"/>
          <p:cNvSpPr/>
          <p:nvPr/>
        </p:nvSpPr>
        <p:spPr>
          <a:xfrm>
            <a:off x="566928" y="420624"/>
            <a:ext cx="68580" cy="65836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77240" y="420624"/>
            <a:ext cx="10789920" cy="237744"/>
          </a:xfrm>
          <a:prstGeom prst="rect">
            <a:avLst/>
          </a:prstGeom>
          <a:noFill/>
        </p:spPr>
        <p:txBody>
          <a:bodyPr wrap="square" lIns="0" tIns="0" rIns="0" bIns="0" anchor="t">
            <a:spAutoFit/>
          </a:bodyPr>
          <a:lstStyle/>
          <a:p>
            <a:pPr algn="l"/>
            <a:r>
              <a:rPr sz="1050" b="1">
                <a:solidFill>
                  <a:srgbClr val="1C7293"/>
                </a:solidFill>
                <a:latin typeface="Calibri"/>
              </a:rPr>
              <a:t>2 · OVERVIEW OF APIM  ·  THE POLICY PIPELINE, ANIMATED</a:t>
            </a:r>
          </a:p>
        </p:txBody>
      </p:sp>
      <p:sp>
        <p:nvSpPr>
          <p:cNvPr id="4" name="TextBox 3"/>
          <p:cNvSpPr txBox="1"/>
          <p:nvPr/>
        </p:nvSpPr>
        <p:spPr>
          <a:xfrm>
            <a:off x="777240" y="658368"/>
            <a:ext cx="10789920" cy="475488"/>
          </a:xfrm>
          <a:prstGeom prst="rect">
            <a:avLst/>
          </a:prstGeom>
          <a:noFill/>
        </p:spPr>
        <p:txBody>
          <a:bodyPr wrap="square" lIns="0" tIns="0" rIns="0" bIns="0" anchor="t">
            <a:spAutoFit/>
          </a:bodyPr>
          <a:lstStyle/>
          <a:p>
            <a:pPr algn="l"/>
            <a:r>
              <a:rPr sz="2700" b="1">
                <a:solidFill>
                  <a:srgbClr val="12283D"/>
                </a:solidFill>
                <a:latin typeface="Cambria"/>
              </a:rPr>
              <a:t>One call, four stages, in order</a:t>
            </a:r>
          </a:p>
        </p:txBody>
      </p:sp>
      <p:pic>
        <p:nvPicPr>
          <p:cNvPr id="5" name="Picture 4" descr="policy-pipeline.gif"/>
          <p:cNvPicPr>
            <a:picLocks noChangeAspect="1"/>
          </p:cNvPicPr>
          <p:nvPr/>
        </p:nvPicPr>
        <p:blipFill>
          <a:blip r:embed="rId3"/>
          <a:stretch>
            <a:fillRect/>
          </a:stretch>
        </p:blipFill>
        <p:spPr>
          <a:xfrm>
            <a:off x="1158087" y="1261872"/>
            <a:ext cx="9875520" cy="4937760"/>
          </a:xfrm>
          <a:prstGeom prst="rect">
            <a:avLst/>
          </a:prstGeom>
          <a:ln w="9525">
            <a:solidFill>
              <a:srgbClr val="D8E2EA"/>
            </a:solidFill>
          </a:ln>
        </p:spPr>
      </p:pic>
      <p:sp>
        <p:nvSpPr>
          <p:cNvPr id="6" name="Rectangle 5"/>
          <p:cNvSpPr/>
          <p:nvPr/>
        </p:nvSpPr>
        <p:spPr>
          <a:xfrm>
            <a:off x="566928" y="6345936"/>
            <a:ext cx="11064240" cy="12801"/>
          </a:xfrm>
          <a:prstGeom prst="rect">
            <a:avLst/>
          </a:prstGeom>
          <a:solidFill>
            <a:srgbClr val="D8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058400" y="6428232"/>
            <a:ext cx="1572768" cy="219456"/>
          </a:xfrm>
          <a:prstGeom prst="rect">
            <a:avLst/>
          </a:prstGeom>
          <a:noFill/>
        </p:spPr>
        <p:txBody>
          <a:bodyPr wrap="square" lIns="0" tIns="0" rIns="0" bIns="0" anchor="t">
            <a:spAutoFit/>
          </a:bodyPr>
          <a:lstStyle/>
          <a:p>
            <a:pPr algn="r"/>
            <a:r>
              <a:rPr sz="900" b="0">
                <a:solidFill>
                  <a:srgbClr val="5A6B7B"/>
                </a:solidFill>
                <a:latin typeface="Calibri"/>
              </a:rPr>
              <a:t>08</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8FA"/>
        </a:solidFill>
        <a:effectLst/>
      </p:bgPr>
    </p:bg>
    <p:spTree>
      <p:nvGrpSpPr>
        <p:cNvPr id="1" name=""/>
        <p:cNvGrpSpPr/>
        <p:nvPr/>
      </p:nvGrpSpPr>
      <p:grpSpPr>
        <a:xfrm>
          <a:off x="0" y="0"/>
          <a:ext cx="0" cy="0"/>
          <a:chOff x="0" y="0"/>
          <a:chExt cx="0" cy="0"/>
        </a:xfrm>
      </p:grpSpPr>
      <p:sp>
        <p:nvSpPr>
          <p:cNvPr id="2" name="Rectangle 1"/>
          <p:cNvSpPr/>
          <p:nvPr/>
        </p:nvSpPr>
        <p:spPr>
          <a:xfrm>
            <a:off x="566928" y="420624"/>
            <a:ext cx="68580" cy="65836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749807" y="516987"/>
            <a:ext cx="10789920" cy="415498"/>
          </a:xfrm>
          <a:prstGeom prst="rect">
            <a:avLst/>
          </a:prstGeom>
          <a:noFill/>
        </p:spPr>
        <p:txBody>
          <a:bodyPr wrap="square" lIns="0" tIns="0" rIns="0" bIns="0" anchor="t">
            <a:spAutoFit/>
          </a:bodyPr>
          <a:lstStyle/>
          <a:p>
            <a:pPr algn="l">
              <a:lnSpc>
                <a:spcPct val="100000"/>
              </a:lnSpc>
            </a:pPr>
            <a:r>
              <a:rPr lang="en-US" sz="2700" b="1" i="0" dirty="0">
                <a:solidFill>
                  <a:srgbClr val="12283D"/>
                </a:solidFill>
                <a:latin typeface="Cambria"/>
              </a:rPr>
              <a:t>Architecture : </a:t>
            </a:r>
            <a:r>
              <a:rPr sz="2700" b="1" i="0" dirty="0">
                <a:solidFill>
                  <a:srgbClr val="12283D"/>
                </a:solidFill>
                <a:latin typeface="Cambria"/>
              </a:rPr>
              <a:t>Where the gateway sits</a:t>
            </a:r>
          </a:p>
        </p:txBody>
      </p:sp>
      <p:sp>
        <p:nvSpPr>
          <p:cNvPr id="5" name="Rectangle 4"/>
          <p:cNvSpPr/>
          <p:nvPr/>
        </p:nvSpPr>
        <p:spPr>
          <a:xfrm>
            <a:off x="566928" y="6345936"/>
            <a:ext cx="11064240" cy="12801"/>
          </a:xfrm>
          <a:prstGeom prst="rect">
            <a:avLst/>
          </a:prstGeom>
          <a:solidFill>
            <a:srgbClr val="D8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0058400" y="6428232"/>
            <a:ext cx="1572768" cy="219456"/>
          </a:xfrm>
          <a:prstGeom prst="rect">
            <a:avLst/>
          </a:prstGeom>
          <a:noFill/>
        </p:spPr>
        <p:txBody>
          <a:bodyPr wrap="square" lIns="0" tIns="0" rIns="0" bIns="0" anchor="t">
            <a:spAutoFit/>
          </a:bodyPr>
          <a:lstStyle/>
          <a:p>
            <a:pPr algn="r">
              <a:lnSpc>
                <a:spcPct val="100000"/>
              </a:lnSpc>
            </a:pPr>
            <a:r>
              <a:rPr sz="900" b="0" i="0">
                <a:solidFill>
                  <a:srgbClr val="5A6B7B"/>
                </a:solidFill>
                <a:latin typeface="Calibri"/>
              </a:rPr>
              <a:t>09</a:t>
            </a:r>
          </a:p>
        </p:txBody>
      </p:sp>
      <p:sp>
        <p:nvSpPr>
          <p:cNvPr id="8" name="TextBox 7"/>
          <p:cNvSpPr txBox="1"/>
          <p:nvPr/>
        </p:nvSpPr>
        <p:spPr>
          <a:xfrm>
            <a:off x="566928" y="1371600"/>
            <a:ext cx="11064240" cy="256032"/>
          </a:xfrm>
          <a:prstGeom prst="rect">
            <a:avLst/>
          </a:prstGeom>
          <a:noFill/>
        </p:spPr>
        <p:txBody>
          <a:bodyPr wrap="square" lIns="0" tIns="0" rIns="0" bIns="0" anchor="t">
            <a:spAutoFit/>
          </a:bodyPr>
          <a:lstStyle/>
          <a:p>
            <a:pPr algn="l">
              <a:lnSpc>
                <a:spcPct val="100000"/>
              </a:lnSpc>
            </a:pPr>
            <a:r>
              <a:rPr sz="1050" b="1" i="0">
                <a:solidFill>
                  <a:srgbClr val="5A6B7B"/>
                </a:solidFill>
                <a:latin typeface="Calibri"/>
              </a:rPr>
              <a:t>PAYERS</a:t>
            </a:r>
          </a:p>
        </p:txBody>
      </p:sp>
      <p:sp>
        <p:nvSpPr>
          <p:cNvPr id="9" name="Rounded Rectangle 8"/>
          <p:cNvSpPr/>
          <p:nvPr/>
        </p:nvSpPr>
        <p:spPr>
          <a:xfrm>
            <a:off x="566928" y="1645920"/>
            <a:ext cx="2606040" cy="914400"/>
          </a:xfrm>
          <a:prstGeom prst="roundRect">
            <a:avLst>
              <a:gd name="adj" fmla="val 6000"/>
            </a:avLst>
          </a:prstGeom>
          <a:solidFill>
            <a:srgbClr val="FFFFFF"/>
          </a:solidFill>
          <a:ln w="9525">
            <a:solidFill>
              <a:srgbClr val="4FA6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49808" y="1810512"/>
            <a:ext cx="2286000" cy="237744"/>
          </a:xfrm>
          <a:prstGeom prst="rect">
            <a:avLst/>
          </a:prstGeom>
          <a:noFill/>
        </p:spPr>
        <p:txBody>
          <a:bodyPr wrap="square" lIns="0" tIns="0" rIns="0" bIns="0" anchor="t">
            <a:spAutoFit/>
          </a:bodyPr>
          <a:lstStyle/>
          <a:p>
            <a:pPr algn="l">
              <a:lnSpc>
                <a:spcPct val="100000"/>
              </a:lnSpc>
            </a:pPr>
            <a:r>
              <a:rPr sz="1250" b="1" i="0">
                <a:solidFill>
                  <a:srgbClr val="12283D"/>
                </a:solidFill>
                <a:latin typeface="Calibri"/>
              </a:rPr>
              <a:t>Contoso Health Plan</a:t>
            </a:r>
          </a:p>
        </p:txBody>
      </p:sp>
      <p:sp>
        <p:nvSpPr>
          <p:cNvPr id="11" name="TextBox 10"/>
          <p:cNvSpPr txBox="1"/>
          <p:nvPr/>
        </p:nvSpPr>
        <p:spPr>
          <a:xfrm>
            <a:off x="749808" y="2066543"/>
            <a:ext cx="2286000" cy="402336"/>
          </a:xfrm>
          <a:prstGeom prst="rect">
            <a:avLst/>
          </a:prstGeom>
          <a:noFill/>
        </p:spPr>
        <p:txBody>
          <a:bodyPr wrap="square" lIns="0" tIns="0" rIns="0" bIns="0" anchor="t">
            <a:spAutoFit/>
          </a:bodyPr>
          <a:lstStyle/>
          <a:p>
            <a:pPr algn="l">
              <a:lnSpc>
                <a:spcPct val="115000"/>
              </a:lnSpc>
            </a:pPr>
            <a:r>
              <a:rPr sz="1050" b="0" i="0">
                <a:solidFill>
                  <a:srgbClr val="5A6B7B"/>
                </a:solidFill>
                <a:latin typeface="Calibri"/>
              </a:rPr>
              <a:t>CT-3456, CT-7788
northwind-cmsdqm-payera</a:t>
            </a:r>
          </a:p>
        </p:txBody>
      </p:sp>
      <p:sp>
        <p:nvSpPr>
          <p:cNvPr id="12" name="Rounded Rectangle 11"/>
          <p:cNvSpPr/>
          <p:nvPr/>
        </p:nvSpPr>
        <p:spPr>
          <a:xfrm>
            <a:off x="3310128" y="1645920"/>
            <a:ext cx="2606040" cy="914400"/>
          </a:xfrm>
          <a:prstGeom prst="roundRect">
            <a:avLst>
              <a:gd name="adj" fmla="val 6000"/>
            </a:avLst>
          </a:prstGeom>
          <a:solidFill>
            <a:srgbClr val="FFFFFF"/>
          </a:solidFill>
          <a:ln w="9525">
            <a:solidFill>
              <a:srgbClr val="4FA6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3493008" y="1810512"/>
            <a:ext cx="2286000" cy="237744"/>
          </a:xfrm>
          <a:prstGeom prst="rect">
            <a:avLst/>
          </a:prstGeom>
          <a:noFill/>
        </p:spPr>
        <p:txBody>
          <a:bodyPr wrap="square" lIns="0" tIns="0" rIns="0" bIns="0" anchor="t">
            <a:spAutoFit/>
          </a:bodyPr>
          <a:lstStyle/>
          <a:p>
            <a:pPr algn="l">
              <a:lnSpc>
                <a:spcPct val="100000"/>
              </a:lnSpc>
            </a:pPr>
            <a:r>
              <a:rPr sz="1250" b="1" i="0" dirty="0">
                <a:solidFill>
                  <a:srgbClr val="12283D"/>
                </a:solidFill>
                <a:latin typeface="Calibri"/>
              </a:rPr>
              <a:t>Fabrikam Medicare Adv.</a:t>
            </a:r>
          </a:p>
        </p:txBody>
      </p:sp>
      <p:sp>
        <p:nvSpPr>
          <p:cNvPr id="14" name="TextBox 13"/>
          <p:cNvSpPr txBox="1"/>
          <p:nvPr/>
        </p:nvSpPr>
        <p:spPr>
          <a:xfrm>
            <a:off x="3493008" y="2066543"/>
            <a:ext cx="2286000" cy="402336"/>
          </a:xfrm>
          <a:prstGeom prst="rect">
            <a:avLst/>
          </a:prstGeom>
          <a:noFill/>
        </p:spPr>
        <p:txBody>
          <a:bodyPr wrap="square" lIns="0" tIns="0" rIns="0" bIns="0" anchor="t">
            <a:spAutoFit/>
          </a:bodyPr>
          <a:lstStyle/>
          <a:p>
            <a:pPr algn="l">
              <a:lnSpc>
                <a:spcPct val="115000"/>
              </a:lnSpc>
            </a:pPr>
            <a:r>
              <a:rPr sz="1050" b="0" i="0">
                <a:solidFill>
                  <a:srgbClr val="5A6B7B"/>
                </a:solidFill>
                <a:latin typeface="Calibri"/>
              </a:rPr>
              <a:t>CT-9001
northwind-cmsdqm-payerb</a:t>
            </a:r>
          </a:p>
        </p:txBody>
      </p:sp>
      <p:sp>
        <p:nvSpPr>
          <p:cNvPr id="15" name="Rounded Rectangle 14"/>
          <p:cNvSpPr/>
          <p:nvPr/>
        </p:nvSpPr>
        <p:spPr>
          <a:xfrm>
            <a:off x="6400800" y="1645920"/>
            <a:ext cx="5230368" cy="914400"/>
          </a:xfrm>
          <a:prstGeom prst="roundRect">
            <a:avLst>
              <a:gd name="adj" fmla="val 6000"/>
            </a:avLst>
          </a:prstGeom>
          <a:solidFill>
            <a:srgbClr val="0E2A47"/>
          </a:solidFill>
          <a:ln w="9525">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629400" y="1792224"/>
            <a:ext cx="4754880" cy="237744"/>
          </a:xfrm>
          <a:prstGeom prst="rect">
            <a:avLst/>
          </a:prstGeom>
          <a:noFill/>
        </p:spPr>
        <p:txBody>
          <a:bodyPr wrap="square" lIns="0" tIns="0" rIns="0" bIns="0" anchor="t">
            <a:spAutoFit/>
          </a:bodyPr>
          <a:lstStyle/>
          <a:p>
            <a:pPr algn="l">
              <a:lnSpc>
                <a:spcPct val="100000"/>
              </a:lnSpc>
            </a:pPr>
            <a:r>
              <a:rPr sz="1250" b="1" i="0">
                <a:solidFill>
                  <a:srgbClr val="FFFFFF"/>
                </a:solidFill>
                <a:latin typeface="Calibri"/>
              </a:rPr>
              <a:t>Microsoft Entra ID</a:t>
            </a:r>
          </a:p>
        </p:txBody>
      </p:sp>
      <p:sp>
        <p:nvSpPr>
          <p:cNvPr id="17" name="TextBox 16"/>
          <p:cNvSpPr txBox="1"/>
          <p:nvPr/>
        </p:nvSpPr>
        <p:spPr>
          <a:xfrm>
            <a:off x="6629400" y="2066543"/>
            <a:ext cx="4754880" cy="402336"/>
          </a:xfrm>
          <a:prstGeom prst="rect">
            <a:avLst/>
          </a:prstGeom>
          <a:noFill/>
        </p:spPr>
        <p:txBody>
          <a:bodyPr wrap="square" lIns="0" tIns="0" rIns="0" bIns="0" anchor="t">
            <a:spAutoFit/>
          </a:bodyPr>
          <a:lstStyle/>
          <a:p>
            <a:pPr algn="l">
              <a:lnSpc>
                <a:spcPct val="115000"/>
              </a:lnSpc>
            </a:pPr>
            <a:r>
              <a:rPr sz="1050" b="0" i="0">
                <a:solidFill>
                  <a:srgbClr val="CFE3EF"/>
                </a:solidFill>
                <a:latin typeface="Calibri"/>
              </a:rPr>
              <a:t>client_credentials  ·  no user present
SMART on FHIR Backend Services shape</a:t>
            </a:r>
          </a:p>
        </p:txBody>
      </p:sp>
      <p:sp>
        <p:nvSpPr>
          <p:cNvPr id="18" name="Rectangle 17"/>
          <p:cNvSpPr/>
          <p:nvPr/>
        </p:nvSpPr>
        <p:spPr>
          <a:xfrm>
            <a:off x="566928" y="2743200"/>
            <a:ext cx="11064240" cy="18288"/>
          </a:xfrm>
          <a:prstGeom prst="rect">
            <a:avLst/>
          </a:prstGeom>
          <a:solidFill>
            <a:srgbClr val="D8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66928" y="2871216"/>
            <a:ext cx="11064240" cy="256032"/>
          </a:xfrm>
          <a:prstGeom prst="rect">
            <a:avLst/>
          </a:prstGeom>
          <a:noFill/>
        </p:spPr>
        <p:txBody>
          <a:bodyPr wrap="square" lIns="0" tIns="0" rIns="0" bIns="0" anchor="t">
            <a:spAutoFit/>
          </a:bodyPr>
          <a:lstStyle/>
          <a:p>
            <a:pPr algn="l">
              <a:lnSpc>
                <a:spcPct val="100000"/>
              </a:lnSpc>
            </a:pPr>
            <a:r>
              <a:rPr sz="1050" b="1" i="0">
                <a:solidFill>
                  <a:srgbClr val="1C7293"/>
                </a:solidFill>
                <a:latin typeface="Calibri"/>
              </a:rPr>
              <a:t>GATEWAY  ·  the only path in</a:t>
            </a:r>
          </a:p>
        </p:txBody>
      </p:sp>
      <p:sp>
        <p:nvSpPr>
          <p:cNvPr id="20" name="Rounded Rectangle 19"/>
          <p:cNvSpPr/>
          <p:nvPr/>
        </p:nvSpPr>
        <p:spPr>
          <a:xfrm>
            <a:off x="566928" y="3145536"/>
            <a:ext cx="11064240" cy="1298448"/>
          </a:xfrm>
          <a:prstGeom prst="roundRect">
            <a:avLst>
              <a:gd name="adj" fmla="val 6000"/>
            </a:avLst>
          </a:prstGeom>
          <a:solidFill>
            <a:srgbClr val="ECF4F8"/>
          </a:solidFill>
          <a:ln w="9525">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841248" y="3291840"/>
            <a:ext cx="3840480" cy="256032"/>
          </a:xfrm>
          <a:prstGeom prst="rect">
            <a:avLst/>
          </a:prstGeom>
          <a:noFill/>
        </p:spPr>
        <p:txBody>
          <a:bodyPr wrap="square" lIns="0" tIns="0" rIns="0" bIns="0" anchor="t">
            <a:spAutoFit/>
          </a:bodyPr>
          <a:lstStyle/>
          <a:p>
            <a:pPr algn="l">
              <a:lnSpc>
                <a:spcPct val="100000"/>
              </a:lnSpc>
            </a:pPr>
            <a:r>
              <a:rPr sz="1400" b="1" i="0">
                <a:solidFill>
                  <a:srgbClr val="12283D"/>
                </a:solidFill>
                <a:latin typeface="Calibri"/>
              </a:rPr>
              <a:t>Azure API Management</a:t>
            </a:r>
          </a:p>
        </p:txBody>
      </p:sp>
      <p:sp>
        <p:nvSpPr>
          <p:cNvPr id="22" name="TextBox 21"/>
          <p:cNvSpPr txBox="1"/>
          <p:nvPr/>
        </p:nvSpPr>
        <p:spPr>
          <a:xfrm>
            <a:off x="841248" y="3566160"/>
            <a:ext cx="4023360" cy="594906"/>
          </a:xfrm>
          <a:prstGeom prst="rect">
            <a:avLst/>
          </a:prstGeom>
          <a:noFill/>
        </p:spPr>
        <p:txBody>
          <a:bodyPr wrap="square" lIns="0" tIns="0" rIns="0" bIns="0" anchor="t">
            <a:spAutoFit/>
          </a:bodyPr>
          <a:lstStyle/>
          <a:p>
            <a:pPr algn="l">
              <a:lnSpc>
                <a:spcPct val="120000"/>
              </a:lnSpc>
            </a:pPr>
            <a:r>
              <a:rPr lang="en-US" sz="1100" b="0" i="0" dirty="0">
                <a:solidFill>
                  <a:srgbClr val="5A6B7B"/>
                </a:solidFill>
                <a:latin typeface="Consolas"/>
              </a:rPr>
              <a:t>POC: </a:t>
            </a:r>
            <a:r>
              <a:rPr sz="1100" b="0" i="0" dirty="0">
                <a:solidFill>
                  <a:srgbClr val="5A6B7B"/>
                </a:solidFill>
                <a:latin typeface="Consolas"/>
              </a:rPr>
              <a:t>apim-poc-ahds-demo01</a:t>
            </a:r>
            <a:r>
              <a:rPr lang="en-US" sz="1100" b="0" i="0" dirty="0">
                <a:solidFill>
                  <a:srgbClr val="5A6B7B"/>
                </a:solidFill>
                <a:latin typeface="Consolas"/>
              </a:rPr>
              <a:t> </a:t>
            </a:r>
            <a:r>
              <a:rPr sz="1100" b="0" i="0" dirty="0">
                <a:solidFill>
                  <a:srgbClr val="5A6B7B"/>
                </a:solidFill>
                <a:latin typeface="Consolas"/>
              </a:rPr>
              <a:t>BasicV2  ·  East US 2</a:t>
            </a:r>
            <a:endParaRPr lang="en-US" sz="1100" b="0" i="0" dirty="0">
              <a:solidFill>
                <a:srgbClr val="5A6B7B"/>
              </a:solidFill>
              <a:latin typeface="Consolas"/>
            </a:endParaRPr>
          </a:p>
          <a:p>
            <a:pPr algn="l">
              <a:lnSpc>
                <a:spcPct val="120000"/>
              </a:lnSpc>
            </a:pPr>
            <a:r>
              <a:rPr lang="en-US" sz="1100" dirty="0">
                <a:solidFill>
                  <a:srgbClr val="5A6B7B"/>
                </a:solidFill>
                <a:latin typeface="Consolas"/>
              </a:rPr>
              <a:t>Prod : Northwind Health has a Premium v2 approved for Central US </a:t>
            </a:r>
            <a:endParaRPr sz="1100" b="0" i="0" dirty="0">
              <a:solidFill>
                <a:srgbClr val="5A6B7B"/>
              </a:solidFill>
              <a:latin typeface="Consolas"/>
            </a:endParaRPr>
          </a:p>
        </p:txBody>
      </p:sp>
      <p:sp>
        <p:nvSpPr>
          <p:cNvPr id="23" name="Rounded Rectangle 22"/>
          <p:cNvSpPr/>
          <p:nvPr/>
        </p:nvSpPr>
        <p:spPr>
          <a:xfrm>
            <a:off x="5029200" y="3310128"/>
            <a:ext cx="2084831" cy="420624"/>
          </a:xfrm>
          <a:prstGeom prst="roundRect">
            <a:avLst>
              <a:gd name="adj" fmla="val 6000"/>
            </a:avLst>
          </a:prstGeom>
          <a:solidFill>
            <a:srgbClr val="FFFFFF"/>
          </a:solidFill>
          <a:ln w="9525">
            <a:solidFill>
              <a:srgbClr val="4FA6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5138928" y="3419856"/>
            <a:ext cx="1920240" cy="219456"/>
          </a:xfrm>
          <a:prstGeom prst="rect">
            <a:avLst/>
          </a:prstGeom>
          <a:noFill/>
        </p:spPr>
        <p:txBody>
          <a:bodyPr wrap="square" lIns="0" tIns="0" rIns="0" bIns="0" anchor="t">
            <a:spAutoFit/>
          </a:bodyPr>
          <a:lstStyle/>
          <a:p>
            <a:pPr algn="l">
              <a:lnSpc>
                <a:spcPct val="100000"/>
              </a:lnSpc>
            </a:pPr>
            <a:r>
              <a:rPr sz="1050" b="1" i="0">
                <a:solidFill>
                  <a:srgbClr val="1C7293"/>
                </a:solidFill>
                <a:latin typeface="Calibri"/>
              </a:rPr>
              <a:t>1 validate-jwt</a:t>
            </a:r>
          </a:p>
        </p:txBody>
      </p:sp>
      <p:sp>
        <p:nvSpPr>
          <p:cNvPr id="25" name="Rounded Rectangle 24"/>
          <p:cNvSpPr/>
          <p:nvPr/>
        </p:nvSpPr>
        <p:spPr>
          <a:xfrm>
            <a:off x="7242048" y="3310128"/>
            <a:ext cx="2084831" cy="420624"/>
          </a:xfrm>
          <a:prstGeom prst="roundRect">
            <a:avLst>
              <a:gd name="adj" fmla="val 6000"/>
            </a:avLst>
          </a:prstGeom>
          <a:solidFill>
            <a:srgbClr val="FFFFFF"/>
          </a:solidFill>
          <a:ln w="9525">
            <a:solidFill>
              <a:srgbClr val="4FA6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7351775" y="3419856"/>
            <a:ext cx="1920240" cy="219456"/>
          </a:xfrm>
          <a:prstGeom prst="rect">
            <a:avLst/>
          </a:prstGeom>
          <a:noFill/>
        </p:spPr>
        <p:txBody>
          <a:bodyPr wrap="square" lIns="0" tIns="0" rIns="0" bIns="0" anchor="t">
            <a:spAutoFit/>
          </a:bodyPr>
          <a:lstStyle/>
          <a:p>
            <a:pPr algn="l">
              <a:lnSpc>
                <a:spcPct val="100000"/>
              </a:lnSpc>
            </a:pPr>
            <a:r>
              <a:rPr sz="1050" b="1" i="0">
                <a:solidFill>
                  <a:srgbClr val="1C7293"/>
                </a:solidFill>
                <a:latin typeface="Calibri"/>
              </a:rPr>
              <a:t>2 entitlement</a:t>
            </a:r>
          </a:p>
        </p:txBody>
      </p:sp>
      <p:sp>
        <p:nvSpPr>
          <p:cNvPr id="27" name="Rounded Rectangle 26"/>
          <p:cNvSpPr/>
          <p:nvPr/>
        </p:nvSpPr>
        <p:spPr>
          <a:xfrm>
            <a:off x="9454896" y="3310128"/>
            <a:ext cx="2084831" cy="420624"/>
          </a:xfrm>
          <a:prstGeom prst="roundRect">
            <a:avLst>
              <a:gd name="adj" fmla="val 6000"/>
            </a:avLst>
          </a:prstGeom>
          <a:solidFill>
            <a:srgbClr val="FFFFFF"/>
          </a:solidFill>
          <a:ln w="9525">
            <a:solidFill>
              <a:srgbClr val="4FA6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9564624" y="3419856"/>
            <a:ext cx="1920240" cy="219456"/>
          </a:xfrm>
          <a:prstGeom prst="rect">
            <a:avLst/>
          </a:prstGeom>
          <a:noFill/>
        </p:spPr>
        <p:txBody>
          <a:bodyPr wrap="square" lIns="0" tIns="0" rIns="0" bIns="0" anchor="t">
            <a:spAutoFit/>
          </a:bodyPr>
          <a:lstStyle/>
          <a:p>
            <a:pPr algn="l">
              <a:lnSpc>
                <a:spcPct val="100000"/>
              </a:lnSpc>
            </a:pPr>
            <a:r>
              <a:rPr sz="1050" b="1" i="0">
                <a:solidFill>
                  <a:srgbClr val="1C7293"/>
                </a:solidFill>
                <a:latin typeface="Calibri"/>
              </a:rPr>
              <a:t>3 route allow-list</a:t>
            </a:r>
          </a:p>
        </p:txBody>
      </p:sp>
      <p:sp>
        <p:nvSpPr>
          <p:cNvPr id="29" name="Rounded Rectangle 28"/>
          <p:cNvSpPr/>
          <p:nvPr/>
        </p:nvSpPr>
        <p:spPr>
          <a:xfrm>
            <a:off x="5029200" y="3822191"/>
            <a:ext cx="2084831" cy="420624"/>
          </a:xfrm>
          <a:prstGeom prst="roundRect">
            <a:avLst>
              <a:gd name="adj" fmla="val 6000"/>
            </a:avLst>
          </a:prstGeom>
          <a:solidFill>
            <a:srgbClr val="FFFFFF"/>
          </a:solidFill>
          <a:ln w="9525">
            <a:solidFill>
              <a:srgbClr val="4FA6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5138928" y="3931920"/>
            <a:ext cx="1920240" cy="219456"/>
          </a:xfrm>
          <a:prstGeom prst="rect">
            <a:avLst/>
          </a:prstGeom>
          <a:noFill/>
        </p:spPr>
        <p:txBody>
          <a:bodyPr wrap="square" lIns="0" tIns="0" rIns="0" bIns="0" anchor="t">
            <a:spAutoFit/>
          </a:bodyPr>
          <a:lstStyle/>
          <a:p>
            <a:pPr algn="l">
              <a:lnSpc>
                <a:spcPct val="100000"/>
              </a:lnSpc>
            </a:pPr>
            <a:r>
              <a:rPr sz="1050" b="1" i="0">
                <a:solidFill>
                  <a:srgbClr val="1C7293"/>
                </a:solidFill>
                <a:latin typeface="Calibri"/>
              </a:rPr>
              <a:t>4 contract scoping</a:t>
            </a:r>
          </a:p>
        </p:txBody>
      </p:sp>
      <p:sp>
        <p:nvSpPr>
          <p:cNvPr id="31" name="Rounded Rectangle 30"/>
          <p:cNvSpPr/>
          <p:nvPr/>
        </p:nvSpPr>
        <p:spPr>
          <a:xfrm>
            <a:off x="7242048" y="3822191"/>
            <a:ext cx="2084831" cy="420624"/>
          </a:xfrm>
          <a:prstGeom prst="roundRect">
            <a:avLst>
              <a:gd name="adj" fmla="val 6000"/>
            </a:avLst>
          </a:prstGeom>
          <a:solidFill>
            <a:srgbClr val="FFFFFF"/>
          </a:solidFill>
          <a:ln w="9525">
            <a:solidFill>
              <a:srgbClr val="4FA6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7351775" y="3931920"/>
            <a:ext cx="1920240" cy="219456"/>
          </a:xfrm>
          <a:prstGeom prst="rect">
            <a:avLst/>
          </a:prstGeom>
          <a:noFill/>
        </p:spPr>
        <p:txBody>
          <a:bodyPr wrap="square" lIns="0" tIns="0" rIns="0" bIns="0" anchor="t">
            <a:spAutoFit/>
          </a:bodyPr>
          <a:lstStyle/>
          <a:p>
            <a:pPr algn="l">
              <a:lnSpc>
                <a:spcPct val="100000"/>
              </a:lnSpc>
            </a:pPr>
            <a:r>
              <a:rPr sz="1050" b="1" i="0">
                <a:solidFill>
                  <a:srgbClr val="1C7293"/>
                </a:solidFill>
                <a:latin typeface="Calibri"/>
              </a:rPr>
              <a:t>5 rate limit</a:t>
            </a:r>
          </a:p>
        </p:txBody>
      </p:sp>
      <p:sp>
        <p:nvSpPr>
          <p:cNvPr id="33" name="Rounded Rectangle 32"/>
          <p:cNvSpPr/>
          <p:nvPr/>
        </p:nvSpPr>
        <p:spPr>
          <a:xfrm>
            <a:off x="9454896" y="3822191"/>
            <a:ext cx="2084831" cy="420624"/>
          </a:xfrm>
          <a:prstGeom prst="roundRect">
            <a:avLst>
              <a:gd name="adj" fmla="val 6000"/>
            </a:avLst>
          </a:prstGeom>
          <a:solidFill>
            <a:srgbClr val="FFFFFF"/>
          </a:solidFill>
          <a:ln w="9525">
            <a:solidFill>
              <a:srgbClr val="4FA6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9564624" y="3931920"/>
            <a:ext cx="1920240" cy="219456"/>
          </a:xfrm>
          <a:prstGeom prst="rect">
            <a:avLst/>
          </a:prstGeom>
          <a:noFill/>
        </p:spPr>
        <p:txBody>
          <a:bodyPr wrap="square" lIns="0" tIns="0" rIns="0" bIns="0" anchor="t">
            <a:spAutoFit/>
          </a:bodyPr>
          <a:lstStyle/>
          <a:p>
            <a:pPr algn="l">
              <a:lnSpc>
                <a:spcPct val="100000"/>
              </a:lnSpc>
            </a:pPr>
            <a:r>
              <a:rPr sz="1050" b="1" i="0">
                <a:solidFill>
                  <a:srgbClr val="1C7293"/>
                </a:solidFill>
                <a:latin typeface="Calibri"/>
              </a:rPr>
              <a:t>6 managed identity</a:t>
            </a:r>
          </a:p>
        </p:txBody>
      </p:sp>
      <p:sp>
        <p:nvSpPr>
          <p:cNvPr id="35" name="Rectangle 34"/>
          <p:cNvSpPr/>
          <p:nvPr/>
        </p:nvSpPr>
        <p:spPr>
          <a:xfrm>
            <a:off x="566928" y="4590288"/>
            <a:ext cx="11064240" cy="18288"/>
          </a:xfrm>
          <a:prstGeom prst="rect">
            <a:avLst/>
          </a:prstGeom>
          <a:solidFill>
            <a:srgbClr val="D8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566928" y="4718304"/>
            <a:ext cx="11064240" cy="256032"/>
          </a:xfrm>
          <a:prstGeom prst="rect">
            <a:avLst/>
          </a:prstGeom>
          <a:noFill/>
        </p:spPr>
        <p:txBody>
          <a:bodyPr wrap="square" lIns="0" tIns="0" rIns="0" bIns="0" anchor="t">
            <a:spAutoFit/>
          </a:bodyPr>
          <a:lstStyle/>
          <a:p>
            <a:pPr algn="l">
              <a:lnSpc>
                <a:spcPct val="100000"/>
              </a:lnSpc>
            </a:pPr>
            <a:r>
              <a:rPr sz="1050" b="1" i="0">
                <a:solidFill>
                  <a:srgbClr val="2E8B57"/>
                </a:solidFill>
                <a:latin typeface="Calibri"/>
              </a:rPr>
              <a:t>AZURE HEALTH DATA SERVICES  ·  physical boundary</a:t>
            </a:r>
          </a:p>
        </p:txBody>
      </p:sp>
      <p:sp>
        <p:nvSpPr>
          <p:cNvPr id="37" name="Rounded Rectangle 36"/>
          <p:cNvSpPr/>
          <p:nvPr/>
        </p:nvSpPr>
        <p:spPr>
          <a:xfrm>
            <a:off x="566928" y="4992624"/>
            <a:ext cx="5440680" cy="1042415"/>
          </a:xfrm>
          <a:prstGeom prst="roundRect">
            <a:avLst>
              <a:gd name="adj" fmla="val 6000"/>
            </a:avLst>
          </a:prstGeom>
          <a:solidFill>
            <a:srgbClr val="FFFFFF"/>
          </a:solidFill>
          <a:ln w="9525">
            <a:solidFill>
              <a:srgbClr val="2E8B5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841248" y="5138928"/>
            <a:ext cx="4937760" cy="237744"/>
          </a:xfrm>
          <a:prstGeom prst="rect">
            <a:avLst/>
          </a:prstGeom>
          <a:noFill/>
        </p:spPr>
        <p:txBody>
          <a:bodyPr wrap="square" lIns="0" tIns="0" rIns="0" bIns="0" anchor="t">
            <a:spAutoFit/>
          </a:bodyPr>
          <a:lstStyle/>
          <a:p>
            <a:pPr algn="l">
              <a:lnSpc>
                <a:spcPct val="100000"/>
              </a:lnSpc>
            </a:pPr>
            <a:r>
              <a:rPr sz="1300" b="1" i="0">
                <a:solidFill>
                  <a:srgbClr val="12283D"/>
                </a:solidFill>
                <a:latin typeface="Consolas"/>
              </a:rPr>
              <a:t>fhir-payera</a:t>
            </a:r>
          </a:p>
        </p:txBody>
      </p:sp>
      <p:sp>
        <p:nvSpPr>
          <p:cNvPr id="39" name="TextBox 38"/>
          <p:cNvSpPr txBox="1"/>
          <p:nvPr/>
        </p:nvSpPr>
        <p:spPr>
          <a:xfrm>
            <a:off x="841248" y="5394960"/>
            <a:ext cx="4937760" cy="457200"/>
          </a:xfrm>
          <a:prstGeom prst="rect">
            <a:avLst/>
          </a:prstGeom>
          <a:noFill/>
        </p:spPr>
        <p:txBody>
          <a:bodyPr wrap="square" lIns="0" tIns="0" rIns="0" bIns="0" anchor="t">
            <a:spAutoFit/>
          </a:bodyPr>
          <a:lstStyle/>
          <a:p>
            <a:pPr algn="l">
              <a:lnSpc>
                <a:spcPct val="115000"/>
              </a:lnSpc>
            </a:pPr>
            <a:r>
              <a:rPr sz="1100" b="0" i="0" dirty="0">
                <a:solidFill>
                  <a:srgbClr val="5A6B7B"/>
                </a:solidFill>
                <a:latin typeface="Calibri"/>
              </a:rPr>
              <a:t>Contoso only. Contracts CT-3456 and CT-7788
separated logically by meta.tag.</a:t>
            </a:r>
          </a:p>
        </p:txBody>
      </p:sp>
      <p:sp>
        <p:nvSpPr>
          <p:cNvPr id="40" name="Rounded Rectangle 39"/>
          <p:cNvSpPr/>
          <p:nvPr/>
        </p:nvSpPr>
        <p:spPr>
          <a:xfrm>
            <a:off x="6199632" y="4992624"/>
            <a:ext cx="5431536" cy="1042415"/>
          </a:xfrm>
          <a:prstGeom prst="roundRect">
            <a:avLst>
              <a:gd name="adj" fmla="val 6000"/>
            </a:avLst>
          </a:prstGeom>
          <a:solidFill>
            <a:srgbClr val="FFFFFF"/>
          </a:solidFill>
          <a:ln w="9525">
            <a:solidFill>
              <a:srgbClr val="2E8B5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6473952" y="5138928"/>
            <a:ext cx="4937760" cy="237744"/>
          </a:xfrm>
          <a:prstGeom prst="rect">
            <a:avLst/>
          </a:prstGeom>
          <a:noFill/>
        </p:spPr>
        <p:txBody>
          <a:bodyPr wrap="square" lIns="0" tIns="0" rIns="0" bIns="0" anchor="t">
            <a:spAutoFit/>
          </a:bodyPr>
          <a:lstStyle/>
          <a:p>
            <a:pPr algn="l">
              <a:lnSpc>
                <a:spcPct val="100000"/>
              </a:lnSpc>
            </a:pPr>
            <a:r>
              <a:rPr sz="1300" b="1" i="0">
                <a:solidFill>
                  <a:srgbClr val="12283D"/>
                </a:solidFill>
                <a:latin typeface="Consolas"/>
              </a:rPr>
              <a:t>fhir-payerb</a:t>
            </a:r>
          </a:p>
        </p:txBody>
      </p:sp>
      <p:sp>
        <p:nvSpPr>
          <p:cNvPr id="42" name="TextBox 41"/>
          <p:cNvSpPr txBox="1"/>
          <p:nvPr/>
        </p:nvSpPr>
        <p:spPr>
          <a:xfrm>
            <a:off x="6473952" y="5394960"/>
            <a:ext cx="4937760" cy="457200"/>
          </a:xfrm>
          <a:prstGeom prst="rect">
            <a:avLst/>
          </a:prstGeom>
          <a:noFill/>
        </p:spPr>
        <p:txBody>
          <a:bodyPr wrap="square" lIns="0" tIns="0" rIns="0" bIns="0" anchor="t">
            <a:spAutoFit/>
          </a:bodyPr>
          <a:lstStyle/>
          <a:p>
            <a:pPr algn="l">
              <a:lnSpc>
                <a:spcPct val="115000"/>
              </a:lnSpc>
            </a:pPr>
            <a:r>
              <a:rPr sz="1100" b="0" i="0" dirty="0">
                <a:solidFill>
                  <a:srgbClr val="5A6B7B"/>
                </a:solidFill>
                <a:latin typeface="Calibri"/>
              </a:rPr>
              <a:t>Fabrikam only. Separate data store.
No route exists from Contoso to here.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8FA"/>
        </a:solidFill>
        <a:effectLst/>
      </p:bgPr>
    </p:bg>
    <p:spTree>
      <p:nvGrpSpPr>
        <p:cNvPr id="1" name=""/>
        <p:cNvGrpSpPr/>
        <p:nvPr/>
      </p:nvGrpSpPr>
      <p:grpSpPr>
        <a:xfrm>
          <a:off x="0" y="0"/>
          <a:ext cx="0" cy="0"/>
          <a:chOff x="0" y="0"/>
          <a:chExt cx="0" cy="0"/>
        </a:xfrm>
      </p:grpSpPr>
      <p:sp>
        <p:nvSpPr>
          <p:cNvPr id="2" name="Rectangle 1"/>
          <p:cNvSpPr/>
          <p:nvPr/>
        </p:nvSpPr>
        <p:spPr>
          <a:xfrm>
            <a:off x="566928" y="420624"/>
            <a:ext cx="68580" cy="65836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713232" y="530352"/>
            <a:ext cx="10789920" cy="475488"/>
          </a:xfrm>
          <a:prstGeom prst="rect">
            <a:avLst/>
          </a:prstGeom>
          <a:noFill/>
        </p:spPr>
        <p:txBody>
          <a:bodyPr wrap="square" lIns="0" tIns="0" rIns="0" bIns="0" anchor="t">
            <a:spAutoFit/>
          </a:bodyPr>
          <a:lstStyle/>
          <a:p>
            <a:pPr algn="l">
              <a:lnSpc>
                <a:spcPct val="100000"/>
              </a:lnSpc>
            </a:pPr>
            <a:r>
              <a:rPr sz="2700" b="1" i="0" dirty="0">
                <a:solidFill>
                  <a:srgbClr val="12283D"/>
                </a:solidFill>
                <a:latin typeface="Cambria"/>
              </a:rPr>
              <a:t>Physical where it matters, logical where it does not</a:t>
            </a:r>
          </a:p>
        </p:txBody>
      </p:sp>
      <p:sp>
        <p:nvSpPr>
          <p:cNvPr id="5" name="Rectangle 4"/>
          <p:cNvSpPr/>
          <p:nvPr/>
        </p:nvSpPr>
        <p:spPr>
          <a:xfrm>
            <a:off x="566928" y="6345936"/>
            <a:ext cx="11064240" cy="12801"/>
          </a:xfrm>
          <a:prstGeom prst="rect">
            <a:avLst/>
          </a:prstGeom>
          <a:solidFill>
            <a:srgbClr val="D8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0058400" y="6428232"/>
            <a:ext cx="1572768" cy="219456"/>
          </a:xfrm>
          <a:prstGeom prst="rect">
            <a:avLst/>
          </a:prstGeom>
          <a:noFill/>
        </p:spPr>
        <p:txBody>
          <a:bodyPr wrap="square" lIns="0" tIns="0" rIns="0" bIns="0" anchor="t">
            <a:spAutoFit/>
          </a:bodyPr>
          <a:lstStyle/>
          <a:p>
            <a:pPr algn="r">
              <a:lnSpc>
                <a:spcPct val="100000"/>
              </a:lnSpc>
            </a:pPr>
            <a:r>
              <a:rPr sz="900" b="0" i="0">
                <a:solidFill>
                  <a:srgbClr val="5A6B7B"/>
                </a:solidFill>
                <a:latin typeface="Calibri"/>
              </a:rPr>
              <a:t>10</a:t>
            </a:r>
          </a:p>
        </p:txBody>
      </p:sp>
      <p:sp>
        <p:nvSpPr>
          <p:cNvPr id="8" name="Rounded Rectangle 7"/>
          <p:cNvSpPr/>
          <p:nvPr/>
        </p:nvSpPr>
        <p:spPr>
          <a:xfrm>
            <a:off x="566928" y="1481328"/>
            <a:ext cx="5440680" cy="2286000"/>
          </a:xfrm>
          <a:prstGeom prst="roundRect">
            <a:avLst>
              <a:gd name="adj" fmla="val 6000"/>
            </a:avLst>
          </a:prstGeom>
          <a:solidFill>
            <a:srgbClr val="FFFFFF"/>
          </a:solidFill>
          <a:ln w="9525">
            <a:solidFill>
              <a:srgbClr val="2E8B5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566928" y="1481328"/>
            <a:ext cx="5440680" cy="50292"/>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841248" y="1700784"/>
            <a:ext cx="4937760" cy="274320"/>
          </a:xfrm>
          <a:prstGeom prst="rect">
            <a:avLst/>
          </a:prstGeom>
          <a:noFill/>
        </p:spPr>
        <p:txBody>
          <a:bodyPr wrap="square" lIns="0" tIns="0" rIns="0" bIns="0" anchor="t">
            <a:spAutoFit/>
          </a:bodyPr>
          <a:lstStyle/>
          <a:p>
            <a:pPr algn="l">
              <a:lnSpc>
                <a:spcPct val="100000"/>
              </a:lnSpc>
            </a:pPr>
            <a:r>
              <a:rPr sz="1150" b="1" i="0">
                <a:solidFill>
                  <a:srgbClr val="2E8B57"/>
                </a:solidFill>
                <a:latin typeface="Calibri"/>
              </a:rPr>
              <a:t>BETWEEN PAYERS  —  PHYSICAL</a:t>
            </a:r>
          </a:p>
        </p:txBody>
      </p:sp>
      <p:sp>
        <p:nvSpPr>
          <p:cNvPr id="11" name="TextBox 10"/>
          <p:cNvSpPr txBox="1"/>
          <p:nvPr/>
        </p:nvSpPr>
        <p:spPr>
          <a:xfrm>
            <a:off x="841248" y="2029968"/>
            <a:ext cx="4937760" cy="822960"/>
          </a:xfrm>
          <a:prstGeom prst="rect">
            <a:avLst/>
          </a:prstGeom>
          <a:noFill/>
        </p:spPr>
        <p:txBody>
          <a:bodyPr wrap="square" lIns="0" tIns="0" rIns="0" bIns="0" anchor="t">
            <a:spAutoFit/>
          </a:bodyPr>
          <a:lstStyle/>
          <a:p>
            <a:pPr algn="l">
              <a:lnSpc>
                <a:spcPct val="120000"/>
              </a:lnSpc>
            </a:pPr>
            <a:r>
              <a:rPr sz="1500" b="1" i="0">
                <a:solidFill>
                  <a:srgbClr val="12283D"/>
                </a:solidFill>
                <a:latin typeface="Calibri"/>
              </a:rPr>
              <a:t>Separate FHIR service. Separate data store. Separate RBAC.</a:t>
            </a:r>
          </a:p>
        </p:txBody>
      </p:sp>
      <p:sp>
        <p:nvSpPr>
          <p:cNvPr id="12" name="TextBox 11"/>
          <p:cNvSpPr txBox="1"/>
          <p:nvPr/>
        </p:nvSpPr>
        <p:spPr>
          <a:xfrm>
            <a:off x="841248" y="2615184"/>
            <a:ext cx="4937760" cy="1005840"/>
          </a:xfrm>
          <a:prstGeom prst="rect">
            <a:avLst/>
          </a:prstGeom>
          <a:noFill/>
        </p:spPr>
        <p:txBody>
          <a:bodyPr wrap="square" lIns="0" tIns="0" rIns="0" bIns="0" anchor="t">
            <a:spAutoFit/>
          </a:bodyPr>
          <a:lstStyle/>
          <a:p>
            <a:pPr algn="l">
              <a:lnSpc>
                <a:spcPct val="125000"/>
              </a:lnSpc>
            </a:pPr>
            <a:r>
              <a:rPr sz="1250" b="0" i="0" dirty="0">
                <a:solidFill>
                  <a:srgbClr val="5A6B7B"/>
                </a:solidFill>
                <a:latin typeface="Calibri"/>
              </a:rPr>
              <a:t>A defect in an APIM policy cannot leak Contoso to Fabrikam, because Fabrikam’s credential has no path to Contoso’s service at all. The blast radius of a mistake is bounded by architecture, not by correctness.</a:t>
            </a:r>
          </a:p>
        </p:txBody>
      </p:sp>
      <p:sp>
        <p:nvSpPr>
          <p:cNvPr id="13" name="Rounded Rectangle 12"/>
          <p:cNvSpPr/>
          <p:nvPr/>
        </p:nvSpPr>
        <p:spPr>
          <a:xfrm>
            <a:off x="6199632" y="1481328"/>
            <a:ext cx="5431536" cy="2286000"/>
          </a:xfrm>
          <a:prstGeom prst="roundRect">
            <a:avLst>
              <a:gd name="adj" fmla="val 6000"/>
            </a:avLst>
          </a:prstGeom>
          <a:solidFill>
            <a:srgbClr val="FFFFFF"/>
          </a:solidFill>
          <a:ln w="9525">
            <a:solidFill>
              <a:srgbClr val="D9822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6199632" y="1481328"/>
            <a:ext cx="5431536" cy="50292"/>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473952" y="1700784"/>
            <a:ext cx="4937760" cy="274320"/>
          </a:xfrm>
          <a:prstGeom prst="rect">
            <a:avLst/>
          </a:prstGeom>
          <a:noFill/>
        </p:spPr>
        <p:txBody>
          <a:bodyPr wrap="square" lIns="0" tIns="0" rIns="0" bIns="0" anchor="t">
            <a:spAutoFit/>
          </a:bodyPr>
          <a:lstStyle/>
          <a:p>
            <a:pPr algn="l">
              <a:lnSpc>
                <a:spcPct val="100000"/>
              </a:lnSpc>
            </a:pPr>
            <a:r>
              <a:rPr sz="1150" b="1" i="0">
                <a:solidFill>
                  <a:srgbClr val="D9822B"/>
                </a:solidFill>
                <a:latin typeface="Calibri"/>
              </a:rPr>
              <a:t>WITHIN A PAYER  —  LOGICAL</a:t>
            </a:r>
          </a:p>
        </p:txBody>
      </p:sp>
      <p:sp>
        <p:nvSpPr>
          <p:cNvPr id="16" name="TextBox 15"/>
          <p:cNvSpPr txBox="1"/>
          <p:nvPr/>
        </p:nvSpPr>
        <p:spPr>
          <a:xfrm>
            <a:off x="6473952" y="2029968"/>
            <a:ext cx="4937760" cy="258532"/>
          </a:xfrm>
          <a:prstGeom prst="rect">
            <a:avLst/>
          </a:prstGeom>
          <a:noFill/>
        </p:spPr>
        <p:txBody>
          <a:bodyPr wrap="square" lIns="0" tIns="0" rIns="0" bIns="0" anchor="t">
            <a:spAutoFit/>
          </a:bodyPr>
          <a:lstStyle/>
          <a:p>
            <a:pPr algn="l">
              <a:lnSpc>
                <a:spcPct val="120000"/>
              </a:lnSpc>
            </a:pPr>
            <a:r>
              <a:rPr sz="1500" b="1" i="0" dirty="0">
                <a:solidFill>
                  <a:srgbClr val="12283D"/>
                </a:solidFill>
                <a:latin typeface="Calibri"/>
              </a:rPr>
              <a:t>One service. </a:t>
            </a:r>
            <a:r>
              <a:rPr lang="en-US" sz="1500" b="1" i="0" dirty="0">
                <a:solidFill>
                  <a:srgbClr val="12283D"/>
                </a:solidFill>
                <a:latin typeface="Calibri"/>
              </a:rPr>
              <a:t>Contracts e</a:t>
            </a:r>
            <a:r>
              <a:rPr sz="1500" b="1" i="0" dirty="0">
                <a:solidFill>
                  <a:srgbClr val="12283D"/>
                </a:solidFill>
                <a:latin typeface="Calibri"/>
              </a:rPr>
              <a:t>nforced at the gateway.</a:t>
            </a:r>
          </a:p>
        </p:txBody>
      </p:sp>
      <p:sp>
        <p:nvSpPr>
          <p:cNvPr id="17" name="TextBox 16"/>
          <p:cNvSpPr txBox="1"/>
          <p:nvPr/>
        </p:nvSpPr>
        <p:spPr>
          <a:xfrm>
            <a:off x="6473952" y="2615184"/>
            <a:ext cx="4937760" cy="1005840"/>
          </a:xfrm>
          <a:prstGeom prst="rect">
            <a:avLst/>
          </a:prstGeom>
          <a:noFill/>
        </p:spPr>
        <p:txBody>
          <a:bodyPr wrap="square" lIns="0" tIns="0" rIns="0" bIns="0" anchor="t">
            <a:spAutoFit/>
          </a:bodyPr>
          <a:lstStyle/>
          <a:p>
            <a:pPr algn="l">
              <a:lnSpc>
                <a:spcPct val="125000"/>
              </a:lnSpc>
            </a:pPr>
            <a:r>
              <a:rPr sz="1250" b="0" i="0" dirty="0">
                <a:solidFill>
                  <a:srgbClr val="5A6B7B"/>
                </a:solidFill>
                <a:latin typeface="Calibri"/>
              </a:rPr>
              <a:t>A defect here could expose one contract to another inside the same payer. That is a real risk and we accept it deliberately — the counterparty already holds a contract with you, and the data is theirs to hold.</a:t>
            </a:r>
          </a:p>
        </p:txBody>
      </p:sp>
      <p:sp>
        <p:nvSpPr>
          <p:cNvPr id="18" name="Rounded Rectangle 17"/>
          <p:cNvSpPr/>
          <p:nvPr/>
        </p:nvSpPr>
        <p:spPr>
          <a:xfrm>
            <a:off x="566928" y="3913632"/>
            <a:ext cx="11064240" cy="786384"/>
          </a:xfrm>
          <a:prstGeom prst="roundRect">
            <a:avLst>
              <a:gd name="adj" fmla="val 6000"/>
            </a:avLst>
          </a:prstGeom>
          <a:solidFill>
            <a:srgbClr val="0E2A47"/>
          </a:solidFill>
          <a:ln w="9525">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841248" y="4114800"/>
            <a:ext cx="10515600" cy="402336"/>
          </a:xfrm>
          <a:prstGeom prst="rect">
            <a:avLst/>
          </a:prstGeom>
          <a:noFill/>
        </p:spPr>
        <p:txBody>
          <a:bodyPr wrap="square" lIns="0" tIns="0" rIns="0" bIns="0" anchor="t">
            <a:spAutoFit/>
          </a:bodyPr>
          <a:lstStyle/>
          <a:p>
            <a:pPr algn="ctr">
              <a:lnSpc>
                <a:spcPct val="100000"/>
              </a:lnSpc>
            </a:pPr>
            <a:r>
              <a:rPr sz="1900" b="1" i="0">
                <a:solidFill>
                  <a:srgbClr val="FFFFFF"/>
                </a:solidFill>
                <a:latin typeface="Cambria"/>
              </a:rPr>
              <a:t>Physical separation stops a mistake.  Logical separation stops a query.</a:t>
            </a:r>
          </a:p>
        </p:txBody>
      </p:sp>
      <p:sp>
        <p:nvSpPr>
          <p:cNvPr id="20" name="TextBox 19"/>
          <p:cNvSpPr txBox="1"/>
          <p:nvPr/>
        </p:nvSpPr>
        <p:spPr>
          <a:xfrm>
            <a:off x="566928" y="4892040"/>
            <a:ext cx="11064240" cy="274320"/>
          </a:xfrm>
          <a:prstGeom prst="rect">
            <a:avLst/>
          </a:prstGeom>
          <a:noFill/>
        </p:spPr>
        <p:txBody>
          <a:bodyPr wrap="square" lIns="0" tIns="0" rIns="0" bIns="0" anchor="t">
            <a:spAutoFit/>
          </a:bodyPr>
          <a:lstStyle/>
          <a:p>
            <a:pPr algn="l">
              <a:lnSpc>
                <a:spcPct val="100000"/>
              </a:lnSpc>
            </a:pPr>
            <a:r>
              <a:rPr sz="1100" b="1" i="0">
                <a:solidFill>
                  <a:srgbClr val="1C7293"/>
                </a:solidFill>
                <a:latin typeface="Calibri"/>
              </a:rPr>
              <a:t>WHAT THIS BUYS YOU</a:t>
            </a:r>
          </a:p>
        </p:txBody>
      </p:sp>
      <p:sp>
        <p:nvSpPr>
          <p:cNvPr id="21" name="Rounded Rectangle 20"/>
          <p:cNvSpPr/>
          <p:nvPr/>
        </p:nvSpPr>
        <p:spPr>
          <a:xfrm>
            <a:off x="566928" y="5193792"/>
            <a:ext cx="5440680" cy="841248"/>
          </a:xfrm>
          <a:prstGeom prst="roundRect">
            <a:avLst>
              <a:gd name="adj" fmla="val 6000"/>
            </a:avLst>
          </a:prstGeom>
          <a:solidFill>
            <a:srgbClr val="FFFFFF"/>
          </a:solidFill>
          <a:ln w="9525">
            <a:solidFill>
              <a:srgbClr val="D8E2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841248" y="5340096"/>
            <a:ext cx="4937760" cy="237744"/>
          </a:xfrm>
          <a:prstGeom prst="rect">
            <a:avLst/>
          </a:prstGeom>
          <a:noFill/>
        </p:spPr>
        <p:txBody>
          <a:bodyPr wrap="square" lIns="0" tIns="0" rIns="0" bIns="0" anchor="t">
            <a:spAutoFit/>
          </a:bodyPr>
          <a:lstStyle/>
          <a:p>
            <a:pPr algn="l">
              <a:lnSpc>
                <a:spcPct val="100000"/>
              </a:lnSpc>
            </a:pPr>
            <a:r>
              <a:rPr sz="1300" b="1" i="0">
                <a:solidFill>
                  <a:srgbClr val="12283D"/>
                </a:solidFill>
                <a:latin typeface="Calibri"/>
              </a:rPr>
              <a:t>Scales to 200 payers</a:t>
            </a:r>
          </a:p>
        </p:txBody>
      </p:sp>
      <p:sp>
        <p:nvSpPr>
          <p:cNvPr id="23" name="TextBox 22"/>
          <p:cNvSpPr txBox="1"/>
          <p:nvPr/>
        </p:nvSpPr>
        <p:spPr>
          <a:xfrm>
            <a:off x="841248" y="5596128"/>
            <a:ext cx="5029200" cy="402336"/>
          </a:xfrm>
          <a:prstGeom prst="rect">
            <a:avLst/>
          </a:prstGeom>
          <a:noFill/>
        </p:spPr>
        <p:txBody>
          <a:bodyPr wrap="square" lIns="0" tIns="0" rIns="0" bIns="0" anchor="t">
            <a:spAutoFit/>
          </a:bodyPr>
          <a:lstStyle/>
          <a:p>
            <a:pPr algn="l">
              <a:lnSpc>
                <a:spcPct val="115000"/>
              </a:lnSpc>
            </a:pPr>
            <a:r>
              <a:rPr sz="1150" b="0" i="0">
                <a:solidFill>
                  <a:srgbClr val="5A6B7B"/>
                </a:solidFill>
                <a:latin typeface="Calibri"/>
              </a:rPr>
              <a:t>You do not provision 200 services. You provision a manageable number and partition contracts inside them.</a:t>
            </a:r>
          </a:p>
        </p:txBody>
      </p:sp>
      <p:sp>
        <p:nvSpPr>
          <p:cNvPr id="24" name="Rounded Rectangle 23"/>
          <p:cNvSpPr/>
          <p:nvPr/>
        </p:nvSpPr>
        <p:spPr>
          <a:xfrm>
            <a:off x="6199632" y="5193792"/>
            <a:ext cx="5440680" cy="841248"/>
          </a:xfrm>
          <a:prstGeom prst="roundRect">
            <a:avLst>
              <a:gd name="adj" fmla="val 6000"/>
            </a:avLst>
          </a:prstGeom>
          <a:solidFill>
            <a:srgbClr val="FFFFFF"/>
          </a:solidFill>
          <a:ln w="9525">
            <a:solidFill>
              <a:srgbClr val="D8E2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6473952" y="5340096"/>
            <a:ext cx="4937760" cy="237744"/>
          </a:xfrm>
          <a:prstGeom prst="rect">
            <a:avLst/>
          </a:prstGeom>
          <a:noFill/>
        </p:spPr>
        <p:txBody>
          <a:bodyPr wrap="square" lIns="0" tIns="0" rIns="0" bIns="0" anchor="t">
            <a:spAutoFit/>
          </a:bodyPr>
          <a:lstStyle/>
          <a:p>
            <a:pPr algn="l">
              <a:lnSpc>
                <a:spcPct val="100000"/>
              </a:lnSpc>
            </a:pPr>
            <a:r>
              <a:rPr sz="1300" b="1" i="0">
                <a:solidFill>
                  <a:srgbClr val="12283D"/>
                </a:solidFill>
                <a:latin typeface="Calibri"/>
              </a:rPr>
              <a:t>Puts cost where risk is</a:t>
            </a:r>
          </a:p>
        </p:txBody>
      </p:sp>
      <p:sp>
        <p:nvSpPr>
          <p:cNvPr id="26" name="TextBox 25"/>
          <p:cNvSpPr txBox="1"/>
          <p:nvPr/>
        </p:nvSpPr>
        <p:spPr>
          <a:xfrm>
            <a:off x="6473952" y="5596128"/>
            <a:ext cx="5029200" cy="402336"/>
          </a:xfrm>
          <a:prstGeom prst="rect">
            <a:avLst/>
          </a:prstGeom>
          <a:noFill/>
        </p:spPr>
        <p:txBody>
          <a:bodyPr wrap="square" lIns="0" tIns="0" rIns="0" bIns="0" anchor="t">
            <a:spAutoFit/>
          </a:bodyPr>
          <a:lstStyle/>
          <a:p>
            <a:pPr algn="l">
              <a:lnSpc>
                <a:spcPct val="115000"/>
              </a:lnSpc>
            </a:pPr>
            <a:r>
              <a:rPr sz="1150" b="0" i="0">
                <a:solidFill>
                  <a:srgbClr val="5A6B7B"/>
                </a:solidFill>
                <a:latin typeface="Calibri"/>
              </a:rPr>
              <a:t>The expensive boundary is spent only where a failure would cross a company line.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8FA"/>
        </a:solidFill>
        <a:effectLst/>
      </p:bgPr>
    </p:bg>
    <p:spTree>
      <p:nvGrpSpPr>
        <p:cNvPr id="1" name=""/>
        <p:cNvGrpSpPr/>
        <p:nvPr/>
      </p:nvGrpSpPr>
      <p:grpSpPr>
        <a:xfrm>
          <a:off x="0" y="0"/>
          <a:ext cx="0" cy="0"/>
          <a:chOff x="0" y="0"/>
          <a:chExt cx="0" cy="0"/>
        </a:xfrm>
      </p:grpSpPr>
      <p:sp>
        <p:nvSpPr>
          <p:cNvPr id="2" name="Rectangle 1"/>
          <p:cNvSpPr/>
          <p:nvPr/>
        </p:nvSpPr>
        <p:spPr>
          <a:xfrm>
            <a:off x="566928" y="420624"/>
            <a:ext cx="68580" cy="65836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77240" y="420624"/>
            <a:ext cx="10789920" cy="161583"/>
          </a:xfrm>
          <a:prstGeom prst="rect">
            <a:avLst/>
          </a:prstGeom>
          <a:noFill/>
        </p:spPr>
        <p:txBody>
          <a:bodyPr wrap="square" lIns="0" tIns="0" rIns="0" bIns="0" anchor="t">
            <a:spAutoFit/>
          </a:bodyPr>
          <a:lstStyle/>
          <a:p>
            <a:pPr algn="l">
              <a:lnSpc>
                <a:spcPct val="100000"/>
              </a:lnSpc>
            </a:pPr>
            <a:r>
              <a:rPr sz="1050" b="1" i="0" dirty="0">
                <a:solidFill>
                  <a:srgbClr val="1C7293"/>
                </a:solidFill>
                <a:latin typeface="Calibri"/>
              </a:rPr>
              <a:t>INBOUND VS OUTBOUND PARTITIONING</a:t>
            </a:r>
          </a:p>
        </p:txBody>
      </p:sp>
      <p:sp>
        <p:nvSpPr>
          <p:cNvPr id="4" name="TextBox 3"/>
          <p:cNvSpPr txBox="1"/>
          <p:nvPr/>
        </p:nvSpPr>
        <p:spPr>
          <a:xfrm>
            <a:off x="777240" y="658368"/>
            <a:ext cx="10789920" cy="415498"/>
          </a:xfrm>
          <a:prstGeom prst="rect">
            <a:avLst/>
          </a:prstGeom>
          <a:noFill/>
        </p:spPr>
        <p:txBody>
          <a:bodyPr wrap="square" lIns="0" tIns="0" rIns="0" bIns="0" anchor="t">
            <a:spAutoFit/>
          </a:bodyPr>
          <a:lstStyle/>
          <a:p>
            <a:pPr algn="l">
              <a:lnSpc>
                <a:spcPct val="100000"/>
              </a:lnSpc>
            </a:pPr>
            <a:r>
              <a:rPr sz="2700" b="1" i="0" dirty="0">
                <a:solidFill>
                  <a:srgbClr val="12283D"/>
                </a:solidFill>
                <a:latin typeface="Cambria"/>
              </a:rPr>
              <a:t>One FHIR service, two routes, two allow-lists</a:t>
            </a:r>
          </a:p>
        </p:txBody>
      </p:sp>
      <p:sp>
        <p:nvSpPr>
          <p:cNvPr id="5" name="Rectangle 4"/>
          <p:cNvSpPr/>
          <p:nvPr/>
        </p:nvSpPr>
        <p:spPr>
          <a:xfrm>
            <a:off x="566928" y="6345936"/>
            <a:ext cx="11064240" cy="12801"/>
          </a:xfrm>
          <a:prstGeom prst="rect">
            <a:avLst/>
          </a:prstGeom>
          <a:solidFill>
            <a:srgbClr val="D8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0058400" y="6428232"/>
            <a:ext cx="1572768" cy="219456"/>
          </a:xfrm>
          <a:prstGeom prst="rect">
            <a:avLst/>
          </a:prstGeom>
          <a:noFill/>
        </p:spPr>
        <p:txBody>
          <a:bodyPr wrap="square" lIns="0" tIns="0" rIns="0" bIns="0" anchor="t">
            <a:spAutoFit/>
          </a:bodyPr>
          <a:lstStyle/>
          <a:p>
            <a:pPr algn="r">
              <a:lnSpc>
                <a:spcPct val="100000"/>
              </a:lnSpc>
            </a:pPr>
            <a:r>
              <a:rPr sz="900" b="0" i="0">
                <a:solidFill>
                  <a:srgbClr val="5A6B7B"/>
                </a:solidFill>
                <a:latin typeface="Calibri"/>
              </a:rPr>
              <a:t>11</a:t>
            </a:r>
          </a:p>
        </p:txBody>
      </p:sp>
      <p:sp>
        <p:nvSpPr>
          <p:cNvPr id="8" name="TextBox 7"/>
          <p:cNvSpPr txBox="1"/>
          <p:nvPr/>
        </p:nvSpPr>
        <p:spPr>
          <a:xfrm>
            <a:off x="566928" y="1371600"/>
            <a:ext cx="11064240" cy="200055"/>
          </a:xfrm>
          <a:prstGeom prst="rect">
            <a:avLst/>
          </a:prstGeom>
          <a:noFill/>
        </p:spPr>
        <p:txBody>
          <a:bodyPr wrap="square" lIns="0" tIns="0" rIns="0" bIns="0" anchor="t">
            <a:spAutoFit/>
          </a:bodyPr>
          <a:lstStyle/>
          <a:p>
            <a:pPr algn="l">
              <a:lnSpc>
                <a:spcPct val="100000"/>
              </a:lnSpc>
            </a:pPr>
            <a:r>
              <a:rPr lang="en-US" sz="1300" b="0" i="0" dirty="0">
                <a:solidFill>
                  <a:srgbClr val="5A6B7B"/>
                </a:solidFill>
                <a:latin typeface="Calibri"/>
              </a:rPr>
              <a:t>C</a:t>
            </a:r>
            <a:r>
              <a:rPr sz="1300" b="0" i="1" dirty="0">
                <a:solidFill>
                  <a:srgbClr val="5A6B7B"/>
                </a:solidFill>
                <a:latin typeface="Calibri"/>
              </a:rPr>
              <a:t>an inbound and outbound be isolated within one </a:t>
            </a:r>
            <a:r>
              <a:rPr sz="1300" b="0" i="1">
                <a:solidFill>
                  <a:srgbClr val="5A6B7B"/>
                </a:solidFill>
                <a:latin typeface="Calibri"/>
              </a:rPr>
              <a:t>service?</a:t>
            </a:r>
            <a:r>
              <a:rPr lang="en-US" sz="1300" b="0" i="1">
                <a:solidFill>
                  <a:srgbClr val="5A6B7B"/>
                </a:solidFill>
                <a:latin typeface="Calibri"/>
              </a:rPr>
              <a:t>  </a:t>
            </a:r>
            <a:r>
              <a:rPr sz="1300" b="0" i="0">
                <a:solidFill>
                  <a:srgbClr val="5A6B7B"/>
                </a:solidFill>
                <a:latin typeface="Calibri"/>
              </a:rPr>
              <a:t> </a:t>
            </a:r>
            <a:r>
              <a:rPr sz="1300" b="0" i="0" dirty="0">
                <a:solidFill>
                  <a:srgbClr val="5A6B7B"/>
                </a:solidFill>
                <a:latin typeface="Calibri"/>
              </a:rPr>
              <a:t>Yes — by not letting either one be reached directly.</a:t>
            </a:r>
          </a:p>
        </p:txBody>
      </p:sp>
      <p:sp>
        <p:nvSpPr>
          <p:cNvPr id="9" name="TextBox 8"/>
          <p:cNvSpPr txBox="1"/>
          <p:nvPr/>
        </p:nvSpPr>
        <p:spPr>
          <a:xfrm>
            <a:off x="566928" y="1810512"/>
            <a:ext cx="5440680" cy="256032"/>
          </a:xfrm>
          <a:prstGeom prst="rect">
            <a:avLst/>
          </a:prstGeom>
          <a:noFill/>
        </p:spPr>
        <p:txBody>
          <a:bodyPr wrap="square" lIns="0" tIns="0" rIns="0" bIns="0" anchor="t">
            <a:spAutoFit/>
          </a:bodyPr>
          <a:lstStyle/>
          <a:p>
            <a:pPr algn="l">
              <a:lnSpc>
                <a:spcPct val="100000"/>
              </a:lnSpc>
            </a:pPr>
            <a:r>
              <a:rPr sz="1150" b="1" i="0">
                <a:solidFill>
                  <a:srgbClr val="1C7293"/>
                </a:solidFill>
                <a:latin typeface="Calibri"/>
              </a:rPr>
              <a:t>OUTBOUND  ·  payer reads</a:t>
            </a:r>
          </a:p>
        </p:txBody>
      </p:sp>
      <p:sp>
        <p:nvSpPr>
          <p:cNvPr id="10" name="Rounded Rectangle 9"/>
          <p:cNvSpPr/>
          <p:nvPr/>
        </p:nvSpPr>
        <p:spPr>
          <a:xfrm>
            <a:off x="566928" y="2084831"/>
            <a:ext cx="5440680" cy="2286000"/>
          </a:xfrm>
          <a:prstGeom prst="roundRect">
            <a:avLst>
              <a:gd name="adj" fmla="val 6000"/>
            </a:avLst>
          </a:prstGeom>
          <a:solidFill>
            <a:srgbClr val="FFFFFF"/>
          </a:solidFill>
          <a:ln w="9525">
            <a:solidFill>
              <a:srgbClr val="4FA6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41248" y="2231136"/>
            <a:ext cx="4937760" cy="237744"/>
          </a:xfrm>
          <a:prstGeom prst="rect">
            <a:avLst/>
          </a:prstGeom>
          <a:noFill/>
        </p:spPr>
        <p:txBody>
          <a:bodyPr wrap="square" lIns="0" tIns="0" rIns="0" bIns="0" anchor="t">
            <a:spAutoFit/>
          </a:bodyPr>
          <a:lstStyle/>
          <a:p>
            <a:pPr algn="l">
              <a:lnSpc>
                <a:spcPct val="100000"/>
              </a:lnSpc>
            </a:pPr>
            <a:r>
              <a:rPr sz="1200" b="1" i="0">
                <a:solidFill>
                  <a:srgbClr val="12283D"/>
                </a:solidFill>
                <a:latin typeface="Consolas"/>
              </a:rPr>
              <a:t>/payera/outbound   /payerb/outbound</a:t>
            </a:r>
          </a:p>
        </p:txBody>
      </p:sp>
      <p:sp>
        <p:nvSpPr>
          <p:cNvPr id="12" name="TextBox 11"/>
          <p:cNvSpPr txBox="1"/>
          <p:nvPr/>
        </p:nvSpPr>
        <p:spPr>
          <a:xfrm>
            <a:off x="868680" y="2542032"/>
            <a:ext cx="274320" cy="237744"/>
          </a:xfrm>
          <a:prstGeom prst="rect">
            <a:avLst/>
          </a:prstGeom>
          <a:noFill/>
        </p:spPr>
        <p:txBody>
          <a:bodyPr wrap="square" lIns="0" tIns="0" rIns="0" bIns="0" anchor="t">
            <a:spAutoFit/>
          </a:bodyPr>
          <a:lstStyle/>
          <a:p>
            <a:pPr algn="l">
              <a:lnSpc>
                <a:spcPct val="100000"/>
              </a:lnSpc>
            </a:pPr>
            <a:r>
              <a:rPr sz="1300" b="1" i="0">
                <a:solidFill>
                  <a:srgbClr val="2E8B57"/>
                </a:solidFill>
                <a:latin typeface="Calibri"/>
              </a:rPr>
              <a:t>✓</a:t>
            </a:r>
          </a:p>
        </p:txBody>
      </p:sp>
      <p:sp>
        <p:nvSpPr>
          <p:cNvPr id="13" name="TextBox 12"/>
          <p:cNvSpPr txBox="1"/>
          <p:nvPr/>
        </p:nvSpPr>
        <p:spPr>
          <a:xfrm>
            <a:off x="1170432" y="2542032"/>
            <a:ext cx="4663440" cy="237744"/>
          </a:xfrm>
          <a:prstGeom prst="rect">
            <a:avLst/>
          </a:prstGeom>
          <a:noFill/>
        </p:spPr>
        <p:txBody>
          <a:bodyPr wrap="square" lIns="0" tIns="0" rIns="0" bIns="0" anchor="t">
            <a:spAutoFit/>
          </a:bodyPr>
          <a:lstStyle/>
          <a:p>
            <a:pPr algn="l">
              <a:lnSpc>
                <a:spcPct val="100000"/>
              </a:lnSpc>
            </a:pPr>
            <a:r>
              <a:rPr sz="1150" b="0" i="0">
                <a:solidFill>
                  <a:srgbClr val="12283D"/>
                </a:solidFill>
                <a:latin typeface="Calibri"/>
              </a:rPr>
              <a:t>GET search — _tag forced to own contracts</a:t>
            </a:r>
          </a:p>
        </p:txBody>
      </p:sp>
      <p:sp>
        <p:nvSpPr>
          <p:cNvPr id="14" name="TextBox 13"/>
          <p:cNvSpPr txBox="1"/>
          <p:nvPr/>
        </p:nvSpPr>
        <p:spPr>
          <a:xfrm>
            <a:off x="868680" y="2889503"/>
            <a:ext cx="274320" cy="237744"/>
          </a:xfrm>
          <a:prstGeom prst="rect">
            <a:avLst/>
          </a:prstGeom>
          <a:noFill/>
        </p:spPr>
        <p:txBody>
          <a:bodyPr wrap="square" lIns="0" tIns="0" rIns="0" bIns="0" anchor="t">
            <a:spAutoFit/>
          </a:bodyPr>
          <a:lstStyle/>
          <a:p>
            <a:pPr algn="l">
              <a:lnSpc>
                <a:spcPct val="100000"/>
              </a:lnSpc>
            </a:pPr>
            <a:r>
              <a:rPr sz="1300" b="1" i="0">
                <a:solidFill>
                  <a:srgbClr val="2E8B57"/>
                </a:solidFill>
                <a:latin typeface="Calibri"/>
              </a:rPr>
              <a:t>✓</a:t>
            </a:r>
          </a:p>
        </p:txBody>
      </p:sp>
      <p:sp>
        <p:nvSpPr>
          <p:cNvPr id="15" name="TextBox 14"/>
          <p:cNvSpPr txBox="1"/>
          <p:nvPr/>
        </p:nvSpPr>
        <p:spPr>
          <a:xfrm>
            <a:off x="1170432" y="2889503"/>
            <a:ext cx="4663440" cy="237744"/>
          </a:xfrm>
          <a:prstGeom prst="rect">
            <a:avLst/>
          </a:prstGeom>
          <a:noFill/>
        </p:spPr>
        <p:txBody>
          <a:bodyPr wrap="square" lIns="0" tIns="0" rIns="0" bIns="0" anchor="t">
            <a:spAutoFit/>
          </a:bodyPr>
          <a:lstStyle/>
          <a:p>
            <a:pPr algn="l">
              <a:lnSpc>
                <a:spcPct val="100000"/>
              </a:lnSpc>
            </a:pPr>
            <a:r>
              <a:rPr sz="1150" b="0" i="0">
                <a:solidFill>
                  <a:srgbClr val="12283D"/>
                </a:solidFill>
                <a:latin typeface="Calibri"/>
              </a:rPr>
              <a:t>GET Group/{id}/$export — own Groups only</a:t>
            </a:r>
          </a:p>
        </p:txBody>
      </p:sp>
      <p:sp>
        <p:nvSpPr>
          <p:cNvPr id="16" name="TextBox 15"/>
          <p:cNvSpPr txBox="1"/>
          <p:nvPr/>
        </p:nvSpPr>
        <p:spPr>
          <a:xfrm>
            <a:off x="868680" y="3236976"/>
            <a:ext cx="274320" cy="237744"/>
          </a:xfrm>
          <a:prstGeom prst="rect">
            <a:avLst/>
          </a:prstGeom>
          <a:noFill/>
        </p:spPr>
        <p:txBody>
          <a:bodyPr wrap="square" lIns="0" tIns="0" rIns="0" bIns="0" anchor="t">
            <a:spAutoFit/>
          </a:bodyPr>
          <a:lstStyle/>
          <a:p>
            <a:pPr algn="l">
              <a:lnSpc>
                <a:spcPct val="100000"/>
              </a:lnSpc>
            </a:pPr>
            <a:r>
              <a:rPr sz="1300" b="1" i="0">
                <a:solidFill>
                  <a:srgbClr val="2E8B57"/>
                </a:solidFill>
                <a:latin typeface="Calibri"/>
              </a:rPr>
              <a:t>✓</a:t>
            </a:r>
          </a:p>
        </p:txBody>
      </p:sp>
      <p:sp>
        <p:nvSpPr>
          <p:cNvPr id="17" name="TextBox 16"/>
          <p:cNvSpPr txBox="1"/>
          <p:nvPr/>
        </p:nvSpPr>
        <p:spPr>
          <a:xfrm>
            <a:off x="1170432" y="3236976"/>
            <a:ext cx="4663440" cy="237744"/>
          </a:xfrm>
          <a:prstGeom prst="rect">
            <a:avLst/>
          </a:prstGeom>
          <a:noFill/>
        </p:spPr>
        <p:txBody>
          <a:bodyPr wrap="square" lIns="0" tIns="0" rIns="0" bIns="0" anchor="t">
            <a:spAutoFit/>
          </a:bodyPr>
          <a:lstStyle/>
          <a:p>
            <a:pPr algn="l">
              <a:lnSpc>
                <a:spcPct val="100000"/>
              </a:lnSpc>
            </a:pPr>
            <a:r>
              <a:rPr sz="1150" b="0" i="0">
                <a:solidFill>
                  <a:srgbClr val="12283D"/>
                </a:solidFill>
                <a:latin typeface="Calibri"/>
              </a:rPr>
              <a:t>GET metadata, smart-configuration</a:t>
            </a:r>
          </a:p>
        </p:txBody>
      </p:sp>
      <p:sp>
        <p:nvSpPr>
          <p:cNvPr id="18" name="TextBox 17"/>
          <p:cNvSpPr txBox="1"/>
          <p:nvPr/>
        </p:nvSpPr>
        <p:spPr>
          <a:xfrm>
            <a:off x="868680" y="3584448"/>
            <a:ext cx="274320" cy="237744"/>
          </a:xfrm>
          <a:prstGeom prst="rect">
            <a:avLst/>
          </a:prstGeom>
          <a:noFill/>
        </p:spPr>
        <p:txBody>
          <a:bodyPr wrap="square" lIns="0" tIns="0" rIns="0" bIns="0" anchor="t">
            <a:spAutoFit/>
          </a:bodyPr>
          <a:lstStyle/>
          <a:p>
            <a:pPr algn="l">
              <a:lnSpc>
                <a:spcPct val="100000"/>
              </a:lnSpc>
            </a:pPr>
            <a:r>
              <a:rPr sz="1300" b="1" i="0">
                <a:solidFill>
                  <a:srgbClr val="B03A2B"/>
                </a:solidFill>
                <a:latin typeface="Calibri"/>
              </a:rPr>
              <a:t>✕</a:t>
            </a:r>
          </a:p>
        </p:txBody>
      </p:sp>
      <p:sp>
        <p:nvSpPr>
          <p:cNvPr id="19" name="TextBox 18"/>
          <p:cNvSpPr txBox="1"/>
          <p:nvPr/>
        </p:nvSpPr>
        <p:spPr>
          <a:xfrm>
            <a:off x="1170432" y="3584448"/>
            <a:ext cx="4663440" cy="237744"/>
          </a:xfrm>
          <a:prstGeom prst="rect">
            <a:avLst/>
          </a:prstGeom>
          <a:noFill/>
        </p:spPr>
        <p:txBody>
          <a:bodyPr wrap="square" lIns="0" tIns="0" rIns="0" bIns="0" anchor="t">
            <a:spAutoFit/>
          </a:bodyPr>
          <a:lstStyle/>
          <a:p>
            <a:pPr algn="l">
              <a:lnSpc>
                <a:spcPct val="100000"/>
              </a:lnSpc>
            </a:pPr>
            <a:r>
              <a:rPr sz="1150" b="0" i="0">
                <a:solidFill>
                  <a:srgbClr val="5A6B7B"/>
                </a:solidFill>
                <a:latin typeface="Calibri"/>
              </a:rPr>
              <a:t>POST / PUT / PATCH / DELETE</a:t>
            </a:r>
          </a:p>
        </p:txBody>
      </p:sp>
      <p:sp>
        <p:nvSpPr>
          <p:cNvPr id="20" name="TextBox 19"/>
          <p:cNvSpPr txBox="1"/>
          <p:nvPr/>
        </p:nvSpPr>
        <p:spPr>
          <a:xfrm>
            <a:off x="868680" y="3931920"/>
            <a:ext cx="274320" cy="237744"/>
          </a:xfrm>
          <a:prstGeom prst="rect">
            <a:avLst/>
          </a:prstGeom>
          <a:noFill/>
        </p:spPr>
        <p:txBody>
          <a:bodyPr wrap="square" lIns="0" tIns="0" rIns="0" bIns="0" anchor="t">
            <a:spAutoFit/>
          </a:bodyPr>
          <a:lstStyle/>
          <a:p>
            <a:pPr algn="l">
              <a:lnSpc>
                <a:spcPct val="100000"/>
              </a:lnSpc>
            </a:pPr>
            <a:r>
              <a:rPr sz="1300" b="1" i="0">
                <a:solidFill>
                  <a:srgbClr val="B03A2B"/>
                </a:solidFill>
                <a:latin typeface="Calibri"/>
              </a:rPr>
              <a:t>✕</a:t>
            </a:r>
          </a:p>
        </p:txBody>
      </p:sp>
      <p:sp>
        <p:nvSpPr>
          <p:cNvPr id="21" name="TextBox 20"/>
          <p:cNvSpPr txBox="1"/>
          <p:nvPr/>
        </p:nvSpPr>
        <p:spPr>
          <a:xfrm>
            <a:off x="1170432" y="3931920"/>
            <a:ext cx="4663440" cy="237744"/>
          </a:xfrm>
          <a:prstGeom prst="rect">
            <a:avLst/>
          </a:prstGeom>
          <a:noFill/>
        </p:spPr>
        <p:txBody>
          <a:bodyPr wrap="square" lIns="0" tIns="0" rIns="0" bIns="0" anchor="t">
            <a:spAutoFit/>
          </a:bodyPr>
          <a:lstStyle/>
          <a:p>
            <a:pPr algn="l">
              <a:lnSpc>
                <a:spcPct val="100000"/>
              </a:lnSpc>
            </a:pPr>
            <a:r>
              <a:rPr sz="1150" b="0" i="0">
                <a:solidFill>
                  <a:srgbClr val="5A6B7B"/>
                </a:solidFill>
                <a:latin typeface="Calibri"/>
              </a:rPr>
              <a:t>System or Patient level $export</a:t>
            </a:r>
          </a:p>
        </p:txBody>
      </p:sp>
      <p:sp>
        <p:nvSpPr>
          <p:cNvPr id="22" name="TextBox 21"/>
          <p:cNvSpPr txBox="1"/>
          <p:nvPr/>
        </p:nvSpPr>
        <p:spPr>
          <a:xfrm>
            <a:off x="6199632" y="1810512"/>
            <a:ext cx="5431536" cy="256032"/>
          </a:xfrm>
          <a:prstGeom prst="rect">
            <a:avLst/>
          </a:prstGeom>
          <a:noFill/>
        </p:spPr>
        <p:txBody>
          <a:bodyPr wrap="square" lIns="0" tIns="0" rIns="0" bIns="0" anchor="t">
            <a:spAutoFit/>
          </a:bodyPr>
          <a:lstStyle/>
          <a:p>
            <a:pPr algn="l">
              <a:lnSpc>
                <a:spcPct val="100000"/>
              </a:lnSpc>
            </a:pPr>
            <a:r>
              <a:rPr sz="1150" b="1" i="0">
                <a:solidFill>
                  <a:srgbClr val="D9822B"/>
                </a:solidFill>
                <a:latin typeface="Calibri"/>
              </a:rPr>
              <a:t>INBOUND  ·  Northwind Health writes</a:t>
            </a:r>
          </a:p>
        </p:txBody>
      </p:sp>
      <p:sp>
        <p:nvSpPr>
          <p:cNvPr id="23" name="Rounded Rectangle 22"/>
          <p:cNvSpPr/>
          <p:nvPr/>
        </p:nvSpPr>
        <p:spPr>
          <a:xfrm>
            <a:off x="6199632" y="2084831"/>
            <a:ext cx="5431536" cy="2286000"/>
          </a:xfrm>
          <a:prstGeom prst="roundRect">
            <a:avLst>
              <a:gd name="adj" fmla="val 6000"/>
            </a:avLst>
          </a:prstGeom>
          <a:solidFill>
            <a:srgbClr val="FFFFFF"/>
          </a:solidFill>
          <a:ln w="9525">
            <a:solidFill>
              <a:srgbClr val="D9822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6473952" y="2231136"/>
            <a:ext cx="4937760" cy="237744"/>
          </a:xfrm>
          <a:prstGeom prst="rect">
            <a:avLst/>
          </a:prstGeom>
          <a:noFill/>
        </p:spPr>
        <p:txBody>
          <a:bodyPr wrap="square" lIns="0" tIns="0" rIns="0" bIns="0" anchor="t">
            <a:spAutoFit/>
          </a:bodyPr>
          <a:lstStyle/>
          <a:p>
            <a:pPr algn="l">
              <a:lnSpc>
                <a:spcPct val="100000"/>
              </a:lnSpc>
            </a:pPr>
            <a:r>
              <a:rPr sz="1200" b="1" i="0">
                <a:solidFill>
                  <a:srgbClr val="12283D"/>
                </a:solidFill>
                <a:latin typeface="Consolas"/>
              </a:rPr>
              <a:t>/payera/inbound   /payerb/inbound</a:t>
            </a:r>
          </a:p>
        </p:txBody>
      </p:sp>
      <p:sp>
        <p:nvSpPr>
          <p:cNvPr id="25" name="TextBox 24"/>
          <p:cNvSpPr txBox="1"/>
          <p:nvPr/>
        </p:nvSpPr>
        <p:spPr>
          <a:xfrm>
            <a:off x="6501384" y="2542032"/>
            <a:ext cx="274320" cy="237744"/>
          </a:xfrm>
          <a:prstGeom prst="rect">
            <a:avLst/>
          </a:prstGeom>
          <a:noFill/>
        </p:spPr>
        <p:txBody>
          <a:bodyPr wrap="square" lIns="0" tIns="0" rIns="0" bIns="0" anchor="t">
            <a:spAutoFit/>
          </a:bodyPr>
          <a:lstStyle/>
          <a:p>
            <a:pPr algn="l">
              <a:lnSpc>
                <a:spcPct val="100000"/>
              </a:lnSpc>
            </a:pPr>
            <a:r>
              <a:rPr sz="1300" b="1" i="0">
                <a:solidFill>
                  <a:srgbClr val="2E8B57"/>
                </a:solidFill>
                <a:latin typeface="Calibri"/>
              </a:rPr>
              <a:t>✓</a:t>
            </a:r>
          </a:p>
        </p:txBody>
      </p:sp>
      <p:sp>
        <p:nvSpPr>
          <p:cNvPr id="26" name="TextBox 25"/>
          <p:cNvSpPr txBox="1"/>
          <p:nvPr/>
        </p:nvSpPr>
        <p:spPr>
          <a:xfrm>
            <a:off x="6803136" y="2542032"/>
            <a:ext cx="4663440" cy="237744"/>
          </a:xfrm>
          <a:prstGeom prst="rect">
            <a:avLst/>
          </a:prstGeom>
          <a:noFill/>
        </p:spPr>
        <p:txBody>
          <a:bodyPr wrap="square" lIns="0" tIns="0" rIns="0" bIns="0" anchor="t">
            <a:spAutoFit/>
          </a:bodyPr>
          <a:lstStyle/>
          <a:p>
            <a:pPr algn="l">
              <a:lnSpc>
                <a:spcPct val="100000"/>
              </a:lnSpc>
            </a:pPr>
            <a:r>
              <a:rPr sz="1150" b="0" i="0">
                <a:solidFill>
                  <a:srgbClr val="12283D"/>
                </a:solidFill>
                <a:latin typeface="Calibri"/>
              </a:rPr>
              <a:t>POST / PUT — stamps meta.tag on write</a:t>
            </a:r>
          </a:p>
        </p:txBody>
      </p:sp>
      <p:sp>
        <p:nvSpPr>
          <p:cNvPr id="27" name="TextBox 26"/>
          <p:cNvSpPr txBox="1"/>
          <p:nvPr/>
        </p:nvSpPr>
        <p:spPr>
          <a:xfrm>
            <a:off x="6501384" y="2889503"/>
            <a:ext cx="274320" cy="237744"/>
          </a:xfrm>
          <a:prstGeom prst="rect">
            <a:avLst/>
          </a:prstGeom>
          <a:noFill/>
        </p:spPr>
        <p:txBody>
          <a:bodyPr wrap="square" lIns="0" tIns="0" rIns="0" bIns="0" anchor="t">
            <a:spAutoFit/>
          </a:bodyPr>
          <a:lstStyle/>
          <a:p>
            <a:pPr algn="l">
              <a:lnSpc>
                <a:spcPct val="100000"/>
              </a:lnSpc>
            </a:pPr>
            <a:r>
              <a:rPr sz="1300" b="1" i="0">
                <a:solidFill>
                  <a:srgbClr val="2E8B57"/>
                </a:solidFill>
                <a:latin typeface="Calibri"/>
              </a:rPr>
              <a:t>✓</a:t>
            </a:r>
          </a:p>
        </p:txBody>
      </p:sp>
      <p:sp>
        <p:nvSpPr>
          <p:cNvPr id="28" name="TextBox 27"/>
          <p:cNvSpPr txBox="1"/>
          <p:nvPr/>
        </p:nvSpPr>
        <p:spPr>
          <a:xfrm>
            <a:off x="6803136" y="2889503"/>
            <a:ext cx="4663440" cy="237744"/>
          </a:xfrm>
          <a:prstGeom prst="rect">
            <a:avLst/>
          </a:prstGeom>
          <a:noFill/>
        </p:spPr>
        <p:txBody>
          <a:bodyPr wrap="square" lIns="0" tIns="0" rIns="0" bIns="0" anchor="t">
            <a:spAutoFit/>
          </a:bodyPr>
          <a:lstStyle/>
          <a:p>
            <a:pPr algn="l">
              <a:lnSpc>
                <a:spcPct val="100000"/>
              </a:lnSpc>
            </a:pPr>
            <a:r>
              <a:rPr sz="1150" b="0" i="0">
                <a:solidFill>
                  <a:srgbClr val="12283D"/>
                </a:solidFill>
                <a:latin typeface="Calibri"/>
              </a:rPr>
              <a:t>X-Northwind Health-Contract header mandatory</a:t>
            </a:r>
          </a:p>
        </p:txBody>
      </p:sp>
      <p:sp>
        <p:nvSpPr>
          <p:cNvPr id="29" name="TextBox 28"/>
          <p:cNvSpPr txBox="1"/>
          <p:nvPr/>
        </p:nvSpPr>
        <p:spPr>
          <a:xfrm>
            <a:off x="6501384" y="3236976"/>
            <a:ext cx="274320" cy="237744"/>
          </a:xfrm>
          <a:prstGeom prst="rect">
            <a:avLst/>
          </a:prstGeom>
          <a:noFill/>
        </p:spPr>
        <p:txBody>
          <a:bodyPr wrap="square" lIns="0" tIns="0" rIns="0" bIns="0" anchor="t">
            <a:spAutoFit/>
          </a:bodyPr>
          <a:lstStyle/>
          <a:p>
            <a:pPr algn="l">
              <a:lnSpc>
                <a:spcPct val="100000"/>
              </a:lnSpc>
            </a:pPr>
            <a:r>
              <a:rPr sz="1300" b="1" i="0">
                <a:solidFill>
                  <a:srgbClr val="2E8B57"/>
                </a:solidFill>
                <a:latin typeface="Calibri"/>
              </a:rPr>
              <a:t>✓</a:t>
            </a:r>
          </a:p>
        </p:txBody>
      </p:sp>
      <p:sp>
        <p:nvSpPr>
          <p:cNvPr id="30" name="TextBox 29"/>
          <p:cNvSpPr txBox="1"/>
          <p:nvPr/>
        </p:nvSpPr>
        <p:spPr>
          <a:xfrm>
            <a:off x="6803136" y="3236976"/>
            <a:ext cx="4663440" cy="237744"/>
          </a:xfrm>
          <a:prstGeom prst="rect">
            <a:avLst/>
          </a:prstGeom>
          <a:noFill/>
        </p:spPr>
        <p:txBody>
          <a:bodyPr wrap="square" lIns="0" tIns="0" rIns="0" bIns="0" anchor="t">
            <a:spAutoFit/>
          </a:bodyPr>
          <a:lstStyle/>
          <a:p>
            <a:pPr algn="l">
              <a:lnSpc>
                <a:spcPct val="100000"/>
              </a:lnSpc>
            </a:pPr>
            <a:r>
              <a:rPr sz="1150" b="0" i="0">
                <a:solidFill>
                  <a:srgbClr val="12283D"/>
                </a:solidFill>
                <a:latin typeface="Calibri"/>
              </a:rPr>
              <a:t>Bundle transaction ingest</a:t>
            </a:r>
          </a:p>
        </p:txBody>
      </p:sp>
      <p:sp>
        <p:nvSpPr>
          <p:cNvPr id="31" name="TextBox 30"/>
          <p:cNvSpPr txBox="1"/>
          <p:nvPr/>
        </p:nvSpPr>
        <p:spPr>
          <a:xfrm>
            <a:off x="6501384" y="3584448"/>
            <a:ext cx="274320" cy="237744"/>
          </a:xfrm>
          <a:prstGeom prst="rect">
            <a:avLst/>
          </a:prstGeom>
          <a:noFill/>
        </p:spPr>
        <p:txBody>
          <a:bodyPr wrap="square" lIns="0" tIns="0" rIns="0" bIns="0" anchor="t">
            <a:spAutoFit/>
          </a:bodyPr>
          <a:lstStyle/>
          <a:p>
            <a:pPr algn="l">
              <a:lnSpc>
                <a:spcPct val="100000"/>
              </a:lnSpc>
            </a:pPr>
            <a:r>
              <a:rPr sz="1300" b="1" i="0">
                <a:solidFill>
                  <a:srgbClr val="B03A2B"/>
                </a:solidFill>
                <a:latin typeface="Calibri"/>
              </a:rPr>
              <a:t>✕</a:t>
            </a:r>
          </a:p>
        </p:txBody>
      </p:sp>
      <p:sp>
        <p:nvSpPr>
          <p:cNvPr id="32" name="TextBox 31"/>
          <p:cNvSpPr txBox="1"/>
          <p:nvPr/>
        </p:nvSpPr>
        <p:spPr>
          <a:xfrm>
            <a:off x="6803136" y="3584448"/>
            <a:ext cx="4663440" cy="237744"/>
          </a:xfrm>
          <a:prstGeom prst="rect">
            <a:avLst/>
          </a:prstGeom>
          <a:noFill/>
        </p:spPr>
        <p:txBody>
          <a:bodyPr wrap="square" lIns="0" tIns="0" rIns="0" bIns="0" anchor="t">
            <a:spAutoFit/>
          </a:bodyPr>
          <a:lstStyle/>
          <a:p>
            <a:pPr algn="l">
              <a:lnSpc>
                <a:spcPct val="100000"/>
              </a:lnSpc>
            </a:pPr>
            <a:r>
              <a:rPr sz="1150" b="0" i="0">
                <a:solidFill>
                  <a:srgbClr val="5A6B7B"/>
                </a:solidFill>
                <a:latin typeface="Calibri"/>
              </a:rPr>
              <a:t>$export — denied outright</a:t>
            </a:r>
          </a:p>
        </p:txBody>
      </p:sp>
      <p:sp>
        <p:nvSpPr>
          <p:cNvPr id="33" name="TextBox 32"/>
          <p:cNvSpPr txBox="1"/>
          <p:nvPr/>
        </p:nvSpPr>
        <p:spPr>
          <a:xfrm>
            <a:off x="6501384" y="3931920"/>
            <a:ext cx="274320" cy="237744"/>
          </a:xfrm>
          <a:prstGeom prst="rect">
            <a:avLst/>
          </a:prstGeom>
          <a:noFill/>
        </p:spPr>
        <p:txBody>
          <a:bodyPr wrap="square" lIns="0" tIns="0" rIns="0" bIns="0" anchor="t">
            <a:spAutoFit/>
          </a:bodyPr>
          <a:lstStyle/>
          <a:p>
            <a:pPr algn="l">
              <a:lnSpc>
                <a:spcPct val="100000"/>
              </a:lnSpc>
            </a:pPr>
            <a:r>
              <a:rPr sz="1300" b="1" i="0">
                <a:solidFill>
                  <a:srgbClr val="B03A2B"/>
                </a:solidFill>
                <a:latin typeface="Calibri"/>
              </a:rPr>
              <a:t>✕</a:t>
            </a:r>
          </a:p>
        </p:txBody>
      </p:sp>
      <p:sp>
        <p:nvSpPr>
          <p:cNvPr id="34" name="TextBox 33"/>
          <p:cNvSpPr txBox="1"/>
          <p:nvPr/>
        </p:nvSpPr>
        <p:spPr>
          <a:xfrm>
            <a:off x="6803136" y="3931920"/>
            <a:ext cx="4663440" cy="237744"/>
          </a:xfrm>
          <a:prstGeom prst="rect">
            <a:avLst/>
          </a:prstGeom>
          <a:noFill/>
        </p:spPr>
        <p:txBody>
          <a:bodyPr wrap="square" lIns="0" tIns="0" rIns="0" bIns="0" anchor="t">
            <a:spAutoFit/>
          </a:bodyPr>
          <a:lstStyle/>
          <a:p>
            <a:pPr algn="l">
              <a:lnSpc>
                <a:spcPct val="100000"/>
              </a:lnSpc>
            </a:pPr>
            <a:r>
              <a:rPr sz="1150" b="0" i="0">
                <a:solidFill>
                  <a:srgbClr val="5A6B7B"/>
                </a:solidFill>
                <a:latin typeface="Calibri"/>
              </a:rPr>
              <a:t>Payer credentials — not entitled here</a:t>
            </a:r>
          </a:p>
        </p:txBody>
      </p:sp>
      <p:sp>
        <p:nvSpPr>
          <p:cNvPr id="35" name="Rounded Rectangle 34"/>
          <p:cNvSpPr/>
          <p:nvPr/>
        </p:nvSpPr>
        <p:spPr>
          <a:xfrm>
            <a:off x="566928" y="4526280"/>
            <a:ext cx="11064240" cy="1313499"/>
          </a:xfrm>
          <a:prstGeom prst="roundRect">
            <a:avLst>
              <a:gd name="adj" fmla="val 6000"/>
            </a:avLst>
          </a:prstGeom>
          <a:solidFill>
            <a:srgbClr val="ECF4F8"/>
          </a:solidFill>
          <a:ln w="9525">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841248" y="4700016"/>
            <a:ext cx="10515600" cy="176972"/>
          </a:xfrm>
          <a:prstGeom prst="rect">
            <a:avLst/>
          </a:prstGeom>
          <a:noFill/>
        </p:spPr>
        <p:txBody>
          <a:bodyPr wrap="square" lIns="0" tIns="0" rIns="0" bIns="0" anchor="t">
            <a:spAutoFit/>
          </a:bodyPr>
          <a:lstStyle/>
          <a:p>
            <a:pPr algn="l">
              <a:lnSpc>
                <a:spcPct val="100000"/>
              </a:lnSpc>
            </a:pPr>
            <a:r>
              <a:rPr sz="1150" b="1" i="0" dirty="0">
                <a:solidFill>
                  <a:srgbClr val="1C7293"/>
                </a:solidFill>
                <a:latin typeface="Calibri"/>
              </a:rPr>
              <a:t>MECHANISM</a:t>
            </a:r>
          </a:p>
        </p:txBody>
      </p:sp>
      <p:sp>
        <p:nvSpPr>
          <p:cNvPr id="37" name="TextBox 36"/>
          <p:cNvSpPr txBox="1"/>
          <p:nvPr/>
        </p:nvSpPr>
        <p:spPr>
          <a:xfrm>
            <a:off x="841248" y="5029200"/>
            <a:ext cx="10607040" cy="511102"/>
          </a:xfrm>
          <a:prstGeom prst="rect">
            <a:avLst/>
          </a:prstGeom>
          <a:noFill/>
        </p:spPr>
        <p:txBody>
          <a:bodyPr wrap="square" lIns="0" tIns="0" rIns="0" bIns="0" anchor="t">
            <a:spAutoFit/>
          </a:bodyPr>
          <a:lstStyle/>
          <a:p>
            <a:pPr algn="l">
              <a:lnSpc>
                <a:spcPct val="128000"/>
              </a:lnSpc>
            </a:pPr>
            <a:r>
              <a:rPr sz="1350" b="0" i="0" dirty="0">
                <a:solidFill>
                  <a:srgbClr val="12283D"/>
                </a:solidFill>
                <a:latin typeface="Calibri"/>
              </a:rPr>
              <a:t>Both routes reach the same FHIR service, which the payer’s credential cannot access directly — each route is the only door in, and each runs its own allow-list before opening.</a:t>
            </a:r>
          </a:p>
        </p:txBody>
      </p:sp>
    </p:spTree>
    <p:extLst>
      <p:ext uri="{BB962C8B-B14F-4D97-AF65-F5344CB8AC3E}">
        <p14:creationId xmlns:p14="http://schemas.microsoft.com/office/powerpoint/2010/main" val="36848369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8FA"/>
        </a:solidFill>
        <a:effectLst/>
      </p:bgPr>
    </p:bg>
    <p:spTree>
      <p:nvGrpSpPr>
        <p:cNvPr id="1" name=""/>
        <p:cNvGrpSpPr/>
        <p:nvPr/>
      </p:nvGrpSpPr>
      <p:grpSpPr>
        <a:xfrm>
          <a:off x="0" y="0"/>
          <a:ext cx="0" cy="0"/>
          <a:chOff x="0" y="0"/>
          <a:chExt cx="0" cy="0"/>
        </a:xfrm>
      </p:grpSpPr>
      <p:sp>
        <p:nvSpPr>
          <p:cNvPr id="2" name="Rectangle 1"/>
          <p:cNvSpPr/>
          <p:nvPr/>
        </p:nvSpPr>
        <p:spPr>
          <a:xfrm>
            <a:off x="566928" y="420624"/>
            <a:ext cx="68580" cy="65836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77240" y="420624"/>
            <a:ext cx="10789920" cy="161583"/>
          </a:xfrm>
          <a:prstGeom prst="rect">
            <a:avLst/>
          </a:prstGeom>
          <a:noFill/>
        </p:spPr>
        <p:txBody>
          <a:bodyPr wrap="square" lIns="0" tIns="0" rIns="0" bIns="0" anchor="t">
            <a:spAutoFit/>
          </a:bodyPr>
          <a:lstStyle/>
          <a:p>
            <a:pPr algn="l">
              <a:lnSpc>
                <a:spcPct val="100000"/>
              </a:lnSpc>
            </a:pPr>
            <a:r>
              <a:rPr sz="1050" b="1" i="0" dirty="0">
                <a:solidFill>
                  <a:srgbClr val="1C7293"/>
                </a:solidFill>
                <a:latin typeface="Calibri"/>
              </a:rPr>
              <a:t>INBOUND VS OUTBOUND PARTITIONING</a:t>
            </a:r>
          </a:p>
        </p:txBody>
      </p:sp>
      <p:sp>
        <p:nvSpPr>
          <p:cNvPr id="4" name="TextBox 3"/>
          <p:cNvSpPr txBox="1"/>
          <p:nvPr/>
        </p:nvSpPr>
        <p:spPr>
          <a:xfrm>
            <a:off x="777240" y="658368"/>
            <a:ext cx="10789920" cy="415498"/>
          </a:xfrm>
          <a:prstGeom prst="rect">
            <a:avLst/>
          </a:prstGeom>
          <a:noFill/>
        </p:spPr>
        <p:txBody>
          <a:bodyPr wrap="square" lIns="0" tIns="0" rIns="0" bIns="0" anchor="t">
            <a:spAutoFit/>
          </a:bodyPr>
          <a:lstStyle/>
          <a:p>
            <a:pPr algn="l">
              <a:lnSpc>
                <a:spcPct val="100000"/>
              </a:lnSpc>
            </a:pPr>
            <a:r>
              <a:rPr lang="en-US" sz="2700" b="1" i="0" dirty="0">
                <a:solidFill>
                  <a:srgbClr val="12283D"/>
                </a:solidFill>
                <a:latin typeface="Cambria"/>
              </a:rPr>
              <a:t>Enforcement of </a:t>
            </a:r>
            <a:r>
              <a:rPr lang="en-US" sz="2700" b="1" dirty="0">
                <a:solidFill>
                  <a:srgbClr val="12283D"/>
                </a:solidFill>
                <a:latin typeface="Cambria"/>
              </a:rPr>
              <a:t>C</a:t>
            </a:r>
            <a:r>
              <a:rPr sz="2700" b="1" i="0" dirty="0">
                <a:solidFill>
                  <a:srgbClr val="12283D"/>
                </a:solidFill>
                <a:latin typeface="Cambria"/>
              </a:rPr>
              <a:t>ontract </a:t>
            </a:r>
            <a:r>
              <a:rPr lang="en-US" sz="2700" b="1" dirty="0">
                <a:solidFill>
                  <a:srgbClr val="12283D"/>
                </a:solidFill>
                <a:latin typeface="Cambria"/>
              </a:rPr>
              <a:t>B</a:t>
            </a:r>
            <a:r>
              <a:rPr sz="2700" b="1" i="0" dirty="0">
                <a:solidFill>
                  <a:srgbClr val="12283D"/>
                </a:solidFill>
                <a:latin typeface="Cambria"/>
              </a:rPr>
              <a:t>oundar</a:t>
            </a:r>
            <a:r>
              <a:rPr lang="en-US" sz="2700" b="1" i="0" dirty="0">
                <a:solidFill>
                  <a:srgbClr val="12283D"/>
                </a:solidFill>
                <a:latin typeface="Cambria"/>
              </a:rPr>
              <a:t>y</a:t>
            </a:r>
            <a:endParaRPr sz="2700" b="1" i="0" dirty="0">
              <a:solidFill>
                <a:srgbClr val="12283D"/>
              </a:solidFill>
              <a:latin typeface="Cambria"/>
            </a:endParaRPr>
          </a:p>
        </p:txBody>
      </p:sp>
      <p:sp>
        <p:nvSpPr>
          <p:cNvPr id="5" name="Rectangle 4"/>
          <p:cNvSpPr/>
          <p:nvPr/>
        </p:nvSpPr>
        <p:spPr>
          <a:xfrm>
            <a:off x="566928" y="6345936"/>
            <a:ext cx="11064240" cy="12801"/>
          </a:xfrm>
          <a:prstGeom prst="rect">
            <a:avLst/>
          </a:prstGeom>
          <a:solidFill>
            <a:srgbClr val="D8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0058400" y="6428232"/>
            <a:ext cx="1572768" cy="219456"/>
          </a:xfrm>
          <a:prstGeom prst="rect">
            <a:avLst/>
          </a:prstGeom>
          <a:noFill/>
        </p:spPr>
        <p:txBody>
          <a:bodyPr wrap="square" lIns="0" tIns="0" rIns="0" bIns="0" anchor="t">
            <a:spAutoFit/>
          </a:bodyPr>
          <a:lstStyle/>
          <a:p>
            <a:pPr algn="r">
              <a:lnSpc>
                <a:spcPct val="100000"/>
              </a:lnSpc>
            </a:pPr>
            <a:r>
              <a:rPr sz="900" b="0" i="0">
                <a:solidFill>
                  <a:srgbClr val="5A6B7B"/>
                </a:solidFill>
                <a:latin typeface="Calibri"/>
              </a:rPr>
              <a:t>12</a:t>
            </a:r>
          </a:p>
        </p:txBody>
      </p:sp>
      <p:sp>
        <p:nvSpPr>
          <p:cNvPr id="8" name="TextBox 7"/>
          <p:cNvSpPr txBox="1"/>
          <p:nvPr/>
        </p:nvSpPr>
        <p:spPr>
          <a:xfrm>
            <a:off x="566928" y="1293322"/>
            <a:ext cx="11064240" cy="256032"/>
          </a:xfrm>
          <a:prstGeom prst="rect">
            <a:avLst/>
          </a:prstGeom>
          <a:noFill/>
        </p:spPr>
        <p:txBody>
          <a:bodyPr wrap="square" lIns="0" tIns="0" rIns="0" bIns="0" anchor="t">
            <a:spAutoFit/>
          </a:bodyPr>
          <a:lstStyle/>
          <a:p>
            <a:pPr algn="l">
              <a:lnSpc>
                <a:spcPct val="100000"/>
              </a:lnSpc>
            </a:pPr>
            <a:r>
              <a:rPr sz="1150" b="1" i="0" dirty="0">
                <a:solidFill>
                  <a:srgbClr val="D9822B"/>
                </a:solidFill>
                <a:latin typeface="Calibri"/>
              </a:rPr>
              <a:t>1  ·  ON INGEST — every resource is stamped</a:t>
            </a:r>
          </a:p>
        </p:txBody>
      </p:sp>
      <p:sp>
        <p:nvSpPr>
          <p:cNvPr id="9" name="Rounded Rectangle 8"/>
          <p:cNvSpPr/>
          <p:nvPr/>
        </p:nvSpPr>
        <p:spPr>
          <a:xfrm>
            <a:off x="566928" y="1604218"/>
            <a:ext cx="5440680" cy="1449878"/>
          </a:xfrm>
          <a:prstGeom prst="roundRect">
            <a:avLst>
              <a:gd name="adj" fmla="val 4000"/>
            </a:avLst>
          </a:prstGeom>
          <a:solidFill>
            <a:srgbClr val="0B2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77240" y="1712105"/>
            <a:ext cx="5093208" cy="1323504"/>
          </a:xfrm>
          <a:prstGeom prst="rect">
            <a:avLst/>
          </a:prstGeom>
          <a:noFill/>
        </p:spPr>
        <p:txBody>
          <a:bodyPr wrap="square" lIns="0" tIns="0" rIns="0" bIns="0" anchor="t">
            <a:spAutoFit/>
          </a:bodyPr>
          <a:lstStyle/>
          <a:p>
            <a:pPr algn="l">
              <a:lnSpc>
                <a:spcPct val="118000"/>
              </a:lnSpc>
            </a:pPr>
            <a:r>
              <a:rPr sz="1050" b="0" i="0" dirty="0">
                <a:solidFill>
                  <a:srgbClr val="4FA6C4"/>
                </a:solidFill>
                <a:latin typeface="Consolas"/>
              </a:rPr>
              <a:t>POST /</a:t>
            </a:r>
            <a:r>
              <a:rPr sz="1050" b="0" i="0" dirty="0" err="1">
                <a:solidFill>
                  <a:srgbClr val="4FA6C4"/>
                </a:solidFill>
                <a:latin typeface="Consolas"/>
              </a:rPr>
              <a:t>payera</a:t>
            </a:r>
            <a:r>
              <a:rPr sz="1050" b="0" i="0" dirty="0">
                <a:solidFill>
                  <a:srgbClr val="4FA6C4"/>
                </a:solidFill>
                <a:latin typeface="Consolas"/>
              </a:rPr>
              <a:t>/inbound/Patient</a:t>
            </a:r>
          </a:p>
          <a:p>
            <a:pPr algn="l">
              <a:lnSpc>
                <a:spcPct val="118000"/>
              </a:lnSpc>
              <a:spcBef>
                <a:spcPts val="300"/>
              </a:spcBef>
            </a:pPr>
            <a:r>
              <a:rPr sz="1050" b="0" i="0" dirty="0">
                <a:solidFill>
                  <a:srgbClr val="CFE3EF"/>
                </a:solidFill>
                <a:latin typeface="Consolas"/>
              </a:rPr>
              <a:t>X-Northwind Health-Contract: CT-3456</a:t>
            </a:r>
          </a:p>
          <a:p>
            <a:pPr algn="l">
              <a:lnSpc>
                <a:spcPct val="118000"/>
              </a:lnSpc>
              <a:spcBef>
                <a:spcPts val="300"/>
              </a:spcBef>
            </a:pPr>
            <a:endParaRPr sz="1050" b="0" i="0" dirty="0">
              <a:solidFill>
                <a:srgbClr val="CFE3EF"/>
              </a:solidFill>
              <a:latin typeface="Consolas"/>
            </a:endParaRPr>
          </a:p>
          <a:p>
            <a:pPr algn="l">
              <a:lnSpc>
                <a:spcPct val="118000"/>
              </a:lnSpc>
              <a:spcBef>
                <a:spcPts val="300"/>
              </a:spcBef>
            </a:pPr>
            <a:r>
              <a:rPr sz="1050" b="0" i="0" dirty="0">
                <a:solidFill>
                  <a:srgbClr val="9FB8CC"/>
                </a:solidFill>
                <a:latin typeface="Consolas"/>
              </a:rPr>
              <a:t>policy adds →</a:t>
            </a:r>
          </a:p>
          <a:p>
            <a:pPr algn="l">
              <a:lnSpc>
                <a:spcPct val="118000"/>
              </a:lnSpc>
              <a:spcBef>
                <a:spcPts val="300"/>
              </a:spcBef>
            </a:pPr>
            <a:r>
              <a:rPr sz="1050" b="0" i="0" dirty="0">
                <a:solidFill>
                  <a:srgbClr val="CFE3EF"/>
                </a:solidFill>
                <a:latin typeface="Consolas"/>
              </a:rPr>
              <a:t>"meta": { "tag": [{ "system": ".../contract",</a:t>
            </a:r>
          </a:p>
          <a:p>
            <a:pPr algn="l">
              <a:lnSpc>
                <a:spcPct val="118000"/>
              </a:lnSpc>
              <a:spcBef>
                <a:spcPts val="300"/>
              </a:spcBef>
            </a:pPr>
            <a:r>
              <a:rPr sz="1050" b="0" i="0" dirty="0">
                <a:solidFill>
                  <a:srgbClr val="CFE3EF"/>
                </a:solidFill>
                <a:latin typeface="Consolas"/>
              </a:rPr>
              <a:t>              "code": "CT-3456" }] }</a:t>
            </a:r>
          </a:p>
        </p:txBody>
      </p:sp>
      <p:sp>
        <p:nvSpPr>
          <p:cNvPr id="11" name="TextBox 10"/>
          <p:cNvSpPr txBox="1"/>
          <p:nvPr/>
        </p:nvSpPr>
        <p:spPr>
          <a:xfrm>
            <a:off x="6199632" y="1324137"/>
            <a:ext cx="5431536" cy="256032"/>
          </a:xfrm>
          <a:prstGeom prst="rect">
            <a:avLst/>
          </a:prstGeom>
          <a:noFill/>
        </p:spPr>
        <p:txBody>
          <a:bodyPr wrap="square" lIns="0" tIns="0" rIns="0" bIns="0" anchor="t">
            <a:spAutoFit/>
          </a:bodyPr>
          <a:lstStyle/>
          <a:p>
            <a:pPr algn="l">
              <a:lnSpc>
                <a:spcPct val="100000"/>
              </a:lnSpc>
            </a:pPr>
            <a:r>
              <a:rPr sz="1150" b="1" i="0" dirty="0">
                <a:solidFill>
                  <a:srgbClr val="1C7293"/>
                </a:solidFill>
                <a:latin typeface="Calibri"/>
              </a:rPr>
              <a:t>2  ·  ON READ — the filter is forced, not requested</a:t>
            </a:r>
          </a:p>
        </p:txBody>
      </p:sp>
      <p:sp>
        <p:nvSpPr>
          <p:cNvPr id="12" name="Rounded Rectangle 11"/>
          <p:cNvSpPr/>
          <p:nvPr/>
        </p:nvSpPr>
        <p:spPr>
          <a:xfrm>
            <a:off x="6199632" y="1567642"/>
            <a:ext cx="5431536" cy="1486454"/>
          </a:xfrm>
          <a:prstGeom prst="roundRect">
            <a:avLst>
              <a:gd name="adj" fmla="val 4000"/>
            </a:avLst>
          </a:prstGeom>
          <a:solidFill>
            <a:srgbClr val="0B2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419088" y="1689898"/>
            <a:ext cx="5148072" cy="1323504"/>
          </a:xfrm>
          <a:prstGeom prst="rect">
            <a:avLst/>
          </a:prstGeom>
          <a:noFill/>
        </p:spPr>
        <p:txBody>
          <a:bodyPr wrap="square" lIns="0" tIns="0" rIns="0" bIns="0" anchor="t">
            <a:spAutoFit/>
          </a:bodyPr>
          <a:lstStyle/>
          <a:p>
            <a:pPr algn="l">
              <a:lnSpc>
                <a:spcPct val="118000"/>
              </a:lnSpc>
            </a:pPr>
            <a:r>
              <a:rPr sz="1050" b="0" i="0" dirty="0">
                <a:solidFill>
                  <a:srgbClr val="4FA6C4"/>
                </a:solidFill>
                <a:latin typeface="Consolas"/>
              </a:rPr>
              <a:t>GET /</a:t>
            </a:r>
            <a:r>
              <a:rPr sz="1050" b="0" i="0" dirty="0" err="1">
                <a:solidFill>
                  <a:srgbClr val="4FA6C4"/>
                </a:solidFill>
                <a:latin typeface="Consolas"/>
              </a:rPr>
              <a:t>payera</a:t>
            </a:r>
            <a:r>
              <a:rPr sz="1050" b="0" i="0" dirty="0">
                <a:solidFill>
                  <a:srgbClr val="4FA6C4"/>
                </a:solidFill>
                <a:latin typeface="Consolas"/>
              </a:rPr>
              <a:t>/outbound/</a:t>
            </a:r>
            <a:r>
              <a:rPr sz="1050" b="0" i="0" dirty="0" err="1">
                <a:solidFill>
                  <a:srgbClr val="4FA6C4"/>
                </a:solidFill>
                <a:latin typeface="Consolas"/>
              </a:rPr>
              <a:t>Patient?_tag</a:t>
            </a:r>
            <a:r>
              <a:rPr sz="1050" b="0" i="0" dirty="0">
                <a:solidFill>
                  <a:srgbClr val="4FA6C4"/>
                </a:solidFill>
                <a:latin typeface="Consolas"/>
              </a:rPr>
              <a:t>=ANYTHING</a:t>
            </a:r>
          </a:p>
          <a:p>
            <a:pPr algn="l">
              <a:lnSpc>
                <a:spcPct val="118000"/>
              </a:lnSpc>
              <a:spcBef>
                <a:spcPts val="300"/>
              </a:spcBef>
            </a:pPr>
            <a:endParaRPr sz="1050" b="0" i="0" dirty="0">
              <a:solidFill>
                <a:srgbClr val="4FA6C4"/>
              </a:solidFill>
              <a:latin typeface="Consolas"/>
            </a:endParaRPr>
          </a:p>
          <a:p>
            <a:pPr algn="l">
              <a:lnSpc>
                <a:spcPct val="118000"/>
              </a:lnSpc>
              <a:spcBef>
                <a:spcPts val="300"/>
              </a:spcBef>
            </a:pPr>
            <a:r>
              <a:rPr sz="1050" b="0" i="0" dirty="0">
                <a:solidFill>
                  <a:srgbClr val="9FB8CC"/>
                </a:solidFill>
                <a:latin typeface="Consolas"/>
              </a:rPr>
              <a:t>policy overwrites →</a:t>
            </a:r>
          </a:p>
          <a:p>
            <a:pPr algn="l">
              <a:lnSpc>
                <a:spcPct val="118000"/>
              </a:lnSpc>
              <a:spcBef>
                <a:spcPts val="300"/>
              </a:spcBef>
            </a:pPr>
            <a:r>
              <a:rPr sz="1050" b="0" i="0" dirty="0">
                <a:solidFill>
                  <a:srgbClr val="CFE3EF"/>
                </a:solidFill>
                <a:latin typeface="Consolas"/>
              </a:rPr>
              <a:t>?_tag=.../contract|CT-3456,.../contract|CT-7788</a:t>
            </a:r>
          </a:p>
          <a:p>
            <a:pPr algn="l">
              <a:lnSpc>
                <a:spcPct val="118000"/>
              </a:lnSpc>
              <a:spcBef>
                <a:spcPts val="300"/>
              </a:spcBef>
            </a:pPr>
            <a:endParaRPr sz="1050" b="0" i="0" dirty="0">
              <a:solidFill>
                <a:srgbClr val="CFE3EF"/>
              </a:solidFill>
              <a:latin typeface="Consolas"/>
            </a:endParaRPr>
          </a:p>
          <a:p>
            <a:pPr algn="l">
              <a:lnSpc>
                <a:spcPct val="118000"/>
              </a:lnSpc>
              <a:spcBef>
                <a:spcPts val="300"/>
              </a:spcBef>
            </a:pPr>
            <a:r>
              <a:rPr sz="1050" b="0" i="0" dirty="0">
                <a:solidFill>
                  <a:srgbClr val="F0C87A"/>
                </a:solidFill>
                <a:latin typeface="Consolas"/>
              </a:rPr>
              <a:t>caller-supplied _tag is discarded, never merged</a:t>
            </a:r>
          </a:p>
        </p:txBody>
      </p:sp>
      <p:sp>
        <p:nvSpPr>
          <p:cNvPr id="14" name="Rounded Rectangle 13"/>
          <p:cNvSpPr/>
          <p:nvPr/>
        </p:nvSpPr>
        <p:spPr>
          <a:xfrm>
            <a:off x="566928" y="3255264"/>
            <a:ext cx="11064240" cy="1170432"/>
          </a:xfrm>
          <a:prstGeom prst="roundRect">
            <a:avLst>
              <a:gd name="adj" fmla="val 6000"/>
            </a:avLst>
          </a:prstGeom>
          <a:solidFill>
            <a:srgbClr val="FFFFFF"/>
          </a:solidFill>
          <a:ln w="9525">
            <a:solidFill>
              <a:srgbClr val="D8E2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41248" y="3419856"/>
            <a:ext cx="10515600" cy="256032"/>
          </a:xfrm>
          <a:prstGeom prst="rect">
            <a:avLst/>
          </a:prstGeom>
          <a:noFill/>
        </p:spPr>
        <p:txBody>
          <a:bodyPr wrap="square" lIns="0" tIns="0" rIns="0" bIns="0" anchor="t">
            <a:spAutoFit/>
          </a:bodyPr>
          <a:lstStyle/>
          <a:p>
            <a:pPr algn="l">
              <a:lnSpc>
                <a:spcPct val="100000"/>
              </a:lnSpc>
            </a:pPr>
            <a:r>
              <a:rPr sz="1150" b="1" i="0">
                <a:solidFill>
                  <a:srgbClr val="1C7293"/>
                </a:solidFill>
                <a:latin typeface="Calibri"/>
              </a:rPr>
              <a:t>THE ENTITLEMENT MAP  ·  an APIM named value  ·  grant or revoke a contract without redeploying</a:t>
            </a:r>
          </a:p>
        </p:txBody>
      </p:sp>
      <p:sp>
        <p:nvSpPr>
          <p:cNvPr id="16" name="TextBox 15"/>
          <p:cNvSpPr txBox="1"/>
          <p:nvPr/>
        </p:nvSpPr>
        <p:spPr>
          <a:xfrm>
            <a:off x="841248" y="3712463"/>
            <a:ext cx="10607040" cy="603504"/>
          </a:xfrm>
          <a:prstGeom prst="rect">
            <a:avLst/>
          </a:prstGeom>
          <a:noFill/>
        </p:spPr>
        <p:txBody>
          <a:bodyPr wrap="square" lIns="0" tIns="0" rIns="0" bIns="0" anchor="t">
            <a:spAutoFit/>
          </a:bodyPr>
          <a:lstStyle/>
          <a:p>
            <a:pPr algn="l">
              <a:lnSpc>
                <a:spcPct val="135000"/>
              </a:lnSpc>
            </a:pPr>
            <a:r>
              <a:rPr sz="1200" b="0" i="0">
                <a:solidFill>
                  <a:srgbClr val="12283D"/>
                </a:solidFill>
                <a:latin typeface="Consolas"/>
              </a:rPr>
              <a:t>northwind-cmsdqm-payera  →  payer 'payera', contracts CT-3456 + CT-7788, groups group-ct3456 + group-ct7788
northwind-cmsdqm-payerb  →  payer 'payerb', contract CT-9001, group group-ct9001</a:t>
            </a:r>
          </a:p>
        </p:txBody>
      </p:sp>
      <p:sp>
        <p:nvSpPr>
          <p:cNvPr id="17" name="Rounded Rectangle 16"/>
          <p:cNvSpPr/>
          <p:nvPr/>
        </p:nvSpPr>
        <p:spPr>
          <a:xfrm>
            <a:off x="566928" y="4572000"/>
            <a:ext cx="5440680" cy="1463040"/>
          </a:xfrm>
          <a:prstGeom prst="roundRect">
            <a:avLst>
              <a:gd name="adj" fmla="val 6000"/>
            </a:avLst>
          </a:prstGeom>
          <a:solidFill>
            <a:srgbClr val="E8F4EC"/>
          </a:solidFill>
          <a:ln w="9525">
            <a:solidFill>
              <a:srgbClr val="2E8B5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77240" y="4660723"/>
            <a:ext cx="4937760" cy="256032"/>
          </a:xfrm>
          <a:prstGeom prst="rect">
            <a:avLst/>
          </a:prstGeom>
          <a:noFill/>
        </p:spPr>
        <p:txBody>
          <a:bodyPr wrap="square" lIns="0" tIns="0" rIns="0" bIns="0" anchor="t">
            <a:spAutoFit/>
          </a:bodyPr>
          <a:lstStyle/>
          <a:p>
            <a:pPr algn="l">
              <a:lnSpc>
                <a:spcPct val="100000"/>
              </a:lnSpc>
            </a:pPr>
            <a:r>
              <a:rPr sz="1150" b="1" i="0" dirty="0">
                <a:solidFill>
                  <a:srgbClr val="2E8B57"/>
                </a:solidFill>
                <a:latin typeface="Calibri"/>
              </a:rPr>
              <a:t>ONBOARDING PAYER #3</a:t>
            </a:r>
          </a:p>
        </p:txBody>
      </p:sp>
      <p:sp>
        <p:nvSpPr>
          <p:cNvPr id="19" name="TextBox 18"/>
          <p:cNvSpPr txBox="1"/>
          <p:nvPr/>
        </p:nvSpPr>
        <p:spPr>
          <a:xfrm>
            <a:off x="795528" y="4944187"/>
            <a:ext cx="5029200" cy="1057277"/>
          </a:xfrm>
          <a:prstGeom prst="rect">
            <a:avLst/>
          </a:prstGeom>
          <a:noFill/>
        </p:spPr>
        <p:txBody>
          <a:bodyPr wrap="square" lIns="0" tIns="0" rIns="0" bIns="0" anchor="t">
            <a:spAutoFit/>
          </a:bodyPr>
          <a:lstStyle/>
          <a:p>
            <a:pPr algn="l">
              <a:lnSpc>
                <a:spcPct val="125000"/>
              </a:lnSpc>
            </a:pPr>
            <a:r>
              <a:rPr sz="1400" b="0" i="0" dirty="0">
                <a:solidFill>
                  <a:srgbClr val="12283D"/>
                </a:solidFill>
                <a:latin typeface="Calibri"/>
              </a:rPr>
              <a:t>Register an app, add one line to the entitlement map, create the Group. No redeployment, no code change, no downtime.</a:t>
            </a:r>
          </a:p>
          <a:p>
            <a:pPr algn="l">
              <a:lnSpc>
                <a:spcPct val="125000"/>
              </a:lnSpc>
            </a:pPr>
            <a:endParaRPr sz="1400" b="0" i="0" dirty="0">
              <a:solidFill>
                <a:srgbClr val="12283D"/>
              </a:solidFill>
              <a:latin typeface="Calibri"/>
            </a:endParaRPr>
          </a:p>
          <a:p>
            <a:pPr algn="l">
              <a:lnSpc>
                <a:spcPct val="125000"/>
              </a:lnSpc>
            </a:pPr>
            <a:r>
              <a:rPr sz="1400" b="0" i="0" dirty="0">
                <a:solidFill>
                  <a:srgbClr val="12283D"/>
                </a:solidFill>
                <a:latin typeface="Calibri"/>
              </a:rPr>
              <a:t>Revoking is the same edit in reverse — live, in about three seconds.</a:t>
            </a:r>
          </a:p>
        </p:txBody>
      </p:sp>
      <p:sp>
        <p:nvSpPr>
          <p:cNvPr id="20" name="Rounded Rectangle 19"/>
          <p:cNvSpPr/>
          <p:nvPr/>
        </p:nvSpPr>
        <p:spPr>
          <a:xfrm>
            <a:off x="6199632" y="4572000"/>
            <a:ext cx="5431536" cy="1463040"/>
          </a:xfrm>
          <a:prstGeom prst="roundRect">
            <a:avLst>
              <a:gd name="adj" fmla="val 6000"/>
            </a:avLst>
          </a:prstGeom>
          <a:solidFill>
            <a:srgbClr val="FFFFFF"/>
          </a:solidFill>
          <a:ln w="9525">
            <a:solidFill>
              <a:srgbClr val="D8E2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419088" y="4646981"/>
            <a:ext cx="4937760" cy="256032"/>
          </a:xfrm>
          <a:prstGeom prst="rect">
            <a:avLst/>
          </a:prstGeom>
          <a:noFill/>
        </p:spPr>
        <p:txBody>
          <a:bodyPr wrap="square" lIns="0" tIns="0" rIns="0" bIns="0" anchor="t">
            <a:spAutoFit/>
          </a:bodyPr>
          <a:lstStyle/>
          <a:p>
            <a:pPr algn="l">
              <a:lnSpc>
                <a:spcPct val="100000"/>
              </a:lnSpc>
            </a:pPr>
            <a:r>
              <a:rPr sz="1150" b="1" i="0" dirty="0">
                <a:solidFill>
                  <a:srgbClr val="1C7293"/>
                </a:solidFill>
                <a:latin typeface="Calibri"/>
              </a:rPr>
              <a:t>WHY A TAG AND NOT A SEARCH FILTER</a:t>
            </a:r>
          </a:p>
        </p:txBody>
      </p:sp>
      <p:sp>
        <p:nvSpPr>
          <p:cNvPr id="22" name="TextBox 21"/>
          <p:cNvSpPr txBox="1"/>
          <p:nvPr/>
        </p:nvSpPr>
        <p:spPr>
          <a:xfrm>
            <a:off x="6327648" y="4933642"/>
            <a:ext cx="5029200" cy="787973"/>
          </a:xfrm>
          <a:prstGeom prst="rect">
            <a:avLst/>
          </a:prstGeom>
          <a:noFill/>
        </p:spPr>
        <p:txBody>
          <a:bodyPr wrap="square" lIns="0" tIns="0" rIns="0" bIns="0" anchor="t">
            <a:spAutoFit/>
          </a:bodyPr>
          <a:lstStyle/>
          <a:p>
            <a:pPr algn="l">
              <a:lnSpc>
                <a:spcPct val="125000"/>
              </a:lnSpc>
            </a:pPr>
            <a:r>
              <a:rPr sz="1400" b="0" i="0" dirty="0">
                <a:solidFill>
                  <a:srgbClr val="5A6B7B"/>
                </a:solidFill>
                <a:latin typeface="Calibri"/>
              </a:rPr>
              <a:t>The tag travels with the resource. Any future consumer — export, analytics, a second gateway — sees the same boundary without re-deriving it.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8FA"/>
        </a:solidFill>
        <a:effectLst/>
      </p:bgPr>
    </p:bg>
    <p:spTree>
      <p:nvGrpSpPr>
        <p:cNvPr id="1" name=""/>
        <p:cNvGrpSpPr/>
        <p:nvPr/>
      </p:nvGrpSpPr>
      <p:grpSpPr>
        <a:xfrm>
          <a:off x="0" y="0"/>
          <a:ext cx="0" cy="0"/>
          <a:chOff x="0" y="0"/>
          <a:chExt cx="0" cy="0"/>
        </a:xfrm>
      </p:grpSpPr>
      <p:sp>
        <p:nvSpPr>
          <p:cNvPr id="2" name="Rectangle 1"/>
          <p:cNvSpPr/>
          <p:nvPr/>
        </p:nvSpPr>
        <p:spPr>
          <a:xfrm>
            <a:off x="566928" y="420624"/>
            <a:ext cx="68580" cy="65836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77240" y="420624"/>
            <a:ext cx="10789920" cy="237744"/>
          </a:xfrm>
          <a:prstGeom prst="rect">
            <a:avLst/>
          </a:prstGeom>
          <a:noFill/>
        </p:spPr>
        <p:txBody>
          <a:bodyPr wrap="square" lIns="0" tIns="0" rIns="0" bIns="0" anchor="t">
            <a:spAutoFit/>
          </a:bodyPr>
          <a:lstStyle/>
          <a:p>
            <a:pPr algn="l">
              <a:lnSpc>
                <a:spcPct val="100000"/>
              </a:lnSpc>
            </a:pPr>
            <a:r>
              <a:rPr sz="1050" b="1" i="0">
                <a:solidFill>
                  <a:srgbClr val="1C7293"/>
                </a:solidFill>
                <a:latin typeface="Calibri"/>
              </a:rPr>
              <a:t>5 · GATEWAY ISOLATION WITH TESTS</a:t>
            </a:r>
          </a:p>
        </p:txBody>
      </p:sp>
      <p:sp>
        <p:nvSpPr>
          <p:cNvPr id="4" name="TextBox 3"/>
          <p:cNvSpPr txBox="1"/>
          <p:nvPr/>
        </p:nvSpPr>
        <p:spPr>
          <a:xfrm>
            <a:off x="777240" y="658368"/>
            <a:ext cx="10789920" cy="415498"/>
          </a:xfrm>
          <a:prstGeom prst="rect">
            <a:avLst/>
          </a:prstGeom>
          <a:noFill/>
        </p:spPr>
        <p:txBody>
          <a:bodyPr wrap="square" lIns="0" tIns="0" rIns="0" bIns="0" anchor="t">
            <a:spAutoFit/>
          </a:bodyPr>
          <a:lstStyle/>
          <a:p>
            <a:pPr algn="l">
              <a:lnSpc>
                <a:spcPct val="100000"/>
              </a:lnSpc>
            </a:pPr>
            <a:r>
              <a:rPr lang="en-US" sz="2700" b="1" i="0" dirty="0">
                <a:solidFill>
                  <a:srgbClr val="12283D"/>
                </a:solidFill>
                <a:latin typeface="Cambria"/>
              </a:rPr>
              <a:t>Isolation for Boundary – </a:t>
            </a:r>
            <a:r>
              <a:rPr lang="en-US" sz="2700" b="1" dirty="0">
                <a:solidFill>
                  <a:srgbClr val="12283D"/>
                </a:solidFill>
                <a:latin typeface="Cambria"/>
              </a:rPr>
              <a:t>P</a:t>
            </a:r>
            <a:r>
              <a:rPr lang="en-US" sz="2700" b="1" i="0" dirty="0">
                <a:solidFill>
                  <a:srgbClr val="12283D"/>
                </a:solidFill>
                <a:latin typeface="Cambria"/>
              </a:rPr>
              <a:t>roven by test Scripts</a:t>
            </a:r>
          </a:p>
        </p:txBody>
      </p:sp>
      <p:sp>
        <p:nvSpPr>
          <p:cNvPr id="7" name="TextBox 6"/>
          <p:cNvSpPr txBox="1"/>
          <p:nvPr/>
        </p:nvSpPr>
        <p:spPr>
          <a:xfrm>
            <a:off x="10058400" y="6428232"/>
            <a:ext cx="1572768" cy="219456"/>
          </a:xfrm>
          <a:prstGeom prst="rect">
            <a:avLst/>
          </a:prstGeom>
          <a:noFill/>
        </p:spPr>
        <p:txBody>
          <a:bodyPr wrap="square" lIns="0" tIns="0" rIns="0" bIns="0" anchor="t">
            <a:spAutoFit/>
          </a:bodyPr>
          <a:lstStyle/>
          <a:p>
            <a:pPr algn="r">
              <a:lnSpc>
                <a:spcPct val="100000"/>
              </a:lnSpc>
            </a:pPr>
            <a:r>
              <a:rPr sz="900" b="0" i="0">
                <a:solidFill>
                  <a:srgbClr val="5A6B7B"/>
                </a:solidFill>
                <a:latin typeface="Calibri"/>
              </a:rPr>
              <a:t>13</a:t>
            </a:r>
          </a:p>
        </p:txBody>
      </p:sp>
      <p:sp>
        <p:nvSpPr>
          <p:cNvPr id="8" name="TextBox 7"/>
          <p:cNvSpPr txBox="1"/>
          <p:nvPr/>
        </p:nvSpPr>
        <p:spPr>
          <a:xfrm>
            <a:off x="545475" y="1605475"/>
            <a:ext cx="11064240" cy="274320"/>
          </a:xfrm>
          <a:prstGeom prst="rect">
            <a:avLst/>
          </a:prstGeom>
          <a:noFill/>
        </p:spPr>
        <p:txBody>
          <a:bodyPr wrap="square" lIns="0" tIns="0" rIns="0" bIns="0" anchor="t">
            <a:spAutoFit/>
          </a:bodyPr>
          <a:lstStyle/>
          <a:p>
            <a:pPr algn="l">
              <a:lnSpc>
                <a:spcPct val="100000"/>
              </a:lnSpc>
            </a:pPr>
            <a:r>
              <a:rPr sz="1300" b="0" i="0" dirty="0">
                <a:solidFill>
                  <a:srgbClr val="5A6B7B"/>
                </a:solidFill>
                <a:latin typeface="Calibri"/>
              </a:rPr>
              <a:t>Each test names the status code it expects. A green run is the argument; the documentation is only commentary on it.</a:t>
            </a:r>
          </a:p>
        </p:txBody>
      </p:sp>
      <p:sp>
        <p:nvSpPr>
          <p:cNvPr id="9" name="Rounded Rectangle 8"/>
          <p:cNvSpPr/>
          <p:nvPr/>
        </p:nvSpPr>
        <p:spPr>
          <a:xfrm>
            <a:off x="502920" y="2240280"/>
            <a:ext cx="11064240" cy="658368"/>
          </a:xfrm>
          <a:prstGeom prst="roundRect">
            <a:avLst>
              <a:gd name="adj" fmla="val 6000"/>
            </a:avLst>
          </a:prstGeom>
          <a:solidFill>
            <a:srgbClr val="FFFFFF"/>
          </a:solidFill>
          <a:ln w="9525">
            <a:solidFill>
              <a:srgbClr val="D8E2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502920" y="2240280"/>
            <a:ext cx="50292" cy="658368"/>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777240" y="2340863"/>
            <a:ext cx="10607040" cy="237744"/>
          </a:xfrm>
          <a:prstGeom prst="rect">
            <a:avLst/>
          </a:prstGeom>
          <a:noFill/>
        </p:spPr>
        <p:txBody>
          <a:bodyPr wrap="square" lIns="0" tIns="0" rIns="0" bIns="0" anchor="t">
            <a:spAutoFit/>
          </a:bodyPr>
          <a:lstStyle/>
          <a:p>
            <a:pPr algn="l">
              <a:lnSpc>
                <a:spcPct val="100000"/>
              </a:lnSpc>
            </a:pPr>
            <a:r>
              <a:rPr sz="1150" b="1" i="0">
                <a:solidFill>
                  <a:srgbClr val="2E8B57"/>
                </a:solidFill>
                <a:latin typeface="Calibri"/>
              </a:rPr>
              <a:t>BASELINE — the happy path, or the negatives prove nothing</a:t>
            </a:r>
          </a:p>
        </p:txBody>
      </p:sp>
      <p:sp>
        <p:nvSpPr>
          <p:cNvPr id="12" name="TextBox 11"/>
          <p:cNvSpPr txBox="1"/>
          <p:nvPr/>
        </p:nvSpPr>
        <p:spPr>
          <a:xfrm>
            <a:off x="804672" y="2624328"/>
            <a:ext cx="457200" cy="219456"/>
          </a:xfrm>
          <a:prstGeom prst="rect">
            <a:avLst/>
          </a:prstGeom>
          <a:noFill/>
        </p:spPr>
        <p:txBody>
          <a:bodyPr wrap="square" lIns="0" tIns="0" rIns="0" bIns="0" anchor="t">
            <a:spAutoFit/>
          </a:bodyPr>
          <a:lstStyle/>
          <a:p>
            <a:pPr algn="l">
              <a:lnSpc>
                <a:spcPct val="100000"/>
              </a:lnSpc>
            </a:pPr>
            <a:r>
              <a:rPr sz="1100" b="1" i="0">
                <a:solidFill>
                  <a:srgbClr val="5A6B7B"/>
                </a:solidFill>
                <a:latin typeface="Consolas"/>
              </a:rPr>
              <a:t>1</a:t>
            </a:r>
          </a:p>
        </p:txBody>
      </p:sp>
      <p:sp>
        <p:nvSpPr>
          <p:cNvPr id="13" name="TextBox 12"/>
          <p:cNvSpPr txBox="1"/>
          <p:nvPr/>
        </p:nvSpPr>
        <p:spPr>
          <a:xfrm>
            <a:off x="1188720" y="2624328"/>
            <a:ext cx="2377440" cy="219456"/>
          </a:xfrm>
          <a:prstGeom prst="rect">
            <a:avLst/>
          </a:prstGeom>
          <a:noFill/>
        </p:spPr>
        <p:txBody>
          <a:bodyPr wrap="square" lIns="0" tIns="0" rIns="0" bIns="0" anchor="t">
            <a:spAutoFit/>
          </a:bodyPr>
          <a:lstStyle/>
          <a:p>
            <a:pPr algn="l">
              <a:lnSpc>
                <a:spcPct val="100000"/>
              </a:lnSpc>
            </a:pPr>
            <a:r>
              <a:rPr sz="1100" b="0" i="0">
                <a:solidFill>
                  <a:srgbClr val="12283D"/>
                </a:solidFill>
                <a:latin typeface="Calibri"/>
              </a:rPr>
              <a:t>own data readable</a:t>
            </a:r>
          </a:p>
        </p:txBody>
      </p:sp>
      <p:sp>
        <p:nvSpPr>
          <p:cNvPr id="14" name="TextBox 13"/>
          <p:cNvSpPr txBox="1"/>
          <p:nvPr/>
        </p:nvSpPr>
        <p:spPr>
          <a:xfrm>
            <a:off x="3566160" y="2624328"/>
            <a:ext cx="640080" cy="219456"/>
          </a:xfrm>
          <a:prstGeom prst="rect">
            <a:avLst/>
          </a:prstGeom>
          <a:noFill/>
        </p:spPr>
        <p:txBody>
          <a:bodyPr wrap="square" lIns="0" tIns="0" rIns="0" bIns="0" anchor="t">
            <a:spAutoFit/>
          </a:bodyPr>
          <a:lstStyle/>
          <a:p>
            <a:pPr algn="l">
              <a:lnSpc>
                <a:spcPct val="100000"/>
              </a:lnSpc>
            </a:pPr>
            <a:r>
              <a:rPr sz="1100" b="1" i="0">
                <a:solidFill>
                  <a:srgbClr val="2E8B57"/>
                </a:solidFill>
                <a:latin typeface="Consolas"/>
              </a:rPr>
              <a:t>200</a:t>
            </a:r>
          </a:p>
        </p:txBody>
      </p:sp>
      <p:sp>
        <p:nvSpPr>
          <p:cNvPr id="15" name="TextBox 14"/>
          <p:cNvSpPr txBox="1"/>
          <p:nvPr/>
        </p:nvSpPr>
        <p:spPr>
          <a:xfrm>
            <a:off x="4416552" y="2624328"/>
            <a:ext cx="457200" cy="219456"/>
          </a:xfrm>
          <a:prstGeom prst="rect">
            <a:avLst/>
          </a:prstGeom>
          <a:noFill/>
        </p:spPr>
        <p:txBody>
          <a:bodyPr wrap="square" lIns="0" tIns="0" rIns="0" bIns="0" anchor="t">
            <a:spAutoFit/>
          </a:bodyPr>
          <a:lstStyle/>
          <a:p>
            <a:pPr algn="l">
              <a:lnSpc>
                <a:spcPct val="100000"/>
              </a:lnSpc>
            </a:pPr>
            <a:r>
              <a:rPr sz="1100" b="1" i="0">
                <a:solidFill>
                  <a:srgbClr val="5A6B7B"/>
                </a:solidFill>
                <a:latin typeface="Consolas"/>
              </a:rPr>
              <a:t>2</a:t>
            </a:r>
          </a:p>
        </p:txBody>
      </p:sp>
      <p:sp>
        <p:nvSpPr>
          <p:cNvPr id="16" name="TextBox 15"/>
          <p:cNvSpPr txBox="1"/>
          <p:nvPr/>
        </p:nvSpPr>
        <p:spPr>
          <a:xfrm>
            <a:off x="4800600" y="2624328"/>
            <a:ext cx="2377440" cy="219456"/>
          </a:xfrm>
          <a:prstGeom prst="rect">
            <a:avLst/>
          </a:prstGeom>
          <a:noFill/>
        </p:spPr>
        <p:txBody>
          <a:bodyPr wrap="square" lIns="0" tIns="0" rIns="0" bIns="0" anchor="t">
            <a:spAutoFit/>
          </a:bodyPr>
          <a:lstStyle/>
          <a:p>
            <a:pPr algn="l">
              <a:lnSpc>
                <a:spcPct val="100000"/>
              </a:lnSpc>
            </a:pPr>
            <a:r>
              <a:rPr sz="1100" b="0" i="0">
                <a:solidFill>
                  <a:srgbClr val="12283D"/>
                </a:solidFill>
                <a:latin typeface="Calibri"/>
              </a:rPr>
              <a:t>Group export accepted</a:t>
            </a:r>
          </a:p>
        </p:txBody>
      </p:sp>
      <p:sp>
        <p:nvSpPr>
          <p:cNvPr id="17" name="TextBox 16"/>
          <p:cNvSpPr txBox="1"/>
          <p:nvPr/>
        </p:nvSpPr>
        <p:spPr>
          <a:xfrm>
            <a:off x="7178040" y="2624328"/>
            <a:ext cx="640080" cy="219456"/>
          </a:xfrm>
          <a:prstGeom prst="rect">
            <a:avLst/>
          </a:prstGeom>
          <a:noFill/>
        </p:spPr>
        <p:txBody>
          <a:bodyPr wrap="square" lIns="0" tIns="0" rIns="0" bIns="0" anchor="t">
            <a:spAutoFit/>
          </a:bodyPr>
          <a:lstStyle/>
          <a:p>
            <a:pPr algn="l">
              <a:lnSpc>
                <a:spcPct val="100000"/>
              </a:lnSpc>
            </a:pPr>
            <a:r>
              <a:rPr sz="1100" b="1" i="0">
                <a:solidFill>
                  <a:srgbClr val="2E8B57"/>
                </a:solidFill>
                <a:latin typeface="Consolas"/>
              </a:rPr>
              <a:t>202</a:t>
            </a:r>
          </a:p>
        </p:txBody>
      </p:sp>
      <p:sp>
        <p:nvSpPr>
          <p:cNvPr id="18" name="TextBox 17"/>
          <p:cNvSpPr txBox="1"/>
          <p:nvPr/>
        </p:nvSpPr>
        <p:spPr>
          <a:xfrm>
            <a:off x="8028432" y="2624328"/>
            <a:ext cx="457200" cy="219456"/>
          </a:xfrm>
          <a:prstGeom prst="rect">
            <a:avLst/>
          </a:prstGeom>
          <a:noFill/>
        </p:spPr>
        <p:txBody>
          <a:bodyPr wrap="square" lIns="0" tIns="0" rIns="0" bIns="0" anchor="t">
            <a:spAutoFit/>
          </a:bodyPr>
          <a:lstStyle/>
          <a:p>
            <a:pPr algn="l">
              <a:lnSpc>
                <a:spcPct val="100000"/>
              </a:lnSpc>
            </a:pPr>
            <a:r>
              <a:rPr sz="1100" b="1" i="0">
                <a:solidFill>
                  <a:srgbClr val="5A6B7B"/>
                </a:solidFill>
                <a:latin typeface="Consolas"/>
              </a:rPr>
              <a:t>3</a:t>
            </a:r>
          </a:p>
        </p:txBody>
      </p:sp>
      <p:sp>
        <p:nvSpPr>
          <p:cNvPr id="19" name="TextBox 18"/>
          <p:cNvSpPr txBox="1"/>
          <p:nvPr/>
        </p:nvSpPr>
        <p:spPr>
          <a:xfrm>
            <a:off x="8412480" y="2624328"/>
            <a:ext cx="2377440" cy="219456"/>
          </a:xfrm>
          <a:prstGeom prst="rect">
            <a:avLst/>
          </a:prstGeom>
          <a:noFill/>
        </p:spPr>
        <p:txBody>
          <a:bodyPr wrap="square" lIns="0" tIns="0" rIns="0" bIns="0" anchor="t">
            <a:spAutoFit/>
          </a:bodyPr>
          <a:lstStyle/>
          <a:p>
            <a:pPr algn="l">
              <a:lnSpc>
                <a:spcPct val="100000"/>
              </a:lnSpc>
            </a:pPr>
            <a:r>
              <a:rPr sz="1100" b="0" i="0">
                <a:solidFill>
                  <a:srgbClr val="12283D"/>
                </a:solidFill>
                <a:latin typeface="Calibri"/>
              </a:rPr>
              <a:t>capability statement</a:t>
            </a:r>
          </a:p>
        </p:txBody>
      </p:sp>
      <p:sp>
        <p:nvSpPr>
          <p:cNvPr id="20" name="TextBox 19"/>
          <p:cNvSpPr txBox="1"/>
          <p:nvPr/>
        </p:nvSpPr>
        <p:spPr>
          <a:xfrm>
            <a:off x="10789920" y="2624328"/>
            <a:ext cx="640080" cy="219456"/>
          </a:xfrm>
          <a:prstGeom prst="rect">
            <a:avLst/>
          </a:prstGeom>
          <a:noFill/>
        </p:spPr>
        <p:txBody>
          <a:bodyPr wrap="square" lIns="0" tIns="0" rIns="0" bIns="0" anchor="t">
            <a:spAutoFit/>
          </a:bodyPr>
          <a:lstStyle/>
          <a:p>
            <a:pPr algn="l">
              <a:lnSpc>
                <a:spcPct val="100000"/>
              </a:lnSpc>
            </a:pPr>
            <a:r>
              <a:rPr sz="1100" b="1" i="0">
                <a:solidFill>
                  <a:srgbClr val="2E8B57"/>
                </a:solidFill>
                <a:latin typeface="Consolas"/>
              </a:rPr>
              <a:t>200</a:t>
            </a:r>
          </a:p>
        </p:txBody>
      </p:sp>
      <p:sp>
        <p:nvSpPr>
          <p:cNvPr id="21" name="Rounded Rectangle 20"/>
          <p:cNvSpPr/>
          <p:nvPr/>
        </p:nvSpPr>
        <p:spPr>
          <a:xfrm>
            <a:off x="502920" y="3026664"/>
            <a:ext cx="11064240" cy="658368"/>
          </a:xfrm>
          <a:prstGeom prst="roundRect">
            <a:avLst>
              <a:gd name="adj" fmla="val 6000"/>
            </a:avLst>
          </a:prstGeom>
          <a:solidFill>
            <a:srgbClr val="FFFFFF"/>
          </a:solidFill>
          <a:ln w="9525">
            <a:solidFill>
              <a:srgbClr val="D8E2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ectangle 21"/>
          <p:cNvSpPr/>
          <p:nvPr/>
        </p:nvSpPr>
        <p:spPr>
          <a:xfrm>
            <a:off x="502920" y="3026664"/>
            <a:ext cx="50292" cy="658368"/>
          </a:xfrm>
          <a:prstGeom prst="rect">
            <a:avLst/>
          </a:prstGeom>
          <a:solidFill>
            <a:srgbClr val="B03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777240" y="3127247"/>
            <a:ext cx="10607040" cy="237744"/>
          </a:xfrm>
          <a:prstGeom prst="rect">
            <a:avLst/>
          </a:prstGeom>
          <a:noFill/>
        </p:spPr>
        <p:txBody>
          <a:bodyPr wrap="square" lIns="0" tIns="0" rIns="0" bIns="0" anchor="t">
            <a:spAutoFit/>
          </a:bodyPr>
          <a:lstStyle/>
          <a:p>
            <a:pPr algn="l">
              <a:lnSpc>
                <a:spcPct val="100000"/>
              </a:lnSpc>
            </a:pPr>
            <a:r>
              <a:rPr sz="1150" b="1" i="0">
                <a:solidFill>
                  <a:srgbClr val="B03A2B"/>
                </a:solidFill>
                <a:latin typeface="Calibri"/>
              </a:rPr>
              <a:t>CROSS-PAYER — the boundary that must never bend</a:t>
            </a:r>
          </a:p>
        </p:txBody>
      </p:sp>
      <p:sp>
        <p:nvSpPr>
          <p:cNvPr id="24" name="TextBox 23"/>
          <p:cNvSpPr txBox="1"/>
          <p:nvPr/>
        </p:nvSpPr>
        <p:spPr>
          <a:xfrm>
            <a:off x="804672" y="3410712"/>
            <a:ext cx="457200" cy="219456"/>
          </a:xfrm>
          <a:prstGeom prst="rect">
            <a:avLst/>
          </a:prstGeom>
          <a:noFill/>
        </p:spPr>
        <p:txBody>
          <a:bodyPr wrap="square" lIns="0" tIns="0" rIns="0" bIns="0" anchor="t">
            <a:spAutoFit/>
          </a:bodyPr>
          <a:lstStyle/>
          <a:p>
            <a:pPr algn="l">
              <a:lnSpc>
                <a:spcPct val="100000"/>
              </a:lnSpc>
            </a:pPr>
            <a:r>
              <a:rPr sz="1100" b="1" i="0">
                <a:solidFill>
                  <a:srgbClr val="5A6B7B"/>
                </a:solidFill>
                <a:latin typeface="Consolas"/>
              </a:rPr>
              <a:t>4</a:t>
            </a:r>
          </a:p>
        </p:txBody>
      </p:sp>
      <p:sp>
        <p:nvSpPr>
          <p:cNvPr id="25" name="TextBox 24"/>
          <p:cNvSpPr txBox="1"/>
          <p:nvPr/>
        </p:nvSpPr>
        <p:spPr>
          <a:xfrm>
            <a:off x="1188720" y="3410712"/>
            <a:ext cx="2377440" cy="219456"/>
          </a:xfrm>
          <a:prstGeom prst="rect">
            <a:avLst/>
          </a:prstGeom>
          <a:noFill/>
        </p:spPr>
        <p:txBody>
          <a:bodyPr wrap="square" lIns="0" tIns="0" rIns="0" bIns="0" anchor="t">
            <a:spAutoFit/>
          </a:bodyPr>
          <a:lstStyle/>
          <a:p>
            <a:pPr algn="l">
              <a:lnSpc>
                <a:spcPct val="100000"/>
              </a:lnSpc>
            </a:pPr>
            <a:r>
              <a:rPr sz="1100" b="0" i="0">
                <a:solidFill>
                  <a:srgbClr val="12283D"/>
                </a:solidFill>
                <a:latin typeface="Calibri"/>
              </a:rPr>
              <a:t>payer B app, valid payer A audience</a:t>
            </a:r>
          </a:p>
        </p:txBody>
      </p:sp>
      <p:sp>
        <p:nvSpPr>
          <p:cNvPr id="26" name="TextBox 25"/>
          <p:cNvSpPr txBox="1"/>
          <p:nvPr/>
        </p:nvSpPr>
        <p:spPr>
          <a:xfrm>
            <a:off x="3566160" y="3410712"/>
            <a:ext cx="640080" cy="219456"/>
          </a:xfrm>
          <a:prstGeom prst="rect">
            <a:avLst/>
          </a:prstGeom>
          <a:noFill/>
        </p:spPr>
        <p:txBody>
          <a:bodyPr wrap="square" lIns="0" tIns="0" rIns="0" bIns="0" anchor="t">
            <a:spAutoFit/>
          </a:bodyPr>
          <a:lstStyle/>
          <a:p>
            <a:pPr algn="l">
              <a:lnSpc>
                <a:spcPct val="100000"/>
              </a:lnSpc>
            </a:pPr>
            <a:r>
              <a:rPr sz="1100" b="1" i="0">
                <a:solidFill>
                  <a:srgbClr val="B03A2B"/>
                </a:solidFill>
                <a:latin typeface="Consolas"/>
              </a:rPr>
              <a:t>403</a:t>
            </a:r>
          </a:p>
        </p:txBody>
      </p:sp>
      <p:sp>
        <p:nvSpPr>
          <p:cNvPr id="27" name="TextBox 26"/>
          <p:cNvSpPr txBox="1"/>
          <p:nvPr/>
        </p:nvSpPr>
        <p:spPr>
          <a:xfrm>
            <a:off x="4416552" y="3410712"/>
            <a:ext cx="457200" cy="219456"/>
          </a:xfrm>
          <a:prstGeom prst="rect">
            <a:avLst/>
          </a:prstGeom>
          <a:noFill/>
        </p:spPr>
        <p:txBody>
          <a:bodyPr wrap="square" lIns="0" tIns="0" rIns="0" bIns="0" anchor="t">
            <a:spAutoFit/>
          </a:bodyPr>
          <a:lstStyle/>
          <a:p>
            <a:pPr algn="l">
              <a:lnSpc>
                <a:spcPct val="100000"/>
              </a:lnSpc>
            </a:pPr>
            <a:r>
              <a:rPr sz="1100" b="1" i="0">
                <a:solidFill>
                  <a:srgbClr val="5A6B7B"/>
                </a:solidFill>
                <a:latin typeface="Consolas"/>
              </a:rPr>
              <a:t>5</a:t>
            </a:r>
          </a:p>
        </p:txBody>
      </p:sp>
      <p:sp>
        <p:nvSpPr>
          <p:cNvPr id="28" name="TextBox 27"/>
          <p:cNvSpPr txBox="1"/>
          <p:nvPr/>
        </p:nvSpPr>
        <p:spPr>
          <a:xfrm>
            <a:off x="4800600" y="3410712"/>
            <a:ext cx="2377440" cy="219456"/>
          </a:xfrm>
          <a:prstGeom prst="rect">
            <a:avLst/>
          </a:prstGeom>
          <a:noFill/>
        </p:spPr>
        <p:txBody>
          <a:bodyPr wrap="square" lIns="0" tIns="0" rIns="0" bIns="0" anchor="t">
            <a:spAutoFit/>
          </a:bodyPr>
          <a:lstStyle/>
          <a:p>
            <a:pPr algn="l">
              <a:lnSpc>
                <a:spcPct val="100000"/>
              </a:lnSpc>
            </a:pPr>
            <a:r>
              <a:rPr sz="1100" b="0" i="0">
                <a:solidFill>
                  <a:srgbClr val="12283D"/>
                </a:solidFill>
                <a:latin typeface="Calibri"/>
              </a:rPr>
              <a:t>payer B token, payer B audience</a:t>
            </a:r>
          </a:p>
        </p:txBody>
      </p:sp>
      <p:sp>
        <p:nvSpPr>
          <p:cNvPr id="29" name="TextBox 28"/>
          <p:cNvSpPr txBox="1"/>
          <p:nvPr/>
        </p:nvSpPr>
        <p:spPr>
          <a:xfrm>
            <a:off x="7178040" y="3410712"/>
            <a:ext cx="640080" cy="219456"/>
          </a:xfrm>
          <a:prstGeom prst="rect">
            <a:avLst/>
          </a:prstGeom>
          <a:noFill/>
        </p:spPr>
        <p:txBody>
          <a:bodyPr wrap="square" lIns="0" tIns="0" rIns="0" bIns="0" anchor="t">
            <a:spAutoFit/>
          </a:bodyPr>
          <a:lstStyle/>
          <a:p>
            <a:pPr algn="l">
              <a:lnSpc>
                <a:spcPct val="100000"/>
              </a:lnSpc>
            </a:pPr>
            <a:r>
              <a:rPr sz="1100" b="1" i="0">
                <a:solidFill>
                  <a:srgbClr val="B03A2B"/>
                </a:solidFill>
                <a:latin typeface="Consolas"/>
              </a:rPr>
              <a:t>401</a:t>
            </a:r>
          </a:p>
        </p:txBody>
      </p:sp>
      <p:sp>
        <p:nvSpPr>
          <p:cNvPr id="30" name="TextBox 29"/>
          <p:cNvSpPr txBox="1"/>
          <p:nvPr/>
        </p:nvSpPr>
        <p:spPr>
          <a:xfrm>
            <a:off x="8028432" y="3410712"/>
            <a:ext cx="457200" cy="219456"/>
          </a:xfrm>
          <a:prstGeom prst="rect">
            <a:avLst/>
          </a:prstGeom>
          <a:noFill/>
        </p:spPr>
        <p:txBody>
          <a:bodyPr wrap="square" lIns="0" tIns="0" rIns="0" bIns="0" anchor="t">
            <a:spAutoFit/>
          </a:bodyPr>
          <a:lstStyle/>
          <a:p>
            <a:pPr algn="l">
              <a:lnSpc>
                <a:spcPct val="100000"/>
              </a:lnSpc>
            </a:pPr>
            <a:r>
              <a:rPr sz="1100" b="1" i="0">
                <a:solidFill>
                  <a:srgbClr val="5A6B7B"/>
                </a:solidFill>
                <a:latin typeface="Consolas"/>
              </a:rPr>
              <a:t>12</a:t>
            </a:r>
          </a:p>
        </p:txBody>
      </p:sp>
      <p:sp>
        <p:nvSpPr>
          <p:cNvPr id="31" name="TextBox 30"/>
          <p:cNvSpPr txBox="1"/>
          <p:nvPr/>
        </p:nvSpPr>
        <p:spPr>
          <a:xfrm>
            <a:off x="8412480" y="3410712"/>
            <a:ext cx="2377440" cy="219456"/>
          </a:xfrm>
          <a:prstGeom prst="rect">
            <a:avLst/>
          </a:prstGeom>
          <a:noFill/>
        </p:spPr>
        <p:txBody>
          <a:bodyPr wrap="square" lIns="0" tIns="0" rIns="0" bIns="0" anchor="t">
            <a:spAutoFit/>
          </a:bodyPr>
          <a:lstStyle/>
          <a:p>
            <a:pPr algn="l">
              <a:lnSpc>
                <a:spcPct val="100000"/>
              </a:lnSpc>
            </a:pPr>
            <a:r>
              <a:rPr sz="1100" b="0" i="0">
                <a:solidFill>
                  <a:srgbClr val="12283D"/>
                </a:solidFill>
                <a:latin typeface="Calibri"/>
              </a:rPr>
              <a:t>payer token straight to AHDS</a:t>
            </a:r>
          </a:p>
        </p:txBody>
      </p:sp>
      <p:sp>
        <p:nvSpPr>
          <p:cNvPr id="32" name="TextBox 31"/>
          <p:cNvSpPr txBox="1"/>
          <p:nvPr/>
        </p:nvSpPr>
        <p:spPr>
          <a:xfrm>
            <a:off x="10789920" y="3410712"/>
            <a:ext cx="640080" cy="219456"/>
          </a:xfrm>
          <a:prstGeom prst="rect">
            <a:avLst/>
          </a:prstGeom>
          <a:noFill/>
        </p:spPr>
        <p:txBody>
          <a:bodyPr wrap="square" lIns="0" tIns="0" rIns="0" bIns="0" anchor="t">
            <a:spAutoFit/>
          </a:bodyPr>
          <a:lstStyle/>
          <a:p>
            <a:pPr algn="l">
              <a:lnSpc>
                <a:spcPct val="100000"/>
              </a:lnSpc>
            </a:pPr>
            <a:r>
              <a:rPr sz="1100" b="1" i="0">
                <a:solidFill>
                  <a:srgbClr val="B03A2B"/>
                </a:solidFill>
                <a:latin typeface="Consolas"/>
              </a:rPr>
              <a:t>403</a:t>
            </a:r>
          </a:p>
        </p:txBody>
      </p:sp>
      <p:sp>
        <p:nvSpPr>
          <p:cNvPr id="33" name="Rounded Rectangle 32"/>
          <p:cNvSpPr/>
          <p:nvPr/>
        </p:nvSpPr>
        <p:spPr>
          <a:xfrm>
            <a:off x="502920" y="3813047"/>
            <a:ext cx="11064240" cy="932688"/>
          </a:xfrm>
          <a:prstGeom prst="roundRect">
            <a:avLst>
              <a:gd name="adj" fmla="val 6000"/>
            </a:avLst>
          </a:prstGeom>
          <a:solidFill>
            <a:srgbClr val="FFFFFF"/>
          </a:solidFill>
          <a:ln w="9525">
            <a:solidFill>
              <a:srgbClr val="D8E2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Rectangle 33"/>
          <p:cNvSpPr/>
          <p:nvPr/>
        </p:nvSpPr>
        <p:spPr>
          <a:xfrm>
            <a:off x="502920" y="3813047"/>
            <a:ext cx="50292" cy="93268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777240" y="3913631"/>
            <a:ext cx="10607040" cy="237744"/>
          </a:xfrm>
          <a:prstGeom prst="rect">
            <a:avLst/>
          </a:prstGeom>
          <a:noFill/>
        </p:spPr>
        <p:txBody>
          <a:bodyPr wrap="square" lIns="0" tIns="0" rIns="0" bIns="0" anchor="t">
            <a:spAutoFit/>
          </a:bodyPr>
          <a:lstStyle/>
          <a:p>
            <a:pPr algn="l">
              <a:lnSpc>
                <a:spcPct val="100000"/>
              </a:lnSpc>
            </a:pPr>
            <a:r>
              <a:rPr sz="1150" b="1" i="0">
                <a:solidFill>
                  <a:srgbClr val="1C7293"/>
                </a:solidFill>
                <a:latin typeface="Calibri"/>
              </a:rPr>
              <a:t>ROUTE + SCOPE — inbound / outbound and contract limits</a:t>
            </a:r>
          </a:p>
        </p:txBody>
      </p:sp>
      <p:sp>
        <p:nvSpPr>
          <p:cNvPr id="36" name="TextBox 35"/>
          <p:cNvSpPr txBox="1"/>
          <p:nvPr/>
        </p:nvSpPr>
        <p:spPr>
          <a:xfrm>
            <a:off x="804672" y="4197096"/>
            <a:ext cx="457200" cy="219456"/>
          </a:xfrm>
          <a:prstGeom prst="rect">
            <a:avLst/>
          </a:prstGeom>
          <a:noFill/>
        </p:spPr>
        <p:txBody>
          <a:bodyPr wrap="square" lIns="0" tIns="0" rIns="0" bIns="0" anchor="t">
            <a:spAutoFit/>
          </a:bodyPr>
          <a:lstStyle/>
          <a:p>
            <a:pPr algn="l">
              <a:lnSpc>
                <a:spcPct val="100000"/>
              </a:lnSpc>
            </a:pPr>
            <a:r>
              <a:rPr sz="1100" b="1" i="0">
                <a:solidFill>
                  <a:srgbClr val="5A6B7B"/>
                </a:solidFill>
                <a:latin typeface="Consolas"/>
              </a:rPr>
              <a:t>6</a:t>
            </a:r>
          </a:p>
        </p:txBody>
      </p:sp>
      <p:sp>
        <p:nvSpPr>
          <p:cNvPr id="37" name="TextBox 36"/>
          <p:cNvSpPr txBox="1"/>
          <p:nvPr/>
        </p:nvSpPr>
        <p:spPr>
          <a:xfrm>
            <a:off x="1188720" y="4197096"/>
            <a:ext cx="2377440" cy="219456"/>
          </a:xfrm>
          <a:prstGeom prst="rect">
            <a:avLst/>
          </a:prstGeom>
          <a:noFill/>
        </p:spPr>
        <p:txBody>
          <a:bodyPr wrap="square" lIns="0" tIns="0" rIns="0" bIns="0" anchor="t">
            <a:spAutoFit/>
          </a:bodyPr>
          <a:lstStyle/>
          <a:p>
            <a:pPr algn="l">
              <a:lnSpc>
                <a:spcPct val="100000"/>
              </a:lnSpc>
            </a:pPr>
            <a:r>
              <a:rPr sz="1100" b="0" i="0">
                <a:solidFill>
                  <a:srgbClr val="12283D"/>
                </a:solidFill>
                <a:latin typeface="Calibri"/>
              </a:rPr>
              <a:t>unentitled Group export</a:t>
            </a:r>
          </a:p>
        </p:txBody>
      </p:sp>
      <p:sp>
        <p:nvSpPr>
          <p:cNvPr id="38" name="TextBox 37"/>
          <p:cNvSpPr txBox="1"/>
          <p:nvPr/>
        </p:nvSpPr>
        <p:spPr>
          <a:xfrm>
            <a:off x="3566160" y="4197096"/>
            <a:ext cx="640080" cy="219456"/>
          </a:xfrm>
          <a:prstGeom prst="rect">
            <a:avLst/>
          </a:prstGeom>
          <a:noFill/>
        </p:spPr>
        <p:txBody>
          <a:bodyPr wrap="square" lIns="0" tIns="0" rIns="0" bIns="0" anchor="t">
            <a:spAutoFit/>
          </a:bodyPr>
          <a:lstStyle/>
          <a:p>
            <a:pPr algn="l">
              <a:lnSpc>
                <a:spcPct val="100000"/>
              </a:lnSpc>
            </a:pPr>
            <a:r>
              <a:rPr sz="1100" b="1" i="0">
                <a:solidFill>
                  <a:srgbClr val="1C7293"/>
                </a:solidFill>
                <a:latin typeface="Consolas"/>
              </a:rPr>
              <a:t>403</a:t>
            </a:r>
          </a:p>
        </p:txBody>
      </p:sp>
      <p:sp>
        <p:nvSpPr>
          <p:cNvPr id="39" name="TextBox 38"/>
          <p:cNvSpPr txBox="1"/>
          <p:nvPr/>
        </p:nvSpPr>
        <p:spPr>
          <a:xfrm>
            <a:off x="4416552" y="4197096"/>
            <a:ext cx="457200" cy="219456"/>
          </a:xfrm>
          <a:prstGeom prst="rect">
            <a:avLst/>
          </a:prstGeom>
          <a:noFill/>
        </p:spPr>
        <p:txBody>
          <a:bodyPr wrap="square" lIns="0" tIns="0" rIns="0" bIns="0" anchor="t">
            <a:spAutoFit/>
          </a:bodyPr>
          <a:lstStyle/>
          <a:p>
            <a:pPr algn="l">
              <a:lnSpc>
                <a:spcPct val="100000"/>
              </a:lnSpc>
            </a:pPr>
            <a:r>
              <a:rPr sz="1100" b="1" i="0">
                <a:solidFill>
                  <a:srgbClr val="5A6B7B"/>
                </a:solidFill>
                <a:latin typeface="Consolas"/>
              </a:rPr>
              <a:t>7</a:t>
            </a:r>
          </a:p>
        </p:txBody>
      </p:sp>
      <p:sp>
        <p:nvSpPr>
          <p:cNvPr id="40" name="TextBox 39"/>
          <p:cNvSpPr txBox="1"/>
          <p:nvPr/>
        </p:nvSpPr>
        <p:spPr>
          <a:xfrm>
            <a:off x="4800600" y="4197096"/>
            <a:ext cx="2377440" cy="219456"/>
          </a:xfrm>
          <a:prstGeom prst="rect">
            <a:avLst/>
          </a:prstGeom>
          <a:noFill/>
        </p:spPr>
        <p:txBody>
          <a:bodyPr wrap="square" lIns="0" tIns="0" rIns="0" bIns="0" anchor="t">
            <a:spAutoFit/>
          </a:bodyPr>
          <a:lstStyle/>
          <a:p>
            <a:pPr algn="l">
              <a:lnSpc>
                <a:spcPct val="100000"/>
              </a:lnSpc>
            </a:pPr>
            <a:r>
              <a:rPr sz="1100" b="0" i="0">
                <a:solidFill>
                  <a:srgbClr val="12283D"/>
                </a:solidFill>
                <a:latin typeface="Calibri"/>
              </a:rPr>
              <a:t>write on outbound route</a:t>
            </a:r>
          </a:p>
        </p:txBody>
      </p:sp>
      <p:sp>
        <p:nvSpPr>
          <p:cNvPr id="41" name="TextBox 40"/>
          <p:cNvSpPr txBox="1"/>
          <p:nvPr/>
        </p:nvSpPr>
        <p:spPr>
          <a:xfrm>
            <a:off x="7178040" y="4197096"/>
            <a:ext cx="640080" cy="219456"/>
          </a:xfrm>
          <a:prstGeom prst="rect">
            <a:avLst/>
          </a:prstGeom>
          <a:noFill/>
        </p:spPr>
        <p:txBody>
          <a:bodyPr wrap="square" lIns="0" tIns="0" rIns="0" bIns="0" anchor="t">
            <a:spAutoFit/>
          </a:bodyPr>
          <a:lstStyle/>
          <a:p>
            <a:pPr algn="l">
              <a:lnSpc>
                <a:spcPct val="100000"/>
              </a:lnSpc>
            </a:pPr>
            <a:r>
              <a:rPr sz="1100" b="1" i="0">
                <a:solidFill>
                  <a:srgbClr val="1C7293"/>
                </a:solidFill>
                <a:latin typeface="Consolas"/>
              </a:rPr>
              <a:t>403</a:t>
            </a:r>
          </a:p>
        </p:txBody>
      </p:sp>
      <p:sp>
        <p:nvSpPr>
          <p:cNvPr id="42" name="TextBox 41"/>
          <p:cNvSpPr txBox="1"/>
          <p:nvPr/>
        </p:nvSpPr>
        <p:spPr>
          <a:xfrm>
            <a:off x="8028432" y="4197096"/>
            <a:ext cx="457200" cy="219456"/>
          </a:xfrm>
          <a:prstGeom prst="rect">
            <a:avLst/>
          </a:prstGeom>
          <a:noFill/>
        </p:spPr>
        <p:txBody>
          <a:bodyPr wrap="square" lIns="0" tIns="0" rIns="0" bIns="0" anchor="t">
            <a:spAutoFit/>
          </a:bodyPr>
          <a:lstStyle/>
          <a:p>
            <a:pPr algn="l">
              <a:lnSpc>
                <a:spcPct val="100000"/>
              </a:lnSpc>
            </a:pPr>
            <a:r>
              <a:rPr sz="1100" b="1" i="0">
                <a:solidFill>
                  <a:srgbClr val="5A6B7B"/>
                </a:solidFill>
                <a:latin typeface="Consolas"/>
              </a:rPr>
              <a:t>8</a:t>
            </a:r>
          </a:p>
        </p:txBody>
      </p:sp>
      <p:sp>
        <p:nvSpPr>
          <p:cNvPr id="43" name="TextBox 42"/>
          <p:cNvSpPr txBox="1"/>
          <p:nvPr/>
        </p:nvSpPr>
        <p:spPr>
          <a:xfrm>
            <a:off x="8412480" y="4197096"/>
            <a:ext cx="2377440" cy="219456"/>
          </a:xfrm>
          <a:prstGeom prst="rect">
            <a:avLst/>
          </a:prstGeom>
          <a:noFill/>
        </p:spPr>
        <p:txBody>
          <a:bodyPr wrap="square" lIns="0" tIns="0" rIns="0" bIns="0" anchor="t">
            <a:spAutoFit/>
          </a:bodyPr>
          <a:lstStyle/>
          <a:p>
            <a:pPr algn="l">
              <a:lnSpc>
                <a:spcPct val="100000"/>
              </a:lnSpc>
            </a:pPr>
            <a:r>
              <a:rPr sz="1100" b="0" i="0">
                <a:solidFill>
                  <a:srgbClr val="12283D"/>
                </a:solidFill>
                <a:latin typeface="Calibri"/>
              </a:rPr>
              <a:t>payer credential on inbound route</a:t>
            </a:r>
          </a:p>
        </p:txBody>
      </p:sp>
      <p:sp>
        <p:nvSpPr>
          <p:cNvPr id="44" name="TextBox 43"/>
          <p:cNvSpPr txBox="1"/>
          <p:nvPr/>
        </p:nvSpPr>
        <p:spPr>
          <a:xfrm>
            <a:off x="10789920" y="4197096"/>
            <a:ext cx="640080" cy="219456"/>
          </a:xfrm>
          <a:prstGeom prst="rect">
            <a:avLst/>
          </a:prstGeom>
          <a:noFill/>
        </p:spPr>
        <p:txBody>
          <a:bodyPr wrap="square" lIns="0" tIns="0" rIns="0" bIns="0" anchor="t">
            <a:spAutoFit/>
          </a:bodyPr>
          <a:lstStyle/>
          <a:p>
            <a:pPr algn="l">
              <a:lnSpc>
                <a:spcPct val="100000"/>
              </a:lnSpc>
            </a:pPr>
            <a:r>
              <a:rPr sz="1100" b="1" i="0">
                <a:solidFill>
                  <a:srgbClr val="1C7293"/>
                </a:solidFill>
                <a:latin typeface="Consolas"/>
              </a:rPr>
              <a:t>403</a:t>
            </a:r>
          </a:p>
        </p:txBody>
      </p:sp>
      <p:sp>
        <p:nvSpPr>
          <p:cNvPr id="45" name="TextBox 44"/>
          <p:cNvSpPr txBox="1"/>
          <p:nvPr/>
        </p:nvSpPr>
        <p:spPr>
          <a:xfrm>
            <a:off x="804672" y="4471416"/>
            <a:ext cx="457200" cy="219456"/>
          </a:xfrm>
          <a:prstGeom prst="rect">
            <a:avLst/>
          </a:prstGeom>
          <a:noFill/>
        </p:spPr>
        <p:txBody>
          <a:bodyPr wrap="square" lIns="0" tIns="0" rIns="0" bIns="0" anchor="t">
            <a:spAutoFit/>
          </a:bodyPr>
          <a:lstStyle/>
          <a:p>
            <a:pPr algn="l">
              <a:lnSpc>
                <a:spcPct val="100000"/>
              </a:lnSpc>
            </a:pPr>
            <a:r>
              <a:rPr sz="1100" b="1" i="0">
                <a:solidFill>
                  <a:srgbClr val="5A6B7B"/>
                </a:solidFill>
                <a:latin typeface="Consolas"/>
              </a:rPr>
              <a:t>9</a:t>
            </a:r>
          </a:p>
        </p:txBody>
      </p:sp>
      <p:sp>
        <p:nvSpPr>
          <p:cNvPr id="46" name="TextBox 45"/>
          <p:cNvSpPr txBox="1"/>
          <p:nvPr/>
        </p:nvSpPr>
        <p:spPr>
          <a:xfrm>
            <a:off x="1188720" y="4471416"/>
            <a:ext cx="2377440" cy="219456"/>
          </a:xfrm>
          <a:prstGeom prst="rect">
            <a:avLst/>
          </a:prstGeom>
          <a:noFill/>
        </p:spPr>
        <p:txBody>
          <a:bodyPr wrap="square" lIns="0" tIns="0" rIns="0" bIns="0" anchor="t">
            <a:spAutoFit/>
          </a:bodyPr>
          <a:lstStyle/>
          <a:p>
            <a:pPr algn="l">
              <a:lnSpc>
                <a:spcPct val="100000"/>
              </a:lnSpc>
            </a:pPr>
            <a:r>
              <a:rPr sz="1100" b="0" i="0">
                <a:solidFill>
                  <a:srgbClr val="12283D"/>
                </a:solidFill>
                <a:latin typeface="Calibri"/>
              </a:rPr>
              <a:t>export on inbound route</a:t>
            </a:r>
          </a:p>
        </p:txBody>
      </p:sp>
      <p:sp>
        <p:nvSpPr>
          <p:cNvPr id="47" name="TextBox 46"/>
          <p:cNvSpPr txBox="1"/>
          <p:nvPr/>
        </p:nvSpPr>
        <p:spPr>
          <a:xfrm>
            <a:off x="3566160" y="4471416"/>
            <a:ext cx="640080" cy="219456"/>
          </a:xfrm>
          <a:prstGeom prst="rect">
            <a:avLst/>
          </a:prstGeom>
          <a:noFill/>
        </p:spPr>
        <p:txBody>
          <a:bodyPr wrap="square" lIns="0" tIns="0" rIns="0" bIns="0" anchor="t">
            <a:spAutoFit/>
          </a:bodyPr>
          <a:lstStyle/>
          <a:p>
            <a:pPr algn="l">
              <a:lnSpc>
                <a:spcPct val="100000"/>
              </a:lnSpc>
            </a:pPr>
            <a:r>
              <a:rPr sz="1100" b="1" i="0">
                <a:solidFill>
                  <a:srgbClr val="1C7293"/>
                </a:solidFill>
                <a:latin typeface="Consolas"/>
              </a:rPr>
              <a:t>403</a:t>
            </a:r>
          </a:p>
        </p:txBody>
      </p:sp>
      <p:sp>
        <p:nvSpPr>
          <p:cNvPr id="48" name="TextBox 47"/>
          <p:cNvSpPr txBox="1"/>
          <p:nvPr/>
        </p:nvSpPr>
        <p:spPr>
          <a:xfrm>
            <a:off x="4416552" y="4471416"/>
            <a:ext cx="457200" cy="219456"/>
          </a:xfrm>
          <a:prstGeom prst="rect">
            <a:avLst/>
          </a:prstGeom>
          <a:noFill/>
        </p:spPr>
        <p:txBody>
          <a:bodyPr wrap="square" lIns="0" tIns="0" rIns="0" bIns="0" anchor="t">
            <a:spAutoFit/>
          </a:bodyPr>
          <a:lstStyle/>
          <a:p>
            <a:pPr algn="l">
              <a:lnSpc>
                <a:spcPct val="100000"/>
              </a:lnSpc>
            </a:pPr>
            <a:r>
              <a:rPr sz="1100" b="1" i="0">
                <a:solidFill>
                  <a:srgbClr val="5A6B7B"/>
                </a:solidFill>
                <a:latin typeface="Consolas"/>
              </a:rPr>
              <a:t>10</a:t>
            </a:r>
          </a:p>
        </p:txBody>
      </p:sp>
      <p:sp>
        <p:nvSpPr>
          <p:cNvPr id="49" name="TextBox 48"/>
          <p:cNvSpPr txBox="1"/>
          <p:nvPr/>
        </p:nvSpPr>
        <p:spPr>
          <a:xfrm>
            <a:off x="4800600" y="4471416"/>
            <a:ext cx="2377440" cy="219456"/>
          </a:xfrm>
          <a:prstGeom prst="rect">
            <a:avLst/>
          </a:prstGeom>
          <a:noFill/>
        </p:spPr>
        <p:txBody>
          <a:bodyPr wrap="square" lIns="0" tIns="0" rIns="0" bIns="0" anchor="t">
            <a:spAutoFit/>
          </a:bodyPr>
          <a:lstStyle/>
          <a:p>
            <a:pPr algn="l">
              <a:lnSpc>
                <a:spcPct val="100000"/>
              </a:lnSpc>
            </a:pPr>
            <a:r>
              <a:rPr sz="1100" b="0" i="0">
                <a:solidFill>
                  <a:srgbClr val="12283D"/>
                </a:solidFill>
                <a:latin typeface="Calibri"/>
              </a:rPr>
              <a:t>system-level export</a:t>
            </a:r>
          </a:p>
        </p:txBody>
      </p:sp>
      <p:sp>
        <p:nvSpPr>
          <p:cNvPr id="50" name="TextBox 49"/>
          <p:cNvSpPr txBox="1"/>
          <p:nvPr/>
        </p:nvSpPr>
        <p:spPr>
          <a:xfrm>
            <a:off x="7178040" y="4471416"/>
            <a:ext cx="640080" cy="219456"/>
          </a:xfrm>
          <a:prstGeom prst="rect">
            <a:avLst/>
          </a:prstGeom>
          <a:noFill/>
        </p:spPr>
        <p:txBody>
          <a:bodyPr wrap="square" lIns="0" tIns="0" rIns="0" bIns="0" anchor="t">
            <a:spAutoFit/>
          </a:bodyPr>
          <a:lstStyle/>
          <a:p>
            <a:pPr algn="l">
              <a:lnSpc>
                <a:spcPct val="100000"/>
              </a:lnSpc>
            </a:pPr>
            <a:r>
              <a:rPr sz="1100" b="1" i="0">
                <a:solidFill>
                  <a:srgbClr val="1C7293"/>
                </a:solidFill>
                <a:latin typeface="Consolas"/>
              </a:rPr>
              <a:t>403</a:t>
            </a:r>
          </a:p>
        </p:txBody>
      </p:sp>
      <p:sp>
        <p:nvSpPr>
          <p:cNvPr id="51" name="TextBox 50"/>
          <p:cNvSpPr txBox="1"/>
          <p:nvPr/>
        </p:nvSpPr>
        <p:spPr>
          <a:xfrm>
            <a:off x="8028432" y="4471416"/>
            <a:ext cx="457200" cy="219456"/>
          </a:xfrm>
          <a:prstGeom prst="rect">
            <a:avLst/>
          </a:prstGeom>
          <a:noFill/>
        </p:spPr>
        <p:txBody>
          <a:bodyPr wrap="square" lIns="0" tIns="0" rIns="0" bIns="0" anchor="t">
            <a:spAutoFit/>
          </a:bodyPr>
          <a:lstStyle/>
          <a:p>
            <a:pPr algn="l">
              <a:lnSpc>
                <a:spcPct val="100000"/>
              </a:lnSpc>
            </a:pPr>
            <a:r>
              <a:rPr sz="1100" b="1" i="0">
                <a:solidFill>
                  <a:srgbClr val="5A6B7B"/>
                </a:solidFill>
                <a:latin typeface="Consolas"/>
              </a:rPr>
              <a:t>11</a:t>
            </a:r>
          </a:p>
        </p:txBody>
      </p:sp>
      <p:sp>
        <p:nvSpPr>
          <p:cNvPr id="52" name="TextBox 51"/>
          <p:cNvSpPr txBox="1"/>
          <p:nvPr/>
        </p:nvSpPr>
        <p:spPr>
          <a:xfrm>
            <a:off x="8412480" y="4471416"/>
            <a:ext cx="2377440" cy="219456"/>
          </a:xfrm>
          <a:prstGeom prst="rect">
            <a:avLst/>
          </a:prstGeom>
          <a:noFill/>
        </p:spPr>
        <p:txBody>
          <a:bodyPr wrap="square" lIns="0" tIns="0" rIns="0" bIns="0" anchor="t">
            <a:spAutoFit/>
          </a:bodyPr>
          <a:lstStyle/>
          <a:p>
            <a:pPr algn="l">
              <a:lnSpc>
                <a:spcPct val="100000"/>
              </a:lnSpc>
            </a:pPr>
            <a:r>
              <a:rPr sz="1100" b="0" i="0">
                <a:solidFill>
                  <a:srgbClr val="12283D"/>
                </a:solidFill>
                <a:latin typeface="Calibri"/>
              </a:rPr>
              <a:t>patient-level export</a:t>
            </a:r>
          </a:p>
        </p:txBody>
      </p:sp>
      <p:sp>
        <p:nvSpPr>
          <p:cNvPr id="53" name="TextBox 52"/>
          <p:cNvSpPr txBox="1"/>
          <p:nvPr/>
        </p:nvSpPr>
        <p:spPr>
          <a:xfrm>
            <a:off x="10789920" y="4471416"/>
            <a:ext cx="640080" cy="219456"/>
          </a:xfrm>
          <a:prstGeom prst="rect">
            <a:avLst/>
          </a:prstGeom>
          <a:noFill/>
        </p:spPr>
        <p:txBody>
          <a:bodyPr wrap="square" lIns="0" tIns="0" rIns="0" bIns="0" anchor="t">
            <a:spAutoFit/>
          </a:bodyPr>
          <a:lstStyle/>
          <a:p>
            <a:pPr algn="l">
              <a:lnSpc>
                <a:spcPct val="100000"/>
              </a:lnSpc>
            </a:pPr>
            <a:r>
              <a:rPr sz="1100" b="1" i="0">
                <a:solidFill>
                  <a:srgbClr val="1C7293"/>
                </a:solidFill>
                <a:latin typeface="Consolas"/>
              </a:rPr>
              <a:t>403</a:t>
            </a:r>
          </a:p>
        </p:txBody>
      </p:sp>
      <p:sp>
        <p:nvSpPr>
          <p:cNvPr id="54" name="Rounded Rectangle 53"/>
          <p:cNvSpPr/>
          <p:nvPr/>
        </p:nvSpPr>
        <p:spPr>
          <a:xfrm>
            <a:off x="502920" y="4873752"/>
            <a:ext cx="11064240" cy="932688"/>
          </a:xfrm>
          <a:prstGeom prst="roundRect">
            <a:avLst>
              <a:gd name="adj" fmla="val 6000"/>
            </a:avLst>
          </a:prstGeom>
          <a:solidFill>
            <a:srgbClr val="FFFFFF"/>
          </a:solidFill>
          <a:ln w="9525">
            <a:solidFill>
              <a:srgbClr val="D8E2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Rectangle 54"/>
          <p:cNvSpPr/>
          <p:nvPr/>
        </p:nvSpPr>
        <p:spPr>
          <a:xfrm>
            <a:off x="502920" y="4873752"/>
            <a:ext cx="50292" cy="932688"/>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6" name="TextBox 55"/>
          <p:cNvSpPr txBox="1"/>
          <p:nvPr/>
        </p:nvSpPr>
        <p:spPr>
          <a:xfrm>
            <a:off x="777240" y="4974336"/>
            <a:ext cx="10607040" cy="237744"/>
          </a:xfrm>
          <a:prstGeom prst="rect">
            <a:avLst/>
          </a:prstGeom>
          <a:noFill/>
        </p:spPr>
        <p:txBody>
          <a:bodyPr wrap="square" lIns="0" tIns="0" rIns="0" bIns="0" anchor="t">
            <a:spAutoFit/>
          </a:bodyPr>
          <a:lstStyle/>
          <a:p>
            <a:pPr algn="l">
              <a:lnSpc>
                <a:spcPct val="100000"/>
              </a:lnSpc>
            </a:pPr>
            <a:r>
              <a:rPr sz="1150" b="1" i="0">
                <a:solidFill>
                  <a:srgbClr val="D9822B"/>
                </a:solidFill>
                <a:latin typeface="Calibri"/>
              </a:rPr>
              <a:t>DATA + LOAD — we check the body, not just the code</a:t>
            </a:r>
          </a:p>
        </p:txBody>
      </p:sp>
      <p:sp>
        <p:nvSpPr>
          <p:cNvPr id="57" name="TextBox 56"/>
          <p:cNvSpPr txBox="1"/>
          <p:nvPr/>
        </p:nvSpPr>
        <p:spPr>
          <a:xfrm>
            <a:off x="804672" y="5257800"/>
            <a:ext cx="457200" cy="219456"/>
          </a:xfrm>
          <a:prstGeom prst="rect">
            <a:avLst/>
          </a:prstGeom>
          <a:noFill/>
        </p:spPr>
        <p:txBody>
          <a:bodyPr wrap="square" lIns="0" tIns="0" rIns="0" bIns="0" anchor="t">
            <a:spAutoFit/>
          </a:bodyPr>
          <a:lstStyle/>
          <a:p>
            <a:pPr algn="l">
              <a:lnSpc>
                <a:spcPct val="100000"/>
              </a:lnSpc>
            </a:pPr>
            <a:r>
              <a:rPr sz="1100" b="1" i="0">
                <a:solidFill>
                  <a:srgbClr val="5A6B7B"/>
                </a:solidFill>
                <a:latin typeface="Consolas"/>
              </a:rPr>
              <a:t>13</a:t>
            </a:r>
          </a:p>
        </p:txBody>
      </p:sp>
      <p:sp>
        <p:nvSpPr>
          <p:cNvPr id="58" name="TextBox 57"/>
          <p:cNvSpPr txBox="1"/>
          <p:nvPr/>
        </p:nvSpPr>
        <p:spPr>
          <a:xfrm>
            <a:off x="1188720" y="5257800"/>
            <a:ext cx="2377440" cy="219456"/>
          </a:xfrm>
          <a:prstGeom prst="rect">
            <a:avLst/>
          </a:prstGeom>
          <a:noFill/>
        </p:spPr>
        <p:txBody>
          <a:bodyPr wrap="square" lIns="0" tIns="0" rIns="0" bIns="0" anchor="t">
            <a:spAutoFit/>
          </a:bodyPr>
          <a:lstStyle/>
          <a:p>
            <a:pPr algn="l">
              <a:lnSpc>
                <a:spcPct val="100000"/>
              </a:lnSpc>
            </a:pPr>
            <a:r>
              <a:rPr sz="1100" b="0" i="0">
                <a:solidFill>
                  <a:srgbClr val="12283D"/>
                </a:solidFill>
                <a:latin typeface="Calibri"/>
              </a:rPr>
              <a:t>caller _tag overridden</a:t>
            </a:r>
          </a:p>
        </p:txBody>
      </p:sp>
      <p:sp>
        <p:nvSpPr>
          <p:cNvPr id="59" name="TextBox 58"/>
          <p:cNvSpPr txBox="1"/>
          <p:nvPr/>
        </p:nvSpPr>
        <p:spPr>
          <a:xfrm>
            <a:off x="3566160" y="5257800"/>
            <a:ext cx="640080" cy="219456"/>
          </a:xfrm>
          <a:prstGeom prst="rect">
            <a:avLst/>
          </a:prstGeom>
          <a:noFill/>
        </p:spPr>
        <p:txBody>
          <a:bodyPr wrap="square" lIns="0" tIns="0" rIns="0" bIns="0" anchor="t">
            <a:spAutoFit/>
          </a:bodyPr>
          <a:lstStyle/>
          <a:p>
            <a:pPr algn="l">
              <a:lnSpc>
                <a:spcPct val="100000"/>
              </a:lnSpc>
            </a:pPr>
            <a:r>
              <a:rPr sz="1100" b="1" i="0">
                <a:solidFill>
                  <a:srgbClr val="D9822B"/>
                </a:solidFill>
                <a:latin typeface="Consolas"/>
              </a:rPr>
              <a:t>200</a:t>
            </a:r>
          </a:p>
        </p:txBody>
      </p:sp>
      <p:sp>
        <p:nvSpPr>
          <p:cNvPr id="60" name="TextBox 59"/>
          <p:cNvSpPr txBox="1"/>
          <p:nvPr/>
        </p:nvSpPr>
        <p:spPr>
          <a:xfrm>
            <a:off x="4416552" y="5257800"/>
            <a:ext cx="457200" cy="219456"/>
          </a:xfrm>
          <a:prstGeom prst="rect">
            <a:avLst/>
          </a:prstGeom>
          <a:noFill/>
        </p:spPr>
        <p:txBody>
          <a:bodyPr wrap="square" lIns="0" tIns="0" rIns="0" bIns="0" anchor="t">
            <a:spAutoFit/>
          </a:bodyPr>
          <a:lstStyle/>
          <a:p>
            <a:pPr algn="l">
              <a:lnSpc>
                <a:spcPct val="100000"/>
              </a:lnSpc>
            </a:pPr>
            <a:r>
              <a:rPr sz="1100" b="1" i="0">
                <a:solidFill>
                  <a:srgbClr val="5A6B7B"/>
                </a:solidFill>
                <a:latin typeface="Consolas"/>
              </a:rPr>
              <a:t>13b</a:t>
            </a:r>
          </a:p>
        </p:txBody>
      </p:sp>
      <p:sp>
        <p:nvSpPr>
          <p:cNvPr id="61" name="TextBox 60"/>
          <p:cNvSpPr txBox="1"/>
          <p:nvPr/>
        </p:nvSpPr>
        <p:spPr>
          <a:xfrm>
            <a:off x="4800600" y="5257800"/>
            <a:ext cx="2377440" cy="219456"/>
          </a:xfrm>
          <a:prstGeom prst="rect">
            <a:avLst/>
          </a:prstGeom>
          <a:noFill/>
        </p:spPr>
        <p:txBody>
          <a:bodyPr wrap="square" lIns="0" tIns="0" rIns="0" bIns="0" anchor="t">
            <a:spAutoFit/>
          </a:bodyPr>
          <a:lstStyle/>
          <a:p>
            <a:pPr algn="l">
              <a:lnSpc>
                <a:spcPct val="100000"/>
              </a:lnSpc>
            </a:pPr>
            <a:r>
              <a:rPr sz="1100" b="0" i="0">
                <a:solidFill>
                  <a:srgbClr val="12283D"/>
                </a:solidFill>
                <a:latin typeface="Calibri"/>
              </a:rPr>
              <a:t>body has only own contracts</a:t>
            </a:r>
          </a:p>
        </p:txBody>
      </p:sp>
      <p:sp>
        <p:nvSpPr>
          <p:cNvPr id="62" name="TextBox 61"/>
          <p:cNvSpPr txBox="1"/>
          <p:nvPr/>
        </p:nvSpPr>
        <p:spPr>
          <a:xfrm>
            <a:off x="7178040" y="5257800"/>
            <a:ext cx="640080" cy="219456"/>
          </a:xfrm>
          <a:prstGeom prst="rect">
            <a:avLst/>
          </a:prstGeom>
          <a:noFill/>
        </p:spPr>
        <p:txBody>
          <a:bodyPr wrap="square" lIns="0" tIns="0" rIns="0" bIns="0" anchor="t">
            <a:spAutoFit/>
          </a:bodyPr>
          <a:lstStyle/>
          <a:p>
            <a:pPr algn="l">
              <a:lnSpc>
                <a:spcPct val="100000"/>
              </a:lnSpc>
            </a:pPr>
            <a:r>
              <a:rPr sz="1100" b="1" i="0">
                <a:solidFill>
                  <a:srgbClr val="D9822B"/>
                </a:solidFill>
                <a:latin typeface="Consolas"/>
              </a:rPr>
              <a:t>CT-3456</a:t>
            </a:r>
          </a:p>
        </p:txBody>
      </p:sp>
      <p:sp>
        <p:nvSpPr>
          <p:cNvPr id="63" name="TextBox 62"/>
          <p:cNvSpPr txBox="1"/>
          <p:nvPr/>
        </p:nvSpPr>
        <p:spPr>
          <a:xfrm>
            <a:off x="8028432" y="5257800"/>
            <a:ext cx="457200" cy="219456"/>
          </a:xfrm>
          <a:prstGeom prst="rect">
            <a:avLst/>
          </a:prstGeom>
          <a:noFill/>
        </p:spPr>
        <p:txBody>
          <a:bodyPr wrap="square" lIns="0" tIns="0" rIns="0" bIns="0" anchor="t">
            <a:spAutoFit/>
          </a:bodyPr>
          <a:lstStyle/>
          <a:p>
            <a:pPr algn="l">
              <a:lnSpc>
                <a:spcPct val="100000"/>
              </a:lnSpc>
            </a:pPr>
            <a:r>
              <a:rPr sz="1100" b="1" i="0">
                <a:solidFill>
                  <a:srgbClr val="5A6B7B"/>
                </a:solidFill>
                <a:latin typeface="Consolas"/>
              </a:rPr>
              <a:t>14</a:t>
            </a:r>
          </a:p>
        </p:txBody>
      </p:sp>
      <p:sp>
        <p:nvSpPr>
          <p:cNvPr id="64" name="TextBox 63"/>
          <p:cNvSpPr txBox="1"/>
          <p:nvPr/>
        </p:nvSpPr>
        <p:spPr>
          <a:xfrm>
            <a:off x="8412480" y="5257800"/>
            <a:ext cx="2377440" cy="219456"/>
          </a:xfrm>
          <a:prstGeom prst="rect">
            <a:avLst/>
          </a:prstGeom>
          <a:noFill/>
        </p:spPr>
        <p:txBody>
          <a:bodyPr wrap="square" lIns="0" tIns="0" rIns="0" bIns="0" anchor="t">
            <a:spAutoFit/>
          </a:bodyPr>
          <a:lstStyle/>
          <a:p>
            <a:pPr algn="l">
              <a:lnSpc>
                <a:spcPct val="100000"/>
              </a:lnSpc>
            </a:pPr>
            <a:r>
              <a:rPr sz="1100" b="0" i="0">
                <a:solidFill>
                  <a:srgbClr val="12283D"/>
                </a:solidFill>
                <a:latin typeface="Calibri"/>
              </a:rPr>
              <a:t>untagged inbound write rejected</a:t>
            </a:r>
          </a:p>
        </p:txBody>
      </p:sp>
      <p:sp>
        <p:nvSpPr>
          <p:cNvPr id="65" name="TextBox 64"/>
          <p:cNvSpPr txBox="1"/>
          <p:nvPr/>
        </p:nvSpPr>
        <p:spPr>
          <a:xfrm>
            <a:off x="10789920" y="5257800"/>
            <a:ext cx="640080" cy="219456"/>
          </a:xfrm>
          <a:prstGeom prst="rect">
            <a:avLst/>
          </a:prstGeom>
          <a:noFill/>
        </p:spPr>
        <p:txBody>
          <a:bodyPr wrap="square" lIns="0" tIns="0" rIns="0" bIns="0" anchor="t">
            <a:spAutoFit/>
          </a:bodyPr>
          <a:lstStyle/>
          <a:p>
            <a:pPr algn="l">
              <a:lnSpc>
                <a:spcPct val="100000"/>
              </a:lnSpc>
            </a:pPr>
            <a:r>
              <a:rPr sz="1100" b="1" i="0">
                <a:solidFill>
                  <a:srgbClr val="D9822B"/>
                </a:solidFill>
                <a:latin typeface="Consolas"/>
              </a:rPr>
              <a:t>403</a:t>
            </a:r>
          </a:p>
        </p:txBody>
      </p:sp>
      <p:sp>
        <p:nvSpPr>
          <p:cNvPr id="66" name="TextBox 65"/>
          <p:cNvSpPr txBox="1"/>
          <p:nvPr/>
        </p:nvSpPr>
        <p:spPr>
          <a:xfrm>
            <a:off x="804672" y="5532120"/>
            <a:ext cx="457200" cy="219456"/>
          </a:xfrm>
          <a:prstGeom prst="rect">
            <a:avLst/>
          </a:prstGeom>
          <a:noFill/>
        </p:spPr>
        <p:txBody>
          <a:bodyPr wrap="square" lIns="0" tIns="0" rIns="0" bIns="0" anchor="t">
            <a:spAutoFit/>
          </a:bodyPr>
          <a:lstStyle/>
          <a:p>
            <a:pPr algn="l">
              <a:lnSpc>
                <a:spcPct val="100000"/>
              </a:lnSpc>
            </a:pPr>
            <a:r>
              <a:rPr sz="1100" b="1" i="0">
                <a:solidFill>
                  <a:srgbClr val="5A6B7B"/>
                </a:solidFill>
                <a:latin typeface="Consolas"/>
              </a:rPr>
              <a:t>15</a:t>
            </a:r>
          </a:p>
        </p:txBody>
      </p:sp>
      <p:sp>
        <p:nvSpPr>
          <p:cNvPr id="67" name="TextBox 66"/>
          <p:cNvSpPr txBox="1"/>
          <p:nvPr/>
        </p:nvSpPr>
        <p:spPr>
          <a:xfrm>
            <a:off x="1188720" y="5532120"/>
            <a:ext cx="2377440" cy="219456"/>
          </a:xfrm>
          <a:prstGeom prst="rect">
            <a:avLst/>
          </a:prstGeom>
          <a:noFill/>
        </p:spPr>
        <p:txBody>
          <a:bodyPr wrap="square" lIns="0" tIns="0" rIns="0" bIns="0" anchor="t">
            <a:spAutoFit/>
          </a:bodyPr>
          <a:lstStyle/>
          <a:p>
            <a:pPr algn="l">
              <a:lnSpc>
                <a:spcPct val="100000"/>
              </a:lnSpc>
            </a:pPr>
            <a:r>
              <a:rPr sz="1100" b="0" i="0">
                <a:solidFill>
                  <a:srgbClr val="12283D"/>
                </a:solidFill>
                <a:latin typeface="Calibri"/>
              </a:rPr>
              <a:t>second export in 5 min</a:t>
            </a:r>
          </a:p>
        </p:txBody>
      </p:sp>
      <p:sp>
        <p:nvSpPr>
          <p:cNvPr id="68" name="TextBox 67"/>
          <p:cNvSpPr txBox="1"/>
          <p:nvPr/>
        </p:nvSpPr>
        <p:spPr>
          <a:xfrm>
            <a:off x="3566160" y="5532120"/>
            <a:ext cx="640080" cy="219456"/>
          </a:xfrm>
          <a:prstGeom prst="rect">
            <a:avLst/>
          </a:prstGeom>
          <a:noFill/>
        </p:spPr>
        <p:txBody>
          <a:bodyPr wrap="square" lIns="0" tIns="0" rIns="0" bIns="0" anchor="t">
            <a:spAutoFit/>
          </a:bodyPr>
          <a:lstStyle/>
          <a:p>
            <a:pPr algn="l">
              <a:lnSpc>
                <a:spcPct val="100000"/>
              </a:lnSpc>
            </a:pPr>
            <a:r>
              <a:rPr sz="1100" b="1" i="0">
                <a:solidFill>
                  <a:srgbClr val="D9822B"/>
                </a:solidFill>
                <a:latin typeface="Consolas"/>
              </a:rPr>
              <a:t>429</a:t>
            </a:r>
          </a:p>
        </p:txBody>
      </p:sp>
      <p:sp>
        <p:nvSpPr>
          <p:cNvPr id="5" name="TextBox 4">
            <a:extLst>
              <a:ext uri="{FF2B5EF4-FFF2-40B4-BE49-F238E27FC236}">
                <a16:creationId xmlns:a16="http://schemas.microsoft.com/office/drawing/2014/main" id="{F691A038-085A-E1A9-C63A-96BE23011CE0}"/>
              </a:ext>
            </a:extLst>
          </p:cNvPr>
          <p:cNvSpPr txBox="1"/>
          <p:nvPr/>
        </p:nvSpPr>
        <p:spPr>
          <a:xfrm>
            <a:off x="545475" y="6057847"/>
            <a:ext cx="9711376" cy="369332"/>
          </a:xfrm>
          <a:prstGeom prst="rect">
            <a:avLst/>
          </a:prstGeom>
          <a:noFill/>
        </p:spPr>
        <p:txBody>
          <a:bodyPr wrap="none" rtlCol="0">
            <a:spAutoFit/>
          </a:bodyPr>
          <a:lstStyle/>
          <a:p>
            <a:r>
              <a:rPr lang="en-US" dirty="0"/>
              <a:t> Isolation is </a:t>
            </a:r>
            <a:r>
              <a:rPr lang="en-US" b="1" dirty="0"/>
              <a:t>enforced</a:t>
            </a:r>
            <a:r>
              <a:rPr lang="en-US" dirty="0"/>
              <a:t>, not configured; and it is verified against </a:t>
            </a:r>
            <a:r>
              <a:rPr lang="en-US" b="1" dirty="0"/>
              <a:t>response bodies</a:t>
            </a:r>
            <a:r>
              <a:rPr lang="en-US" dirty="0"/>
              <a:t>, not just status codes.</a:t>
            </a:r>
          </a:p>
        </p:txBody>
      </p:sp>
    </p:spTree>
    <p:extLst>
      <p:ext uri="{BB962C8B-B14F-4D97-AF65-F5344CB8AC3E}">
        <p14:creationId xmlns:p14="http://schemas.microsoft.com/office/powerpoint/2010/main" val="14518900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
        <p:cNvGrpSpPr/>
        <p:nvPr/>
      </p:nvGrpSpPr>
      <p:grpSpPr>
        <a:xfrm>
          <a:off x="0" y="0"/>
          <a:ext cx="0" cy="0"/>
          <a:chOff x="0" y="0"/>
          <a:chExt cx="0" cy="0"/>
        </a:xfrm>
      </p:grpSpPr>
      <p:sp>
        <p:nvSpPr>
          <p:cNvPr id="2" name="Rectangle 1"/>
          <p:cNvSpPr/>
          <p:nvPr/>
        </p:nvSpPr>
        <p:spPr>
          <a:xfrm>
            <a:off x="566928" y="420624"/>
            <a:ext cx="68580" cy="658368"/>
          </a:xfrm>
          <a:prstGeom prst="rect">
            <a:avLst/>
          </a:prstGeom>
          <a:solidFill>
            <a:srgbClr val="4FA6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77240" y="420624"/>
            <a:ext cx="10789920" cy="237744"/>
          </a:xfrm>
          <a:prstGeom prst="rect">
            <a:avLst/>
          </a:prstGeom>
          <a:noFill/>
        </p:spPr>
        <p:txBody>
          <a:bodyPr wrap="square" lIns="0" tIns="0" rIns="0" bIns="0" anchor="t">
            <a:spAutoFit/>
          </a:bodyPr>
          <a:lstStyle/>
          <a:p>
            <a:pPr algn="l">
              <a:lnSpc>
                <a:spcPct val="100000"/>
              </a:lnSpc>
            </a:pPr>
            <a:r>
              <a:rPr sz="1050" b="1" i="0">
                <a:solidFill>
                  <a:srgbClr val="4FA6C4"/>
                </a:solidFill>
                <a:latin typeface="Calibri"/>
              </a:rPr>
              <a:t>5 · GATEWAY ISOLATION WITH TESTS</a:t>
            </a:r>
          </a:p>
        </p:txBody>
      </p:sp>
      <p:sp>
        <p:nvSpPr>
          <p:cNvPr id="4" name="TextBox 3"/>
          <p:cNvSpPr txBox="1"/>
          <p:nvPr/>
        </p:nvSpPr>
        <p:spPr>
          <a:xfrm>
            <a:off x="777240" y="658368"/>
            <a:ext cx="10789920" cy="475488"/>
          </a:xfrm>
          <a:prstGeom prst="rect">
            <a:avLst/>
          </a:prstGeom>
          <a:noFill/>
        </p:spPr>
        <p:txBody>
          <a:bodyPr wrap="square" lIns="0" tIns="0" rIns="0" bIns="0" anchor="t">
            <a:spAutoFit/>
          </a:bodyPr>
          <a:lstStyle/>
          <a:p>
            <a:pPr algn="l">
              <a:lnSpc>
                <a:spcPct val="100000"/>
              </a:lnSpc>
            </a:pPr>
            <a:r>
              <a:rPr sz="2700" b="1" i="0">
                <a:solidFill>
                  <a:srgbClr val="FFFFFF"/>
                </a:solidFill>
                <a:latin typeface="Cambria"/>
              </a:rPr>
              <a:t>The three lines to stop on</a:t>
            </a:r>
          </a:p>
        </p:txBody>
      </p:sp>
      <p:sp>
        <p:nvSpPr>
          <p:cNvPr id="5" name="Rectangle 4"/>
          <p:cNvSpPr/>
          <p:nvPr/>
        </p:nvSpPr>
        <p:spPr>
          <a:xfrm>
            <a:off x="566928" y="6345936"/>
            <a:ext cx="11064240" cy="12801"/>
          </a:xfrm>
          <a:prstGeom prst="rect">
            <a:avLst/>
          </a:prstGeom>
          <a:solidFill>
            <a:srgbClr val="2C50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0058400" y="6428232"/>
            <a:ext cx="1572768" cy="219456"/>
          </a:xfrm>
          <a:prstGeom prst="rect">
            <a:avLst/>
          </a:prstGeom>
          <a:noFill/>
        </p:spPr>
        <p:txBody>
          <a:bodyPr wrap="square" lIns="0" tIns="0" rIns="0" bIns="0" anchor="t">
            <a:spAutoFit/>
          </a:bodyPr>
          <a:lstStyle/>
          <a:p>
            <a:pPr algn="r">
              <a:lnSpc>
                <a:spcPct val="100000"/>
              </a:lnSpc>
            </a:pPr>
            <a:r>
              <a:rPr sz="900" b="0" i="0">
                <a:solidFill>
                  <a:srgbClr val="7F9AB5"/>
                </a:solidFill>
                <a:latin typeface="Calibri"/>
              </a:rPr>
              <a:t>14</a:t>
            </a:r>
          </a:p>
        </p:txBody>
      </p:sp>
      <p:sp>
        <p:nvSpPr>
          <p:cNvPr id="8" name="TextBox 7"/>
          <p:cNvSpPr txBox="1"/>
          <p:nvPr/>
        </p:nvSpPr>
        <p:spPr>
          <a:xfrm>
            <a:off x="777240" y="1371600"/>
            <a:ext cx="10789920" cy="274320"/>
          </a:xfrm>
          <a:prstGeom prst="rect">
            <a:avLst/>
          </a:prstGeom>
          <a:noFill/>
        </p:spPr>
        <p:txBody>
          <a:bodyPr wrap="square" lIns="0" tIns="0" rIns="0" bIns="0" anchor="t">
            <a:spAutoFit/>
          </a:bodyPr>
          <a:lstStyle/>
          <a:p>
            <a:pPr algn="l">
              <a:lnSpc>
                <a:spcPct val="100000"/>
              </a:lnSpc>
            </a:pPr>
            <a:r>
              <a:rPr sz="1300" b="0" i="0">
                <a:solidFill>
                  <a:srgbClr val="9FB8CC"/>
                </a:solidFill>
                <a:latin typeface="Calibri"/>
              </a:rPr>
              <a:t>Sixteen will scroll past. Narrate these and no others.</a:t>
            </a:r>
          </a:p>
        </p:txBody>
      </p:sp>
      <p:sp>
        <p:nvSpPr>
          <p:cNvPr id="9" name="Rounded Rectangle 8"/>
          <p:cNvSpPr/>
          <p:nvPr/>
        </p:nvSpPr>
        <p:spPr>
          <a:xfrm>
            <a:off x="777240" y="1792224"/>
            <a:ext cx="10652760" cy="1206500"/>
          </a:xfrm>
          <a:prstGeom prst="roundRect">
            <a:avLst>
              <a:gd name="adj" fmla="val 6000"/>
            </a:avLst>
          </a:prstGeom>
          <a:solidFill>
            <a:srgbClr val="1A3E60"/>
          </a:solidFill>
          <a:ln w="9525">
            <a:solidFill>
              <a:srgbClr val="2C507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987552" y="2048256"/>
            <a:ext cx="402336" cy="402336"/>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987552" y="2144268"/>
            <a:ext cx="402336" cy="228600"/>
          </a:xfrm>
          <a:prstGeom prst="rect">
            <a:avLst/>
          </a:prstGeom>
          <a:noFill/>
        </p:spPr>
        <p:txBody>
          <a:bodyPr wrap="square" lIns="0" tIns="0" rIns="0" bIns="0" anchor="t">
            <a:spAutoFit/>
          </a:bodyPr>
          <a:lstStyle/>
          <a:p>
            <a:pPr algn="ctr">
              <a:lnSpc>
                <a:spcPct val="100000"/>
              </a:lnSpc>
            </a:pPr>
            <a:r>
              <a:rPr sz="1300" b="1" i="0">
                <a:solidFill>
                  <a:srgbClr val="FFFFFF"/>
                </a:solidFill>
                <a:latin typeface="Calibri"/>
              </a:rPr>
              <a:t>4</a:t>
            </a:r>
          </a:p>
        </p:txBody>
      </p:sp>
      <p:sp>
        <p:nvSpPr>
          <p:cNvPr id="12" name="TextBox 11"/>
          <p:cNvSpPr txBox="1"/>
          <p:nvPr/>
        </p:nvSpPr>
        <p:spPr>
          <a:xfrm>
            <a:off x="1572768" y="1975104"/>
            <a:ext cx="5669280" cy="274320"/>
          </a:xfrm>
          <a:prstGeom prst="rect">
            <a:avLst/>
          </a:prstGeom>
          <a:noFill/>
        </p:spPr>
        <p:txBody>
          <a:bodyPr wrap="square" lIns="0" tIns="0" rIns="0" bIns="0" anchor="t">
            <a:spAutoFit/>
          </a:bodyPr>
          <a:lstStyle/>
          <a:p>
            <a:pPr algn="l">
              <a:lnSpc>
                <a:spcPct val="100000"/>
              </a:lnSpc>
            </a:pPr>
            <a:r>
              <a:rPr sz="1500" b="1" i="0">
                <a:solidFill>
                  <a:srgbClr val="FFFFFF"/>
                </a:solidFill>
                <a:latin typeface="Calibri"/>
              </a:rPr>
              <a:t>Valid token. Wrong payer.</a:t>
            </a:r>
          </a:p>
        </p:txBody>
      </p:sp>
      <p:sp>
        <p:nvSpPr>
          <p:cNvPr id="13" name="TextBox 12"/>
          <p:cNvSpPr txBox="1"/>
          <p:nvPr/>
        </p:nvSpPr>
        <p:spPr>
          <a:xfrm>
            <a:off x="1572768" y="2286000"/>
            <a:ext cx="7863840" cy="195566"/>
          </a:xfrm>
          <a:prstGeom prst="rect">
            <a:avLst/>
          </a:prstGeom>
          <a:noFill/>
        </p:spPr>
        <p:txBody>
          <a:bodyPr wrap="square" lIns="0" tIns="0" rIns="0" bIns="0" anchor="t">
            <a:spAutoFit/>
          </a:bodyPr>
          <a:lstStyle/>
          <a:p>
            <a:pPr algn="l">
              <a:lnSpc>
                <a:spcPct val="118000"/>
              </a:lnSpc>
            </a:pPr>
            <a:r>
              <a:rPr sz="1150" b="0" i="0" dirty="0">
                <a:solidFill>
                  <a:srgbClr val="CFE3EF"/>
                </a:solidFill>
                <a:latin typeface="Calibri"/>
              </a:rPr>
              <a:t>Fabrikam's token is valid and correctly signed — but entitled to payerb, called against payera. Rejected at layer 2.</a:t>
            </a:r>
          </a:p>
        </p:txBody>
      </p:sp>
      <p:sp>
        <p:nvSpPr>
          <p:cNvPr id="14" name="TextBox 13"/>
          <p:cNvSpPr txBox="1"/>
          <p:nvPr/>
        </p:nvSpPr>
        <p:spPr>
          <a:xfrm>
            <a:off x="1572768" y="2565400"/>
            <a:ext cx="7863840" cy="256032"/>
          </a:xfrm>
          <a:prstGeom prst="rect">
            <a:avLst/>
          </a:prstGeom>
          <a:noFill/>
        </p:spPr>
        <p:txBody>
          <a:bodyPr wrap="square" lIns="0" tIns="0" rIns="0" bIns="0" anchor="t">
            <a:spAutoFit/>
          </a:bodyPr>
          <a:lstStyle/>
          <a:p>
            <a:pPr algn="l">
              <a:lnSpc>
                <a:spcPct val="100000"/>
              </a:lnSpc>
            </a:pPr>
            <a:r>
              <a:rPr sz="1150" b="1" i="0">
                <a:solidFill>
                  <a:srgbClr val="4FA6C4"/>
                </a:solidFill>
                <a:latin typeface="Calibri"/>
              </a:rPr>
              <a:t>The boundary holds against a legitimate credential, not just a forged one.</a:t>
            </a:r>
          </a:p>
        </p:txBody>
      </p:sp>
      <p:sp>
        <p:nvSpPr>
          <p:cNvPr id="15" name="TextBox 14"/>
          <p:cNvSpPr txBox="1"/>
          <p:nvPr/>
        </p:nvSpPr>
        <p:spPr>
          <a:xfrm>
            <a:off x="9692640" y="2267712"/>
            <a:ext cx="1554480" cy="365760"/>
          </a:xfrm>
          <a:prstGeom prst="rect">
            <a:avLst/>
          </a:prstGeom>
          <a:noFill/>
        </p:spPr>
        <p:txBody>
          <a:bodyPr wrap="square" lIns="0" tIns="0" rIns="0" bIns="0" anchor="t">
            <a:spAutoFit/>
          </a:bodyPr>
          <a:lstStyle/>
          <a:p>
            <a:pPr algn="r">
              <a:lnSpc>
                <a:spcPct val="100000"/>
              </a:lnSpc>
            </a:pPr>
            <a:r>
              <a:rPr sz="1700" b="1" i="0">
                <a:solidFill>
                  <a:srgbClr val="2E8B57"/>
                </a:solidFill>
                <a:latin typeface="Consolas"/>
              </a:rPr>
              <a:t>403</a:t>
            </a:r>
          </a:p>
        </p:txBody>
      </p:sp>
      <p:sp>
        <p:nvSpPr>
          <p:cNvPr id="16" name="Rounded Rectangle 15"/>
          <p:cNvSpPr/>
          <p:nvPr/>
        </p:nvSpPr>
        <p:spPr>
          <a:xfrm>
            <a:off x="777240" y="3273552"/>
            <a:ext cx="10652760" cy="1206500"/>
          </a:xfrm>
          <a:prstGeom prst="roundRect">
            <a:avLst>
              <a:gd name="adj" fmla="val 6000"/>
            </a:avLst>
          </a:prstGeom>
          <a:solidFill>
            <a:srgbClr val="1A3E60"/>
          </a:solidFill>
          <a:ln w="9525">
            <a:solidFill>
              <a:srgbClr val="2C507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987552" y="3529584"/>
            <a:ext cx="402336" cy="402336"/>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987552" y="3625596"/>
            <a:ext cx="402336" cy="228600"/>
          </a:xfrm>
          <a:prstGeom prst="rect">
            <a:avLst/>
          </a:prstGeom>
          <a:noFill/>
        </p:spPr>
        <p:txBody>
          <a:bodyPr wrap="square" lIns="0" tIns="0" rIns="0" bIns="0" anchor="t">
            <a:spAutoFit/>
          </a:bodyPr>
          <a:lstStyle/>
          <a:p>
            <a:pPr algn="ctr">
              <a:lnSpc>
                <a:spcPct val="100000"/>
              </a:lnSpc>
            </a:pPr>
            <a:r>
              <a:rPr sz="1300" b="1" i="0">
                <a:solidFill>
                  <a:srgbClr val="FFFFFF"/>
                </a:solidFill>
                <a:latin typeface="Calibri"/>
              </a:rPr>
              <a:t>12</a:t>
            </a:r>
          </a:p>
        </p:txBody>
      </p:sp>
      <p:sp>
        <p:nvSpPr>
          <p:cNvPr id="19" name="TextBox 18"/>
          <p:cNvSpPr txBox="1"/>
          <p:nvPr/>
        </p:nvSpPr>
        <p:spPr>
          <a:xfrm>
            <a:off x="1572768" y="3456432"/>
            <a:ext cx="5669280" cy="274320"/>
          </a:xfrm>
          <a:prstGeom prst="rect">
            <a:avLst/>
          </a:prstGeom>
          <a:noFill/>
        </p:spPr>
        <p:txBody>
          <a:bodyPr wrap="square" lIns="0" tIns="0" rIns="0" bIns="0" anchor="t">
            <a:spAutoFit/>
          </a:bodyPr>
          <a:lstStyle/>
          <a:p>
            <a:pPr algn="l">
              <a:lnSpc>
                <a:spcPct val="100000"/>
              </a:lnSpc>
            </a:pPr>
            <a:r>
              <a:rPr sz="1500" b="1" i="0">
                <a:solidFill>
                  <a:srgbClr val="FFFFFF"/>
                </a:solidFill>
                <a:latin typeface="Calibri"/>
              </a:rPr>
              <a:t>Payer goes straight to AHDS.</a:t>
            </a:r>
          </a:p>
        </p:txBody>
      </p:sp>
      <p:sp>
        <p:nvSpPr>
          <p:cNvPr id="20" name="TextBox 19"/>
          <p:cNvSpPr txBox="1"/>
          <p:nvPr/>
        </p:nvSpPr>
        <p:spPr>
          <a:xfrm>
            <a:off x="1572768" y="3767328"/>
            <a:ext cx="7863840" cy="195566"/>
          </a:xfrm>
          <a:prstGeom prst="rect">
            <a:avLst/>
          </a:prstGeom>
          <a:noFill/>
        </p:spPr>
        <p:txBody>
          <a:bodyPr wrap="square" lIns="0" tIns="0" rIns="0" bIns="0" anchor="t">
            <a:spAutoFit/>
          </a:bodyPr>
          <a:lstStyle/>
          <a:p>
            <a:pPr algn="l">
              <a:lnSpc>
                <a:spcPct val="118000"/>
              </a:lnSpc>
            </a:pPr>
            <a:r>
              <a:rPr sz="1150" b="0" i="0" dirty="0">
                <a:solidFill>
                  <a:srgbClr val="CFE3EF"/>
                </a:solidFill>
                <a:latin typeface="Calibri"/>
              </a:rPr>
              <a:t>Payer token sent straight to the FHIR hostname, no APIM in the path. Entra authenticates the caller; AHDS finds no role.</a:t>
            </a:r>
          </a:p>
        </p:txBody>
      </p:sp>
      <p:sp>
        <p:nvSpPr>
          <p:cNvPr id="21" name="TextBox 20"/>
          <p:cNvSpPr txBox="1"/>
          <p:nvPr/>
        </p:nvSpPr>
        <p:spPr>
          <a:xfrm>
            <a:off x="1572768" y="4051300"/>
            <a:ext cx="7863840" cy="256032"/>
          </a:xfrm>
          <a:prstGeom prst="rect">
            <a:avLst/>
          </a:prstGeom>
          <a:noFill/>
        </p:spPr>
        <p:txBody>
          <a:bodyPr wrap="square" lIns="0" tIns="0" rIns="0" bIns="0" anchor="t">
            <a:spAutoFit/>
          </a:bodyPr>
          <a:lstStyle/>
          <a:p>
            <a:pPr algn="l">
              <a:lnSpc>
                <a:spcPct val="100000"/>
              </a:lnSpc>
            </a:pPr>
            <a:r>
              <a:rPr sz="1150" b="1" i="0">
                <a:solidFill>
                  <a:srgbClr val="4FA6C4"/>
                </a:solidFill>
                <a:latin typeface="Calibri"/>
              </a:rPr>
              <a:t>403, not 401. Skipping the gateway does not skip the control — it removes the only means of access.</a:t>
            </a:r>
          </a:p>
        </p:txBody>
      </p:sp>
      <p:sp>
        <p:nvSpPr>
          <p:cNvPr id="22" name="TextBox 21"/>
          <p:cNvSpPr txBox="1"/>
          <p:nvPr/>
        </p:nvSpPr>
        <p:spPr>
          <a:xfrm>
            <a:off x="9692640" y="3749039"/>
            <a:ext cx="1554480" cy="365760"/>
          </a:xfrm>
          <a:prstGeom prst="rect">
            <a:avLst/>
          </a:prstGeom>
          <a:noFill/>
        </p:spPr>
        <p:txBody>
          <a:bodyPr wrap="square" lIns="0" tIns="0" rIns="0" bIns="0" anchor="t">
            <a:spAutoFit/>
          </a:bodyPr>
          <a:lstStyle/>
          <a:p>
            <a:pPr algn="r">
              <a:lnSpc>
                <a:spcPct val="100000"/>
              </a:lnSpc>
            </a:pPr>
            <a:r>
              <a:rPr sz="1700" b="1" i="0">
                <a:solidFill>
                  <a:srgbClr val="2E8B57"/>
                </a:solidFill>
                <a:latin typeface="Consolas"/>
              </a:rPr>
              <a:t>403</a:t>
            </a:r>
          </a:p>
        </p:txBody>
      </p:sp>
      <p:sp>
        <p:nvSpPr>
          <p:cNvPr id="23" name="Rounded Rectangle 22"/>
          <p:cNvSpPr/>
          <p:nvPr/>
        </p:nvSpPr>
        <p:spPr>
          <a:xfrm>
            <a:off x="777240" y="4754880"/>
            <a:ext cx="10652760" cy="1206500"/>
          </a:xfrm>
          <a:prstGeom prst="roundRect">
            <a:avLst>
              <a:gd name="adj" fmla="val 6000"/>
            </a:avLst>
          </a:prstGeom>
          <a:solidFill>
            <a:srgbClr val="1A3E60"/>
          </a:solidFill>
          <a:ln w="9525">
            <a:solidFill>
              <a:srgbClr val="2C507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Oval 23"/>
          <p:cNvSpPr/>
          <p:nvPr/>
        </p:nvSpPr>
        <p:spPr>
          <a:xfrm>
            <a:off x="987552" y="5010912"/>
            <a:ext cx="402336" cy="402336"/>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987552" y="5106924"/>
            <a:ext cx="402336" cy="228600"/>
          </a:xfrm>
          <a:prstGeom prst="rect">
            <a:avLst/>
          </a:prstGeom>
          <a:noFill/>
        </p:spPr>
        <p:txBody>
          <a:bodyPr wrap="square" lIns="0" tIns="0" rIns="0" bIns="0" anchor="t">
            <a:spAutoFit/>
          </a:bodyPr>
          <a:lstStyle/>
          <a:p>
            <a:pPr algn="ctr">
              <a:lnSpc>
                <a:spcPct val="100000"/>
              </a:lnSpc>
            </a:pPr>
            <a:r>
              <a:rPr sz="1300" b="1" i="0">
                <a:solidFill>
                  <a:srgbClr val="FFFFFF"/>
                </a:solidFill>
                <a:latin typeface="Calibri"/>
              </a:rPr>
              <a:t>13b</a:t>
            </a:r>
          </a:p>
        </p:txBody>
      </p:sp>
      <p:sp>
        <p:nvSpPr>
          <p:cNvPr id="26" name="TextBox 25"/>
          <p:cNvSpPr txBox="1"/>
          <p:nvPr/>
        </p:nvSpPr>
        <p:spPr>
          <a:xfrm>
            <a:off x="1572768" y="4937760"/>
            <a:ext cx="5669280" cy="274320"/>
          </a:xfrm>
          <a:prstGeom prst="rect">
            <a:avLst/>
          </a:prstGeom>
          <a:noFill/>
        </p:spPr>
        <p:txBody>
          <a:bodyPr wrap="square" lIns="0" tIns="0" rIns="0" bIns="0" anchor="t">
            <a:spAutoFit/>
          </a:bodyPr>
          <a:lstStyle/>
          <a:p>
            <a:pPr algn="l">
              <a:lnSpc>
                <a:spcPct val="100000"/>
              </a:lnSpc>
            </a:pPr>
            <a:r>
              <a:rPr sz="1500" b="1" i="0">
                <a:solidFill>
                  <a:srgbClr val="FFFFFF"/>
                </a:solidFill>
                <a:latin typeface="Calibri"/>
              </a:rPr>
              <a:t>We read the body, not the code.</a:t>
            </a:r>
          </a:p>
        </p:txBody>
      </p:sp>
      <p:sp>
        <p:nvSpPr>
          <p:cNvPr id="27" name="TextBox 26"/>
          <p:cNvSpPr txBox="1"/>
          <p:nvPr/>
        </p:nvSpPr>
        <p:spPr>
          <a:xfrm>
            <a:off x="1572768" y="5248656"/>
            <a:ext cx="7863840" cy="195566"/>
          </a:xfrm>
          <a:prstGeom prst="rect">
            <a:avLst/>
          </a:prstGeom>
          <a:noFill/>
        </p:spPr>
        <p:txBody>
          <a:bodyPr wrap="square" lIns="0" tIns="0" rIns="0" bIns="0" anchor="t">
            <a:spAutoFit/>
          </a:bodyPr>
          <a:lstStyle/>
          <a:p>
            <a:pPr algn="l">
              <a:lnSpc>
                <a:spcPct val="118000"/>
              </a:lnSpc>
            </a:pPr>
            <a:r>
              <a:rPr sz="1150" b="0" i="0" dirty="0">
                <a:solidFill>
                  <a:srgbClr val="CFE3EF"/>
                </a:solidFill>
                <a:latin typeface="Calibri"/>
              </a:rPr>
              <a:t>Payer A holds two contracts. The response is checked resource by resource — only CT-3456 comes back.</a:t>
            </a:r>
          </a:p>
        </p:txBody>
      </p:sp>
      <p:sp>
        <p:nvSpPr>
          <p:cNvPr id="28" name="TextBox 27"/>
          <p:cNvSpPr txBox="1"/>
          <p:nvPr/>
        </p:nvSpPr>
        <p:spPr>
          <a:xfrm>
            <a:off x="1572768" y="5524500"/>
            <a:ext cx="7863840" cy="256032"/>
          </a:xfrm>
          <a:prstGeom prst="rect">
            <a:avLst/>
          </a:prstGeom>
          <a:noFill/>
        </p:spPr>
        <p:txBody>
          <a:bodyPr wrap="square" lIns="0" tIns="0" rIns="0" bIns="0" anchor="t">
            <a:spAutoFit/>
          </a:bodyPr>
          <a:lstStyle/>
          <a:p>
            <a:pPr algn="l">
              <a:lnSpc>
                <a:spcPct val="100000"/>
              </a:lnSpc>
            </a:pPr>
            <a:r>
              <a:rPr sz="1150" b="1" i="0">
                <a:solidFill>
                  <a:srgbClr val="4FA6C4"/>
                </a:solidFill>
                <a:latin typeface="Calibri"/>
              </a:rPr>
              <a:t>A 200 would have passed a status-code check. Logical separation is verified in the data.</a:t>
            </a:r>
          </a:p>
        </p:txBody>
      </p:sp>
      <p:sp>
        <p:nvSpPr>
          <p:cNvPr id="29" name="TextBox 28"/>
          <p:cNvSpPr txBox="1"/>
          <p:nvPr/>
        </p:nvSpPr>
        <p:spPr>
          <a:xfrm>
            <a:off x="9692640" y="5230368"/>
            <a:ext cx="1554480" cy="365760"/>
          </a:xfrm>
          <a:prstGeom prst="rect">
            <a:avLst/>
          </a:prstGeom>
          <a:noFill/>
        </p:spPr>
        <p:txBody>
          <a:bodyPr wrap="square" lIns="0" tIns="0" rIns="0" bIns="0" anchor="t">
            <a:spAutoFit/>
          </a:bodyPr>
          <a:lstStyle/>
          <a:p>
            <a:pPr algn="r">
              <a:lnSpc>
                <a:spcPct val="100000"/>
              </a:lnSpc>
            </a:pPr>
            <a:r>
              <a:rPr sz="1700" b="1" i="0">
                <a:solidFill>
                  <a:srgbClr val="2E8B57"/>
                </a:solidFill>
                <a:latin typeface="Consolas"/>
              </a:rPr>
              <a:t>CT-3456</a:t>
            </a:r>
          </a:p>
        </p:txBody>
      </p:sp>
    </p:spTree>
    <p:extLst>
      <p:ext uri="{BB962C8B-B14F-4D97-AF65-F5344CB8AC3E}">
        <p14:creationId xmlns:p14="http://schemas.microsoft.com/office/powerpoint/2010/main" val="10559185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8FA"/>
        </a:solidFill>
        <a:effectLst/>
      </p:bgPr>
    </p:bg>
    <p:spTree>
      <p:nvGrpSpPr>
        <p:cNvPr id="1" name=""/>
        <p:cNvGrpSpPr/>
        <p:nvPr/>
      </p:nvGrpSpPr>
      <p:grpSpPr>
        <a:xfrm>
          <a:off x="0" y="0"/>
          <a:ext cx="0" cy="0"/>
          <a:chOff x="0" y="0"/>
          <a:chExt cx="0" cy="0"/>
        </a:xfrm>
      </p:grpSpPr>
      <p:sp>
        <p:nvSpPr>
          <p:cNvPr id="2" name="Rectangle 1"/>
          <p:cNvSpPr/>
          <p:nvPr/>
        </p:nvSpPr>
        <p:spPr>
          <a:xfrm>
            <a:off x="566928" y="420624"/>
            <a:ext cx="68580" cy="65836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708660" y="497794"/>
            <a:ext cx="10789920" cy="415498"/>
          </a:xfrm>
          <a:prstGeom prst="rect">
            <a:avLst/>
          </a:prstGeom>
          <a:noFill/>
        </p:spPr>
        <p:txBody>
          <a:bodyPr wrap="square" lIns="0" tIns="0" rIns="0" bIns="0" anchor="t">
            <a:spAutoFit/>
          </a:bodyPr>
          <a:lstStyle/>
          <a:p>
            <a:pPr algn="l">
              <a:lnSpc>
                <a:spcPct val="100000"/>
              </a:lnSpc>
            </a:pPr>
            <a:r>
              <a:rPr lang="en-US" sz="2700" b="1" i="0" dirty="0">
                <a:solidFill>
                  <a:srgbClr val="12283D"/>
                </a:solidFill>
                <a:latin typeface="Cambria"/>
              </a:rPr>
              <a:t>Outbound Policy Layer - Depth</a:t>
            </a:r>
            <a:endParaRPr sz="2700" b="1" i="0" dirty="0">
              <a:solidFill>
                <a:srgbClr val="12283D"/>
              </a:solidFill>
              <a:latin typeface="Cambria"/>
            </a:endParaRPr>
          </a:p>
        </p:txBody>
      </p:sp>
      <p:sp>
        <p:nvSpPr>
          <p:cNvPr id="5" name="Rectangle 4"/>
          <p:cNvSpPr/>
          <p:nvPr/>
        </p:nvSpPr>
        <p:spPr>
          <a:xfrm>
            <a:off x="566928" y="6345936"/>
            <a:ext cx="11064240" cy="12801"/>
          </a:xfrm>
          <a:prstGeom prst="rect">
            <a:avLst/>
          </a:prstGeom>
          <a:solidFill>
            <a:srgbClr val="D8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0058400" y="6428232"/>
            <a:ext cx="1572768" cy="219456"/>
          </a:xfrm>
          <a:prstGeom prst="rect">
            <a:avLst/>
          </a:prstGeom>
          <a:noFill/>
        </p:spPr>
        <p:txBody>
          <a:bodyPr wrap="square" lIns="0" tIns="0" rIns="0" bIns="0" anchor="t">
            <a:spAutoFit/>
          </a:bodyPr>
          <a:lstStyle/>
          <a:p>
            <a:pPr algn="r">
              <a:lnSpc>
                <a:spcPct val="100000"/>
              </a:lnSpc>
            </a:pPr>
            <a:r>
              <a:rPr sz="900" b="0" i="0">
                <a:solidFill>
                  <a:srgbClr val="5A6B7B"/>
                </a:solidFill>
                <a:latin typeface="Calibri"/>
              </a:rPr>
              <a:t>15</a:t>
            </a:r>
          </a:p>
        </p:txBody>
      </p:sp>
      <p:sp>
        <p:nvSpPr>
          <p:cNvPr id="8" name="TextBox 7"/>
          <p:cNvSpPr txBox="1"/>
          <p:nvPr/>
        </p:nvSpPr>
        <p:spPr>
          <a:xfrm>
            <a:off x="4343798" y="1280160"/>
            <a:ext cx="3793037" cy="246221"/>
          </a:xfrm>
          <a:prstGeom prst="rect">
            <a:avLst/>
          </a:prstGeom>
          <a:noFill/>
        </p:spPr>
        <p:txBody>
          <a:bodyPr wrap="square" lIns="0" tIns="0" rIns="0" bIns="0" anchor="t">
            <a:spAutoFit/>
          </a:bodyPr>
          <a:lstStyle/>
          <a:p>
            <a:pPr algn="l">
              <a:lnSpc>
                <a:spcPct val="100000"/>
              </a:lnSpc>
            </a:pPr>
            <a:r>
              <a:rPr sz="1600" b="0" i="0" dirty="0" err="1">
                <a:solidFill>
                  <a:srgbClr val="5A6B7B"/>
                </a:solidFill>
                <a:latin typeface="Consolas"/>
              </a:rPr>
              <a:t>apim</a:t>
            </a:r>
            <a:r>
              <a:rPr sz="1600" b="0" i="0" dirty="0">
                <a:solidFill>
                  <a:srgbClr val="5A6B7B"/>
                </a:solidFill>
                <a:latin typeface="Consolas"/>
              </a:rPr>
              <a:t>/policies/payer-outbound.xml  </a:t>
            </a:r>
          </a:p>
        </p:txBody>
      </p:sp>
      <p:sp>
        <p:nvSpPr>
          <p:cNvPr id="9" name="Rounded Rectangle 8"/>
          <p:cNvSpPr/>
          <p:nvPr/>
        </p:nvSpPr>
        <p:spPr>
          <a:xfrm>
            <a:off x="566928" y="1755648"/>
            <a:ext cx="11064240" cy="576072"/>
          </a:xfrm>
          <a:prstGeom prst="roundRect">
            <a:avLst>
              <a:gd name="adj" fmla="val 6000"/>
            </a:avLst>
          </a:prstGeom>
          <a:solidFill>
            <a:srgbClr val="E8F1F4"/>
          </a:solidFill>
          <a:ln w="9525">
            <a:solidFill>
              <a:srgbClr val="D8E2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566928" y="1755648"/>
            <a:ext cx="50292" cy="576072"/>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22960" y="1929384"/>
            <a:ext cx="457200" cy="237744"/>
          </a:xfrm>
          <a:prstGeom prst="rect">
            <a:avLst/>
          </a:prstGeom>
          <a:noFill/>
        </p:spPr>
        <p:txBody>
          <a:bodyPr wrap="square" lIns="0" tIns="0" rIns="0" bIns="0" anchor="t">
            <a:spAutoFit/>
          </a:bodyPr>
          <a:lstStyle/>
          <a:p>
            <a:pPr algn="l">
              <a:lnSpc>
                <a:spcPct val="100000"/>
              </a:lnSpc>
            </a:pPr>
            <a:r>
              <a:rPr sz="1300" b="1" i="0">
                <a:solidFill>
                  <a:srgbClr val="1C7293"/>
                </a:solidFill>
                <a:latin typeface="Consolas"/>
              </a:rPr>
              <a:t>1</a:t>
            </a:r>
          </a:p>
        </p:txBody>
      </p:sp>
      <p:sp>
        <p:nvSpPr>
          <p:cNvPr id="12" name="TextBox 11"/>
          <p:cNvSpPr txBox="1"/>
          <p:nvPr/>
        </p:nvSpPr>
        <p:spPr>
          <a:xfrm>
            <a:off x="1325880" y="1929384"/>
            <a:ext cx="1828800" cy="237744"/>
          </a:xfrm>
          <a:prstGeom prst="rect">
            <a:avLst/>
          </a:prstGeom>
          <a:noFill/>
        </p:spPr>
        <p:txBody>
          <a:bodyPr wrap="square" lIns="0" tIns="0" rIns="0" bIns="0" anchor="t">
            <a:spAutoFit/>
          </a:bodyPr>
          <a:lstStyle/>
          <a:p>
            <a:pPr algn="l">
              <a:lnSpc>
                <a:spcPct val="100000"/>
              </a:lnSpc>
            </a:pPr>
            <a:r>
              <a:rPr sz="1300" b="1" i="0">
                <a:solidFill>
                  <a:srgbClr val="12283D"/>
                </a:solidFill>
                <a:latin typeface="Calibri"/>
              </a:rPr>
              <a:t>Authentication</a:t>
            </a:r>
          </a:p>
        </p:txBody>
      </p:sp>
      <p:sp>
        <p:nvSpPr>
          <p:cNvPr id="14" name="TextBox 13"/>
          <p:cNvSpPr txBox="1"/>
          <p:nvPr/>
        </p:nvSpPr>
        <p:spPr>
          <a:xfrm>
            <a:off x="3200400" y="1929384"/>
            <a:ext cx="5257800" cy="200055"/>
          </a:xfrm>
          <a:prstGeom prst="rect">
            <a:avLst/>
          </a:prstGeom>
          <a:noFill/>
        </p:spPr>
        <p:txBody>
          <a:bodyPr wrap="square" lIns="0" tIns="0" rIns="0" bIns="0" anchor="t">
            <a:spAutoFit/>
          </a:bodyPr>
          <a:lstStyle/>
          <a:p>
            <a:pPr algn="l">
              <a:lnSpc>
                <a:spcPct val="100000"/>
              </a:lnSpc>
            </a:pPr>
            <a:r>
              <a:rPr sz="1300" b="0" i="0">
                <a:solidFill>
                  <a:srgbClr val="12283D"/>
                </a:solidFill>
                <a:latin typeface="Calibri"/>
              </a:rPr>
              <a:t>Entra JWT — signature, expiry, audience, issuer</a:t>
            </a:r>
          </a:p>
        </p:txBody>
      </p:sp>
      <p:sp>
        <p:nvSpPr>
          <p:cNvPr id="15" name="TextBox 14"/>
          <p:cNvSpPr txBox="1"/>
          <p:nvPr/>
        </p:nvSpPr>
        <p:spPr>
          <a:xfrm>
            <a:off x="8595360" y="1929384"/>
            <a:ext cx="2926080" cy="192360"/>
          </a:xfrm>
          <a:prstGeom prst="rect">
            <a:avLst/>
          </a:prstGeom>
          <a:noFill/>
        </p:spPr>
        <p:txBody>
          <a:bodyPr wrap="square" lIns="0" tIns="0" rIns="0" bIns="0" anchor="t">
            <a:spAutoFit/>
          </a:bodyPr>
          <a:lstStyle/>
          <a:p>
            <a:pPr algn="r">
              <a:lnSpc>
                <a:spcPct val="100000"/>
              </a:lnSpc>
            </a:pPr>
            <a:r>
              <a:rPr sz="1250" b="1" i="0">
                <a:solidFill>
                  <a:srgbClr val="1C7293"/>
                </a:solidFill>
                <a:latin typeface="Calibri"/>
              </a:rPr>
              <a:t>401 · invalid token</a:t>
            </a:r>
          </a:p>
        </p:txBody>
      </p:sp>
      <p:sp>
        <p:nvSpPr>
          <p:cNvPr id="16" name="Rounded Rectangle 15"/>
          <p:cNvSpPr/>
          <p:nvPr/>
        </p:nvSpPr>
        <p:spPr>
          <a:xfrm>
            <a:off x="566928" y="2395728"/>
            <a:ext cx="11064240" cy="576072"/>
          </a:xfrm>
          <a:prstGeom prst="roundRect">
            <a:avLst>
              <a:gd name="adj" fmla="val 6000"/>
            </a:avLst>
          </a:prstGeom>
          <a:solidFill>
            <a:srgbClr val="E8F1F4"/>
          </a:solidFill>
          <a:ln w="9525">
            <a:solidFill>
              <a:srgbClr val="D8E2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566928" y="2395728"/>
            <a:ext cx="50292" cy="576072"/>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822960" y="2569464"/>
            <a:ext cx="457200" cy="237744"/>
          </a:xfrm>
          <a:prstGeom prst="rect">
            <a:avLst/>
          </a:prstGeom>
          <a:noFill/>
        </p:spPr>
        <p:txBody>
          <a:bodyPr wrap="square" lIns="0" tIns="0" rIns="0" bIns="0" anchor="t">
            <a:spAutoFit/>
          </a:bodyPr>
          <a:lstStyle/>
          <a:p>
            <a:pPr algn="l">
              <a:lnSpc>
                <a:spcPct val="100000"/>
              </a:lnSpc>
            </a:pPr>
            <a:r>
              <a:rPr sz="1300" b="1" i="0">
                <a:solidFill>
                  <a:srgbClr val="1C7293"/>
                </a:solidFill>
                <a:latin typeface="Consolas"/>
              </a:rPr>
              <a:t>2</a:t>
            </a:r>
          </a:p>
        </p:txBody>
      </p:sp>
      <p:sp>
        <p:nvSpPr>
          <p:cNvPr id="19" name="TextBox 18"/>
          <p:cNvSpPr txBox="1"/>
          <p:nvPr/>
        </p:nvSpPr>
        <p:spPr>
          <a:xfrm>
            <a:off x="1325880" y="2569464"/>
            <a:ext cx="1828800" cy="237744"/>
          </a:xfrm>
          <a:prstGeom prst="rect">
            <a:avLst/>
          </a:prstGeom>
          <a:noFill/>
        </p:spPr>
        <p:txBody>
          <a:bodyPr wrap="square" lIns="0" tIns="0" rIns="0" bIns="0" anchor="t">
            <a:spAutoFit/>
          </a:bodyPr>
          <a:lstStyle/>
          <a:p>
            <a:pPr algn="l">
              <a:lnSpc>
                <a:spcPct val="100000"/>
              </a:lnSpc>
            </a:pPr>
            <a:r>
              <a:rPr sz="1300" b="1" i="0">
                <a:solidFill>
                  <a:srgbClr val="12283D"/>
                </a:solidFill>
                <a:latin typeface="Calibri"/>
              </a:rPr>
              <a:t>Entitlement</a:t>
            </a:r>
          </a:p>
        </p:txBody>
      </p:sp>
      <p:sp>
        <p:nvSpPr>
          <p:cNvPr id="21" name="TextBox 20"/>
          <p:cNvSpPr txBox="1"/>
          <p:nvPr/>
        </p:nvSpPr>
        <p:spPr>
          <a:xfrm>
            <a:off x="3200400" y="2569464"/>
            <a:ext cx="5257800" cy="200055"/>
          </a:xfrm>
          <a:prstGeom prst="rect">
            <a:avLst/>
          </a:prstGeom>
          <a:noFill/>
        </p:spPr>
        <p:txBody>
          <a:bodyPr wrap="square" lIns="0" tIns="0" rIns="0" bIns="0" anchor="t">
            <a:spAutoFit/>
          </a:bodyPr>
          <a:lstStyle/>
          <a:p>
            <a:pPr algn="l">
              <a:lnSpc>
                <a:spcPct val="100000"/>
              </a:lnSpc>
            </a:pPr>
            <a:r>
              <a:rPr sz="1300" b="0" i="0">
                <a:solidFill>
                  <a:srgbClr val="12283D"/>
                </a:solidFill>
                <a:latin typeface="Calibri"/>
              </a:rPr>
              <a:t>azp claim → payer + contracts; cross-payer guard</a:t>
            </a:r>
          </a:p>
        </p:txBody>
      </p:sp>
      <p:sp>
        <p:nvSpPr>
          <p:cNvPr id="22" name="TextBox 21"/>
          <p:cNvSpPr txBox="1"/>
          <p:nvPr/>
        </p:nvSpPr>
        <p:spPr>
          <a:xfrm>
            <a:off x="8595360" y="2569464"/>
            <a:ext cx="2926080" cy="192360"/>
          </a:xfrm>
          <a:prstGeom prst="rect">
            <a:avLst/>
          </a:prstGeom>
          <a:noFill/>
        </p:spPr>
        <p:txBody>
          <a:bodyPr wrap="square" lIns="0" tIns="0" rIns="0" bIns="0" anchor="t">
            <a:spAutoFit/>
          </a:bodyPr>
          <a:lstStyle/>
          <a:p>
            <a:pPr algn="r">
              <a:lnSpc>
                <a:spcPct val="100000"/>
              </a:lnSpc>
            </a:pPr>
            <a:r>
              <a:rPr sz="1250" b="1" i="0">
                <a:solidFill>
                  <a:srgbClr val="1C7293"/>
                </a:solidFill>
                <a:latin typeface="Calibri"/>
              </a:rPr>
              <a:t>403 · wrong payer</a:t>
            </a:r>
          </a:p>
        </p:txBody>
      </p:sp>
      <p:sp>
        <p:nvSpPr>
          <p:cNvPr id="23" name="Rounded Rectangle 22"/>
          <p:cNvSpPr/>
          <p:nvPr/>
        </p:nvSpPr>
        <p:spPr>
          <a:xfrm>
            <a:off x="566928" y="3035808"/>
            <a:ext cx="11064240" cy="576072"/>
          </a:xfrm>
          <a:prstGeom prst="roundRect">
            <a:avLst>
              <a:gd name="adj" fmla="val 6000"/>
            </a:avLst>
          </a:prstGeom>
          <a:solidFill>
            <a:srgbClr val="FBF3EA"/>
          </a:solidFill>
          <a:ln w="9525">
            <a:solidFill>
              <a:srgbClr val="D8E2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ectangle 23"/>
          <p:cNvSpPr/>
          <p:nvPr/>
        </p:nvSpPr>
        <p:spPr>
          <a:xfrm>
            <a:off x="566928" y="3035808"/>
            <a:ext cx="50292" cy="576072"/>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822960" y="3209544"/>
            <a:ext cx="457200" cy="237744"/>
          </a:xfrm>
          <a:prstGeom prst="rect">
            <a:avLst/>
          </a:prstGeom>
          <a:noFill/>
        </p:spPr>
        <p:txBody>
          <a:bodyPr wrap="square" lIns="0" tIns="0" rIns="0" bIns="0" anchor="t">
            <a:spAutoFit/>
          </a:bodyPr>
          <a:lstStyle/>
          <a:p>
            <a:pPr algn="l">
              <a:lnSpc>
                <a:spcPct val="100000"/>
              </a:lnSpc>
            </a:pPr>
            <a:r>
              <a:rPr sz="1300" b="1" i="0">
                <a:solidFill>
                  <a:srgbClr val="D9822B"/>
                </a:solidFill>
                <a:latin typeface="Consolas"/>
              </a:rPr>
              <a:t>3</a:t>
            </a:r>
          </a:p>
        </p:txBody>
      </p:sp>
      <p:sp>
        <p:nvSpPr>
          <p:cNvPr id="26" name="TextBox 25"/>
          <p:cNvSpPr txBox="1"/>
          <p:nvPr/>
        </p:nvSpPr>
        <p:spPr>
          <a:xfrm>
            <a:off x="1325880" y="3209544"/>
            <a:ext cx="1828800" cy="237744"/>
          </a:xfrm>
          <a:prstGeom prst="rect">
            <a:avLst/>
          </a:prstGeom>
          <a:noFill/>
        </p:spPr>
        <p:txBody>
          <a:bodyPr wrap="square" lIns="0" tIns="0" rIns="0" bIns="0" anchor="t">
            <a:spAutoFit/>
          </a:bodyPr>
          <a:lstStyle/>
          <a:p>
            <a:pPr algn="l">
              <a:lnSpc>
                <a:spcPct val="100000"/>
              </a:lnSpc>
            </a:pPr>
            <a:r>
              <a:rPr sz="1300" b="1" i="0">
                <a:solidFill>
                  <a:srgbClr val="12283D"/>
                </a:solidFill>
                <a:latin typeface="Calibri"/>
              </a:rPr>
              <a:t>Route allow-list</a:t>
            </a:r>
          </a:p>
        </p:txBody>
      </p:sp>
      <p:sp>
        <p:nvSpPr>
          <p:cNvPr id="28" name="TextBox 27"/>
          <p:cNvSpPr txBox="1"/>
          <p:nvPr/>
        </p:nvSpPr>
        <p:spPr>
          <a:xfrm>
            <a:off x="3200400" y="3209544"/>
            <a:ext cx="5257800" cy="200055"/>
          </a:xfrm>
          <a:prstGeom prst="rect">
            <a:avLst/>
          </a:prstGeom>
          <a:noFill/>
        </p:spPr>
        <p:txBody>
          <a:bodyPr wrap="square" lIns="0" tIns="0" rIns="0" bIns="0" anchor="t">
            <a:spAutoFit/>
          </a:bodyPr>
          <a:lstStyle/>
          <a:p>
            <a:pPr algn="l">
              <a:lnSpc>
                <a:spcPct val="100000"/>
              </a:lnSpc>
            </a:pPr>
            <a:r>
              <a:rPr sz="1300" b="0" i="0">
                <a:solidFill>
                  <a:srgbClr val="12283D"/>
                </a:solidFill>
                <a:latin typeface="Calibri"/>
              </a:rPr>
              <a:t>Outbound is read-only — no write verbs</a:t>
            </a:r>
          </a:p>
        </p:txBody>
      </p:sp>
      <p:sp>
        <p:nvSpPr>
          <p:cNvPr id="29" name="TextBox 28"/>
          <p:cNvSpPr txBox="1"/>
          <p:nvPr/>
        </p:nvSpPr>
        <p:spPr>
          <a:xfrm>
            <a:off x="8595360" y="3209544"/>
            <a:ext cx="2926080" cy="192360"/>
          </a:xfrm>
          <a:prstGeom prst="rect">
            <a:avLst/>
          </a:prstGeom>
          <a:noFill/>
        </p:spPr>
        <p:txBody>
          <a:bodyPr wrap="square" lIns="0" tIns="0" rIns="0" bIns="0" anchor="t">
            <a:spAutoFit/>
          </a:bodyPr>
          <a:lstStyle/>
          <a:p>
            <a:pPr algn="r">
              <a:lnSpc>
                <a:spcPct val="100000"/>
              </a:lnSpc>
            </a:pPr>
            <a:r>
              <a:rPr sz="1250" b="1" i="0">
                <a:solidFill>
                  <a:srgbClr val="D9822B"/>
                </a:solidFill>
                <a:latin typeface="Calibri"/>
              </a:rPr>
              <a:t>403 · any write verb</a:t>
            </a:r>
          </a:p>
        </p:txBody>
      </p:sp>
      <p:sp>
        <p:nvSpPr>
          <p:cNvPr id="30" name="Rounded Rectangle 29"/>
          <p:cNvSpPr/>
          <p:nvPr/>
        </p:nvSpPr>
        <p:spPr>
          <a:xfrm>
            <a:off x="566928" y="3675888"/>
            <a:ext cx="11064240" cy="576072"/>
          </a:xfrm>
          <a:prstGeom prst="roundRect">
            <a:avLst>
              <a:gd name="adj" fmla="val 6000"/>
            </a:avLst>
          </a:prstGeom>
          <a:solidFill>
            <a:srgbClr val="FBF3EA"/>
          </a:solidFill>
          <a:ln w="9525">
            <a:solidFill>
              <a:srgbClr val="D8E2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ectangle 30"/>
          <p:cNvSpPr/>
          <p:nvPr/>
        </p:nvSpPr>
        <p:spPr>
          <a:xfrm>
            <a:off x="566928" y="3675888"/>
            <a:ext cx="50292" cy="576072"/>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822960" y="3849624"/>
            <a:ext cx="457200" cy="237744"/>
          </a:xfrm>
          <a:prstGeom prst="rect">
            <a:avLst/>
          </a:prstGeom>
          <a:noFill/>
        </p:spPr>
        <p:txBody>
          <a:bodyPr wrap="square" lIns="0" tIns="0" rIns="0" bIns="0" anchor="t">
            <a:spAutoFit/>
          </a:bodyPr>
          <a:lstStyle/>
          <a:p>
            <a:pPr algn="l">
              <a:lnSpc>
                <a:spcPct val="100000"/>
              </a:lnSpc>
            </a:pPr>
            <a:r>
              <a:rPr sz="1300" b="1" i="0">
                <a:solidFill>
                  <a:srgbClr val="D9822B"/>
                </a:solidFill>
                <a:latin typeface="Consolas"/>
              </a:rPr>
              <a:t>4a</a:t>
            </a:r>
          </a:p>
        </p:txBody>
      </p:sp>
      <p:sp>
        <p:nvSpPr>
          <p:cNvPr id="33" name="TextBox 32"/>
          <p:cNvSpPr txBox="1"/>
          <p:nvPr/>
        </p:nvSpPr>
        <p:spPr>
          <a:xfrm>
            <a:off x="1325880" y="3849624"/>
            <a:ext cx="1828800" cy="237744"/>
          </a:xfrm>
          <a:prstGeom prst="rect">
            <a:avLst/>
          </a:prstGeom>
          <a:noFill/>
        </p:spPr>
        <p:txBody>
          <a:bodyPr wrap="square" lIns="0" tIns="0" rIns="0" bIns="0" anchor="t">
            <a:spAutoFit/>
          </a:bodyPr>
          <a:lstStyle/>
          <a:p>
            <a:pPr algn="l">
              <a:lnSpc>
                <a:spcPct val="100000"/>
              </a:lnSpc>
            </a:pPr>
            <a:r>
              <a:rPr sz="1300" b="1" i="0">
                <a:solidFill>
                  <a:srgbClr val="12283D"/>
                </a:solidFill>
                <a:latin typeface="Calibri"/>
              </a:rPr>
              <a:t>Group scoping</a:t>
            </a:r>
          </a:p>
        </p:txBody>
      </p:sp>
      <p:sp>
        <p:nvSpPr>
          <p:cNvPr id="35" name="TextBox 34"/>
          <p:cNvSpPr txBox="1"/>
          <p:nvPr/>
        </p:nvSpPr>
        <p:spPr>
          <a:xfrm>
            <a:off x="3200400" y="3849624"/>
            <a:ext cx="5257800" cy="200055"/>
          </a:xfrm>
          <a:prstGeom prst="rect">
            <a:avLst/>
          </a:prstGeom>
          <a:noFill/>
        </p:spPr>
        <p:txBody>
          <a:bodyPr wrap="square" lIns="0" tIns="0" rIns="0" bIns="0" anchor="t">
            <a:spAutoFit/>
          </a:bodyPr>
          <a:lstStyle/>
          <a:p>
            <a:pPr algn="l">
              <a:lnSpc>
                <a:spcPct val="100000"/>
              </a:lnSpc>
            </a:pPr>
            <a:r>
              <a:rPr sz="1300" b="0" i="0">
                <a:solidFill>
                  <a:srgbClr val="12283D"/>
                </a:solidFill>
                <a:latin typeface="Calibri"/>
              </a:rPr>
              <a:t>$export must name a Group in your contract</a:t>
            </a:r>
          </a:p>
        </p:txBody>
      </p:sp>
      <p:sp>
        <p:nvSpPr>
          <p:cNvPr id="36" name="TextBox 35"/>
          <p:cNvSpPr txBox="1"/>
          <p:nvPr/>
        </p:nvSpPr>
        <p:spPr>
          <a:xfrm>
            <a:off x="8595360" y="3849624"/>
            <a:ext cx="2926080" cy="192360"/>
          </a:xfrm>
          <a:prstGeom prst="rect">
            <a:avLst/>
          </a:prstGeom>
          <a:noFill/>
        </p:spPr>
        <p:txBody>
          <a:bodyPr wrap="square" lIns="0" tIns="0" rIns="0" bIns="0" anchor="t">
            <a:spAutoFit/>
          </a:bodyPr>
          <a:lstStyle/>
          <a:p>
            <a:pPr algn="r">
              <a:lnSpc>
                <a:spcPct val="100000"/>
              </a:lnSpc>
            </a:pPr>
            <a:r>
              <a:rPr sz="1250" b="1" i="0">
                <a:solidFill>
                  <a:srgbClr val="D9822B"/>
                </a:solidFill>
                <a:latin typeface="Calibri"/>
              </a:rPr>
              <a:t>403 · system / patient</a:t>
            </a:r>
          </a:p>
        </p:txBody>
      </p:sp>
      <p:sp>
        <p:nvSpPr>
          <p:cNvPr id="37" name="Rounded Rectangle 36"/>
          <p:cNvSpPr/>
          <p:nvPr/>
        </p:nvSpPr>
        <p:spPr>
          <a:xfrm>
            <a:off x="566928" y="4315968"/>
            <a:ext cx="11064240" cy="576072"/>
          </a:xfrm>
          <a:prstGeom prst="roundRect">
            <a:avLst>
              <a:gd name="adj" fmla="val 6000"/>
            </a:avLst>
          </a:prstGeom>
          <a:solidFill>
            <a:srgbClr val="FBF3EA"/>
          </a:solidFill>
          <a:ln w="9525">
            <a:solidFill>
              <a:srgbClr val="D8E2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Rectangle 37"/>
          <p:cNvSpPr/>
          <p:nvPr/>
        </p:nvSpPr>
        <p:spPr>
          <a:xfrm>
            <a:off x="566928" y="4315968"/>
            <a:ext cx="50292" cy="576072"/>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822960" y="4489704"/>
            <a:ext cx="457200" cy="237744"/>
          </a:xfrm>
          <a:prstGeom prst="rect">
            <a:avLst/>
          </a:prstGeom>
          <a:noFill/>
        </p:spPr>
        <p:txBody>
          <a:bodyPr wrap="square" lIns="0" tIns="0" rIns="0" bIns="0" anchor="t">
            <a:spAutoFit/>
          </a:bodyPr>
          <a:lstStyle/>
          <a:p>
            <a:pPr algn="l">
              <a:lnSpc>
                <a:spcPct val="100000"/>
              </a:lnSpc>
            </a:pPr>
            <a:r>
              <a:rPr sz="1300" b="1" i="0">
                <a:solidFill>
                  <a:srgbClr val="D9822B"/>
                </a:solidFill>
                <a:latin typeface="Consolas"/>
              </a:rPr>
              <a:t>4b</a:t>
            </a:r>
          </a:p>
        </p:txBody>
      </p:sp>
      <p:sp>
        <p:nvSpPr>
          <p:cNvPr id="40" name="TextBox 39"/>
          <p:cNvSpPr txBox="1"/>
          <p:nvPr/>
        </p:nvSpPr>
        <p:spPr>
          <a:xfrm>
            <a:off x="1325880" y="4489704"/>
            <a:ext cx="1828800" cy="237744"/>
          </a:xfrm>
          <a:prstGeom prst="rect">
            <a:avLst/>
          </a:prstGeom>
          <a:noFill/>
        </p:spPr>
        <p:txBody>
          <a:bodyPr wrap="square" lIns="0" tIns="0" rIns="0" bIns="0" anchor="t">
            <a:spAutoFit/>
          </a:bodyPr>
          <a:lstStyle/>
          <a:p>
            <a:pPr algn="l">
              <a:lnSpc>
                <a:spcPct val="100000"/>
              </a:lnSpc>
            </a:pPr>
            <a:r>
              <a:rPr sz="1300" b="1" i="0">
                <a:solidFill>
                  <a:srgbClr val="12283D"/>
                </a:solidFill>
                <a:latin typeface="Calibri"/>
              </a:rPr>
              <a:t>Tag injection</a:t>
            </a:r>
          </a:p>
        </p:txBody>
      </p:sp>
      <p:sp>
        <p:nvSpPr>
          <p:cNvPr id="42" name="TextBox 41"/>
          <p:cNvSpPr txBox="1"/>
          <p:nvPr/>
        </p:nvSpPr>
        <p:spPr>
          <a:xfrm>
            <a:off x="3200400" y="4489704"/>
            <a:ext cx="5257800" cy="200055"/>
          </a:xfrm>
          <a:prstGeom prst="rect">
            <a:avLst/>
          </a:prstGeom>
          <a:noFill/>
        </p:spPr>
        <p:txBody>
          <a:bodyPr wrap="square" lIns="0" tIns="0" rIns="0" bIns="0" anchor="t">
            <a:spAutoFit/>
          </a:bodyPr>
          <a:lstStyle/>
          <a:p>
            <a:pPr algn="l">
              <a:lnSpc>
                <a:spcPct val="100000"/>
              </a:lnSpc>
            </a:pPr>
            <a:r>
              <a:rPr sz="1300" b="0" i="0">
                <a:solidFill>
                  <a:srgbClr val="12283D"/>
                </a:solidFill>
                <a:latin typeface="Calibri"/>
              </a:rPr>
              <a:t>_tag overwritten with caller's contracts — never merged</a:t>
            </a:r>
          </a:p>
        </p:txBody>
      </p:sp>
      <p:sp>
        <p:nvSpPr>
          <p:cNvPr id="43" name="TextBox 42"/>
          <p:cNvSpPr txBox="1"/>
          <p:nvPr/>
        </p:nvSpPr>
        <p:spPr>
          <a:xfrm>
            <a:off x="8595360" y="4489704"/>
            <a:ext cx="2926080" cy="192360"/>
          </a:xfrm>
          <a:prstGeom prst="rect">
            <a:avLst/>
          </a:prstGeom>
          <a:noFill/>
        </p:spPr>
        <p:txBody>
          <a:bodyPr wrap="square" lIns="0" tIns="0" rIns="0" bIns="0" anchor="t">
            <a:spAutoFit/>
          </a:bodyPr>
          <a:lstStyle/>
          <a:p>
            <a:pPr algn="r">
              <a:lnSpc>
                <a:spcPct val="100000"/>
              </a:lnSpc>
            </a:pPr>
            <a:r>
              <a:rPr sz="1250" b="1" i="0">
                <a:solidFill>
                  <a:srgbClr val="D9822B"/>
                </a:solidFill>
                <a:latin typeface="Calibri"/>
              </a:rPr>
              <a:t>Scope cannot widen</a:t>
            </a:r>
          </a:p>
        </p:txBody>
      </p:sp>
      <p:sp>
        <p:nvSpPr>
          <p:cNvPr id="44" name="Rounded Rectangle 43"/>
          <p:cNvSpPr/>
          <p:nvPr/>
        </p:nvSpPr>
        <p:spPr>
          <a:xfrm>
            <a:off x="566928" y="4956048"/>
            <a:ext cx="11064240" cy="576072"/>
          </a:xfrm>
          <a:prstGeom prst="roundRect">
            <a:avLst>
              <a:gd name="adj" fmla="val 6000"/>
            </a:avLst>
          </a:prstGeom>
          <a:solidFill>
            <a:srgbClr val="F7EBEA"/>
          </a:solidFill>
          <a:ln w="9525">
            <a:solidFill>
              <a:srgbClr val="D8E2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Rectangle 44"/>
          <p:cNvSpPr/>
          <p:nvPr/>
        </p:nvSpPr>
        <p:spPr>
          <a:xfrm>
            <a:off x="566928" y="4956048"/>
            <a:ext cx="50292" cy="576072"/>
          </a:xfrm>
          <a:prstGeom prst="rect">
            <a:avLst/>
          </a:prstGeom>
          <a:solidFill>
            <a:srgbClr val="B03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p:cNvSpPr txBox="1"/>
          <p:nvPr/>
        </p:nvSpPr>
        <p:spPr>
          <a:xfrm>
            <a:off x="822960" y="5129784"/>
            <a:ext cx="457200" cy="237744"/>
          </a:xfrm>
          <a:prstGeom prst="rect">
            <a:avLst/>
          </a:prstGeom>
          <a:noFill/>
        </p:spPr>
        <p:txBody>
          <a:bodyPr wrap="square" lIns="0" tIns="0" rIns="0" bIns="0" anchor="t">
            <a:spAutoFit/>
          </a:bodyPr>
          <a:lstStyle/>
          <a:p>
            <a:pPr algn="l">
              <a:lnSpc>
                <a:spcPct val="100000"/>
              </a:lnSpc>
            </a:pPr>
            <a:r>
              <a:rPr sz="1300" b="1" i="0">
                <a:solidFill>
                  <a:srgbClr val="B03A2B"/>
                </a:solidFill>
                <a:latin typeface="Consolas"/>
              </a:rPr>
              <a:t>5</a:t>
            </a:r>
          </a:p>
        </p:txBody>
      </p:sp>
      <p:sp>
        <p:nvSpPr>
          <p:cNvPr id="47" name="TextBox 46"/>
          <p:cNvSpPr txBox="1"/>
          <p:nvPr/>
        </p:nvSpPr>
        <p:spPr>
          <a:xfrm>
            <a:off x="1325880" y="5129784"/>
            <a:ext cx="1828800" cy="237744"/>
          </a:xfrm>
          <a:prstGeom prst="rect">
            <a:avLst/>
          </a:prstGeom>
          <a:noFill/>
        </p:spPr>
        <p:txBody>
          <a:bodyPr wrap="square" lIns="0" tIns="0" rIns="0" bIns="0" anchor="t">
            <a:spAutoFit/>
          </a:bodyPr>
          <a:lstStyle/>
          <a:p>
            <a:pPr algn="l">
              <a:lnSpc>
                <a:spcPct val="100000"/>
              </a:lnSpc>
            </a:pPr>
            <a:r>
              <a:rPr sz="1300" b="1" i="0">
                <a:solidFill>
                  <a:srgbClr val="12283D"/>
                </a:solidFill>
                <a:latin typeface="Calibri"/>
              </a:rPr>
              <a:t>Rate + lock</a:t>
            </a:r>
          </a:p>
        </p:txBody>
      </p:sp>
      <p:sp>
        <p:nvSpPr>
          <p:cNvPr id="49" name="TextBox 48"/>
          <p:cNvSpPr txBox="1"/>
          <p:nvPr/>
        </p:nvSpPr>
        <p:spPr>
          <a:xfrm>
            <a:off x="3200400" y="5129784"/>
            <a:ext cx="5257800" cy="200055"/>
          </a:xfrm>
          <a:prstGeom prst="rect">
            <a:avLst/>
          </a:prstGeom>
          <a:noFill/>
        </p:spPr>
        <p:txBody>
          <a:bodyPr wrap="square" lIns="0" tIns="0" rIns="0" bIns="0" anchor="t">
            <a:spAutoFit/>
          </a:bodyPr>
          <a:lstStyle/>
          <a:p>
            <a:pPr algn="l">
              <a:lnSpc>
                <a:spcPct val="100000"/>
              </a:lnSpc>
            </a:pPr>
            <a:r>
              <a:rPr sz="1300" b="0" i="0">
                <a:solidFill>
                  <a:srgbClr val="12283D"/>
                </a:solidFill>
                <a:latin typeface="Calibri"/>
              </a:rPr>
              <a:t>600/min · 50k/day · 1 bulk export / 5 min</a:t>
            </a:r>
          </a:p>
        </p:txBody>
      </p:sp>
      <p:sp>
        <p:nvSpPr>
          <p:cNvPr id="50" name="TextBox 49"/>
          <p:cNvSpPr txBox="1"/>
          <p:nvPr/>
        </p:nvSpPr>
        <p:spPr>
          <a:xfrm>
            <a:off x="8595360" y="5129784"/>
            <a:ext cx="2926080" cy="192360"/>
          </a:xfrm>
          <a:prstGeom prst="rect">
            <a:avLst/>
          </a:prstGeom>
          <a:noFill/>
        </p:spPr>
        <p:txBody>
          <a:bodyPr wrap="square" lIns="0" tIns="0" rIns="0" bIns="0" anchor="t">
            <a:spAutoFit/>
          </a:bodyPr>
          <a:lstStyle/>
          <a:p>
            <a:pPr algn="r">
              <a:lnSpc>
                <a:spcPct val="100000"/>
              </a:lnSpc>
            </a:pPr>
            <a:r>
              <a:rPr sz="1250" b="1" i="0">
                <a:solidFill>
                  <a:srgbClr val="B03A2B"/>
                </a:solidFill>
                <a:latin typeface="Calibri"/>
              </a:rPr>
              <a:t>429 · second export</a:t>
            </a:r>
          </a:p>
        </p:txBody>
      </p:sp>
      <p:sp>
        <p:nvSpPr>
          <p:cNvPr id="51" name="Rounded Rectangle 50"/>
          <p:cNvSpPr/>
          <p:nvPr/>
        </p:nvSpPr>
        <p:spPr>
          <a:xfrm>
            <a:off x="566928" y="5596128"/>
            <a:ext cx="11064240" cy="576072"/>
          </a:xfrm>
          <a:prstGeom prst="roundRect">
            <a:avLst>
              <a:gd name="adj" fmla="val 6000"/>
            </a:avLst>
          </a:prstGeom>
          <a:solidFill>
            <a:srgbClr val="EAF3EE"/>
          </a:solidFill>
          <a:ln w="9525">
            <a:solidFill>
              <a:srgbClr val="D8E2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Rectangle 51"/>
          <p:cNvSpPr/>
          <p:nvPr/>
        </p:nvSpPr>
        <p:spPr>
          <a:xfrm>
            <a:off x="566928" y="5596128"/>
            <a:ext cx="50292" cy="576072"/>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TextBox 52"/>
          <p:cNvSpPr txBox="1"/>
          <p:nvPr/>
        </p:nvSpPr>
        <p:spPr>
          <a:xfrm>
            <a:off x="822960" y="5769864"/>
            <a:ext cx="457200" cy="237744"/>
          </a:xfrm>
          <a:prstGeom prst="rect">
            <a:avLst/>
          </a:prstGeom>
          <a:noFill/>
        </p:spPr>
        <p:txBody>
          <a:bodyPr wrap="square" lIns="0" tIns="0" rIns="0" bIns="0" anchor="t">
            <a:spAutoFit/>
          </a:bodyPr>
          <a:lstStyle/>
          <a:p>
            <a:pPr algn="l">
              <a:lnSpc>
                <a:spcPct val="100000"/>
              </a:lnSpc>
            </a:pPr>
            <a:r>
              <a:rPr sz="1300" b="1" i="0">
                <a:solidFill>
                  <a:srgbClr val="2E8B57"/>
                </a:solidFill>
                <a:latin typeface="Consolas"/>
              </a:rPr>
              <a:t>6</a:t>
            </a:r>
          </a:p>
        </p:txBody>
      </p:sp>
      <p:sp>
        <p:nvSpPr>
          <p:cNvPr id="54" name="TextBox 53"/>
          <p:cNvSpPr txBox="1"/>
          <p:nvPr/>
        </p:nvSpPr>
        <p:spPr>
          <a:xfrm>
            <a:off x="1325880" y="5769864"/>
            <a:ext cx="1828800" cy="237744"/>
          </a:xfrm>
          <a:prstGeom prst="rect">
            <a:avLst/>
          </a:prstGeom>
          <a:noFill/>
        </p:spPr>
        <p:txBody>
          <a:bodyPr wrap="square" lIns="0" tIns="0" rIns="0" bIns="0" anchor="t">
            <a:spAutoFit/>
          </a:bodyPr>
          <a:lstStyle/>
          <a:p>
            <a:pPr algn="l">
              <a:lnSpc>
                <a:spcPct val="100000"/>
              </a:lnSpc>
            </a:pPr>
            <a:r>
              <a:rPr sz="1300" b="1" i="0">
                <a:solidFill>
                  <a:srgbClr val="12283D"/>
                </a:solidFill>
                <a:latin typeface="Calibri"/>
              </a:rPr>
              <a:t>Trusted broker</a:t>
            </a:r>
          </a:p>
        </p:txBody>
      </p:sp>
      <p:sp>
        <p:nvSpPr>
          <p:cNvPr id="56" name="TextBox 55"/>
          <p:cNvSpPr txBox="1"/>
          <p:nvPr/>
        </p:nvSpPr>
        <p:spPr>
          <a:xfrm>
            <a:off x="3200400" y="5769864"/>
            <a:ext cx="5257800" cy="200055"/>
          </a:xfrm>
          <a:prstGeom prst="rect">
            <a:avLst/>
          </a:prstGeom>
          <a:noFill/>
        </p:spPr>
        <p:txBody>
          <a:bodyPr wrap="square" lIns="0" tIns="0" rIns="0" bIns="0" anchor="t">
            <a:spAutoFit/>
          </a:bodyPr>
          <a:lstStyle/>
          <a:p>
            <a:pPr algn="l">
              <a:lnSpc>
                <a:spcPct val="100000"/>
              </a:lnSpc>
            </a:pPr>
            <a:r>
              <a:rPr sz="1300" b="0" i="0">
                <a:solidFill>
                  <a:srgbClr val="12283D"/>
                </a:solidFill>
                <a:latin typeface="Calibri"/>
              </a:rPr>
              <a:t>Managed identity token; payer token discarded</a:t>
            </a:r>
          </a:p>
        </p:txBody>
      </p:sp>
      <p:sp>
        <p:nvSpPr>
          <p:cNvPr id="57" name="TextBox 56"/>
          <p:cNvSpPr txBox="1"/>
          <p:nvPr/>
        </p:nvSpPr>
        <p:spPr>
          <a:xfrm>
            <a:off x="8595360" y="5769864"/>
            <a:ext cx="2926080" cy="192360"/>
          </a:xfrm>
          <a:prstGeom prst="rect">
            <a:avLst/>
          </a:prstGeom>
          <a:noFill/>
        </p:spPr>
        <p:txBody>
          <a:bodyPr wrap="square" lIns="0" tIns="0" rIns="0" bIns="0" anchor="t">
            <a:spAutoFit/>
          </a:bodyPr>
          <a:lstStyle/>
          <a:p>
            <a:pPr algn="r">
              <a:lnSpc>
                <a:spcPct val="100000"/>
              </a:lnSpc>
            </a:pPr>
            <a:r>
              <a:rPr sz="1250" b="1" i="0">
                <a:solidFill>
                  <a:srgbClr val="2E8B57"/>
                </a:solidFill>
                <a:latin typeface="Calibri"/>
              </a:rPr>
              <a:t>Payer never reaches FHIR</a:t>
            </a:r>
          </a:p>
        </p:txBody>
      </p:sp>
    </p:spTree>
    <p:extLst>
      <p:ext uri="{BB962C8B-B14F-4D97-AF65-F5344CB8AC3E}">
        <p14:creationId xmlns:p14="http://schemas.microsoft.com/office/powerpoint/2010/main" val="13921608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8FA"/>
        </a:solidFill>
        <a:effectLst/>
      </p:bgPr>
    </p:bg>
    <p:spTree>
      <p:nvGrpSpPr>
        <p:cNvPr id="1" name=""/>
        <p:cNvGrpSpPr/>
        <p:nvPr/>
      </p:nvGrpSpPr>
      <p:grpSpPr>
        <a:xfrm>
          <a:off x="0" y="0"/>
          <a:ext cx="0" cy="0"/>
          <a:chOff x="0" y="0"/>
          <a:chExt cx="0" cy="0"/>
        </a:xfrm>
      </p:grpSpPr>
      <p:sp>
        <p:nvSpPr>
          <p:cNvPr id="2" name="Rectangle 1"/>
          <p:cNvSpPr/>
          <p:nvPr/>
        </p:nvSpPr>
        <p:spPr>
          <a:xfrm>
            <a:off x="566928" y="420624"/>
            <a:ext cx="68580" cy="65836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701040" y="542059"/>
            <a:ext cx="10789920" cy="415498"/>
          </a:xfrm>
          <a:prstGeom prst="rect">
            <a:avLst/>
          </a:prstGeom>
          <a:noFill/>
        </p:spPr>
        <p:txBody>
          <a:bodyPr wrap="square" lIns="0" tIns="0" rIns="0" bIns="0" anchor="t">
            <a:spAutoFit/>
          </a:bodyPr>
          <a:lstStyle/>
          <a:p>
            <a:pPr algn="l">
              <a:lnSpc>
                <a:spcPct val="100000"/>
              </a:lnSpc>
            </a:pPr>
            <a:r>
              <a:rPr lang="en-US" sz="2700" b="1" i="0" dirty="0">
                <a:solidFill>
                  <a:srgbClr val="12283D"/>
                </a:solidFill>
                <a:latin typeface="Cambria"/>
              </a:rPr>
              <a:t>Tracing and Debugging</a:t>
            </a:r>
            <a:endParaRPr sz="2700" b="1" i="0" dirty="0">
              <a:solidFill>
                <a:srgbClr val="12283D"/>
              </a:solidFill>
              <a:latin typeface="Cambria"/>
            </a:endParaRPr>
          </a:p>
        </p:txBody>
      </p:sp>
      <p:sp>
        <p:nvSpPr>
          <p:cNvPr id="5" name="Rectangle 4"/>
          <p:cNvSpPr/>
          <p:nvPr/>
        </p:nvSpPr>
        <p:spPr>
          <a:xfrm>
            <a:off x="498348" y="5990607"/>
            <a:ext cx="11064240" cy="12801"/>
          </a:xfrm>
          <a:prstGeom prst="rect">
            <a:avLst/>
          </a:prstGeom>
          <a:solidFill>
            <a:srgbClr val="D8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9989820" y="6072903"/>
            <a:ext cx="1572768" cy="219456"/>
          </a:xfrm>
          <a:prstGeom prst="rect">
            <a:avLst/>
          </a:prstGeom>
          <a:noFill/>
        </p:spPr>
        <p:txBody>
          <a:bodyPr wrap="square" lIns="0" tIns="0" rIns="0" bIns="0" anchor="t">
            <a:spAutoFit/>
          </a:bodyPr>
          <a:lstStyle/>
          <a:p>
            <a:pPr algn="r">
              <a:lnSpc>
                <a:spcPct val="100000"/>
              </a:lnSpc>
            </a:pPr>
            <a:r>
              <a:rPr sz="900" b="0" i="0">
                <a:solidFill>
                  <a:srgbClr val="5A6B7B"/>
                </a:solidFill>
                <a:latin typeface="Calibri"/>
              </a:rPr>
              <a:t>16</a:t>
            </a:r>
          </a:p>
        </p:txBody>
      </p:sp>
      <p:sp>
        <p:nvSpPr>
          <p:cNvPr id="8" name="Rounded Rectangle 7"/>
          <p:cNvSpPr/>
          <p:nvPr/>
        </p:nvSpPr>
        <p:spPr>
          <a:xfrm>
            <a:off x="566928" y="1744936"/>
            <a:ext cx="5440680" cy="1965960"/>
          </a:xfrm>
          <a:prstGeom prst="roundRect">
            <a:avLst>
              <a:gd name="adj" fmla="val 6000"/>
            </a:avLst>
          </a:prstGeom>
          <a:solidFill>
            <a:srgbClr val="FFFFFF"/>
          </a:solidFill>
          <a:ln w="9525">
            <a:solidFill>
              <a:srgbClr val="D8E2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841248" y="1909528"/>
            <a:ext cx="4937760" cy="176972"/>
          </a:xfrm>
          <a:prstGeom prst="rect">
            <a:avLst/>
          </a:prstGeom>
          <a:noFill/>
        </p:spPr>
        <p:txBody>
          <a:bodyPr wrap="square" lIns="0" tIns="0" rIns="0" bIns="0" anchor="t">
            <a:spAutoFit/>
          </a:bodyPr>
          <a:lstStyle/>
          <a:p>
            <a:pPr algn="l">
              <a:lnSpc>
                <a:spcPct val="100000"/>
              </a:lnSpc>
            </a:pPr>
            <a:r>
              <a:rPr sz="1150" b="1" i="0" dirty="0">
                <a:solidFill>
                  <a:srgbClr val="1C7293"/>
                </a:solidFill>
                <a:latin typeface="Calibri"/>
              </a:rPr>
              <a:t>TURN IT ON</a:t>
            </a:r>
          </a:p>
        </p:txBody>
      </p:sp>
      <p:sp>
        <p:nvSpPr>
          <p:cNvPr id="10" name="TextBox 9"/>
          <p:cNvSpPr txBox="1"/>
          <p:nvPr/>
        </p:nvSpPr>
        <p:spPr>
          <a:xfrm>
            <a:off x="841248" y="2220424"/>
            <a:ext cx="5029200" cy="980076"/>
          </a:xfrm>
          <a:prstGeom prst="rect">
            <a:avLst/>
          </a:prstGeom>
          <a:noFill/>
        </p:spPr>
        <p:txBody>
          <a:bodyPr wrap="square" lIns="0" tIns="0" rIns="0" bIns="0" anchor="t">
            <a:spAutoFit/>
          </a:bodyPr>
          <a:lstStyle/>
          <a:p>
            <a:pPr algn="l">
              <a:lnSpc>
                <a:spcPct val="130000"/>
              </a:lnSpc>
            </a:pPr>
            <a:r>
              <a:rPr lang="en-US" sz="1250" b="0" i="0" dirty="0">
                <a:solidFill>
                  <a:srgbClr val="5A6B7B"/>
                </a:solidFill>
                <a:latin typeface="Calibri"/>
              </a:rPr>
              <a:t>UI : </a:t>
            </a:r>
            <a:r>
              <a:rPr sz="1250" b="0" i="0" dirty="0">
                <a:solidFill>
                  <a:srgbClr val="5A6B7B"/>
                </a:solidFill>
                <a:latin typeface="Calibri"/>
              </a:rPr>
              <a:t>Portal → APIM → APIs → the operation → Test tab → Trace.
</a:t>
            </a:r>
            <a:r>
              <a:rPr lang="en-US" sz="1250" b="0" i="0" dirty="0">
                <a:solidFill>
                  <a:srgbClr val="5A6B7B"/>
                </a:solidFill>
                <a:latin typeface="Calibri"/>
              </a:rPr>
              <a:t>Code : </a:t>
            </a:r>
            <a:r>
              <a:rPr sz="1250" b="0" i="0" dirty="0">
                <a:solidFill>
                  <a:srgbClr val="5A6B7B"/>
                </a:solidFill>
                <a:latin typeface="Calibri"/>
              </a:rPr>
              <a:t>send the call yourself with an </a:t>
            </a:r>
            <a:r>
              <a:rPr sz="1250" b="0" i="0" dirty="0" err="1">
                <a:solidFill>
                  <a:srgbClr val="5A6B7B"/>
                </a:solidFill>
                <a:latin typeface="Calibri"/>
              </a:rPr>
              <a:t>Ocp</a:t>
            </a:r>
            <a:r>
              <a:rPr sz="1250" b="0" i="0" dirty="0">
                <a:solidFill>
                  <a:srgbClr val="5A6B7B"/>
                </a:solidFill>
                <a:latin typeface="Calibri"/>
              </a:rPr>
              <a:t>-</a:t>
            </a:r>
            <a:r>
              <a:rPr sz="1250" b="0" i="0" dirty="0" err="1">
                <a:solidFill>
                  <a:srgbClr val="5A6B7B"/>
                </a:solidFill>
                <a:latin typeface="Calibri"/>
              </a:rPr>
              <a:t>Apim</a:t>
            </a:r>
            <a:r>
              <a:rPr sz="1250" b="0" i="0" dirty="0">
                <a:solidFill>
                  <a:srgbClr val="5A6B7B"/>
                </a:solidFill>
                <a:latin typeface="Calibri"/>
              </a:rPr>
              <a:t>-Trace header and read the trace location returned in the response.</a:t>
            </a:r>
          </a:p>
        </p:txBody>
      </p:sp>
      <p:sp>
        <p:nvSpPr>
          <p:cNvPr id="11" name="Rounded Rectangle 10"/>
          <p:cNvSpPr/>
          <p:nvPr/>
        </p:nvSpPr>
        <p:spPr>
          <a:xfrm>
            <a:off x="6199632" y="1744936"/>
            <a:ext cx="5431536" cy="1965960"/>
          </a:xfrm>
          <a:prstGeom prst="roundRect">
            <a:avLst>
              <a:gd name="adj" fmla="val 6000"/>
            </a:avLst>
          </a:prstGeom>
          <a:solidFill>
            <a:srgbClr val="FDF3E3"/>
          </a:solidFill>
          <a:ln w="9525">
            <a:solidFill>
              <a:srgbClr val="D9822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473952" y="1909528"/>
            <a:ext cx="4937760" cy="176972"/>
          </a:xfrm>
          <a:prstGeom prst="rect">
            <a:avLst/>
          </a:prstGeom>
          <a:noFill/>
        </p:spPr>
        <p:txBody>
          <a:bodyPr wrap="square" lIns="0" tIns="0" rIns="0" bIns="0" anchor="t">
            <a:spAutoFit/>
          </a:bodyPr>
          <a:lstStyle/>
          <a:p>
            <a:pPr algn="l">
              <a:lnSpc>
                <a:spcPct val="100000"/>
              </a:lnSpc>
            </a:pPr>
            <a:r>
              <a:rPr sz="1150" b="1" i="0" dirty="0">
                <a:solidFill>
                  <a:srgbClr val="D9822B"/>
                </a:solidFill>
                <a:latin typeface="Calibri"/>
              </a:rPr>
              <a:t>OPERATION</a:t>
            </a:r>
          </a:p>
        </p:txBody>
      </p:sp>
      <p:sp>
        <p:nvSpPr>
          <p:cNvPr id="13" name="TextBox 12"/>
          <p:cNvSpPr txBox="1"/>
          <p:nvPr/>
        </p:nvSpPr>
        <p:spPr>
          <a:xfrm>
            <a:off x="6473952" y="2151182"/>
            <a:ext cx="5029200" cy="1480213"/>
          </a:xfrm>
          <a:prstGeom prst="rect">
            <a:avLst/>
          </a:prstGeom>
          <a:noFill/>
        </p:spPr>
        <p:txBody>
          <a:bodyPr wrap="square" lIns="0" tIns="0" rIns="0" bIns="0" anchor="t">
            <a:spAutoFit/>
          </a:bodyPr>
          <a:lstStyle/>
          <a:p>
            <a:pPr algn="l">
              <a:lnSpc>
                <a:spcPct val="130000"/>
              </a:lnSpc>
            </a:pPr>
            <a:r>
              <a:rPr sz="1250" b="0" i="0" dirty="0">
                <a:solidFill>
                  <a:srgbClr val="12283D"/>
                </a:solidFill>
                <a:latin typeface="Calibri"/>
              </a:rPr>
              <a:t>When a payer </a:t>
            </a:r>
            <a:r>
              <a:rPr lang="en-US" sz="1250" b="0" i="0" dirty="0">
                <a:solidFill>
                  <a:srgbClr val="12283D"/>
                </a:solidFill>
                <a:latin typeface="Calibri"/>
              </a:rPr>
              <a:t>says,</a:t>
            </a:r>
            <a:r>
              <a:rPr sz="1250" b="0" i="0" dirty="0">
                <a:solidFill>
                  <a:srgbClr val="12283D"/>
                </a:solidFill>
                <a:latin typeface="Calibri"/>
              </a:rPr>
              <a:t> “your API is broken”, this tells you in seconds whether you refused them, and at which layer — without turning on verbose logging or asking them to reproduce it.</a:t>
            </a:r>
          </a:p>
          <a:p>
            <a:pPr algn="l">
              <a:lnSpc>
                <a:spcPct val="130000"/>
              </a:lnSpc>
            </a:pPr>
            <a:endParaRPr sz="1250" b="0" i="0" dirty="0">
              <a:solidFill>
                <a:srgbClr val="12283D"/>
              </a:solidFill>
              <a:latin typeface="Calibri"/>
            </a:endParaRPr>
          </a:p>
          <a:p>
            <a:pPr algn="l">
              <a:lnSpc>
                <a:spcPct val="130000"/>
              </a:lnSpc>
            </a:pPr>
            <a:r>
              <a:rPr sz="1250" b="0" i="0" dirty="0">
                <a:solidFill>
                  <a:srgbClr val="12283D"/>
                </a:solidFill>
                <a:latin typeface="Calibri"/>
              </a:rPr>
              <a:t>Traces are on-demand and short-lived. The durable half is the FHIR service’s own audit log — it records the payer and contracts on every brokered call.</a:t>
            </a:r>
          </a:p>
        </p:txBody>
      </p:sp>
      <p:sp>
        <p:nvSpPr>
          <p:cNvPr id="14" name="TextBox 13"/>
          <p:cNvSpPr txBox="1"/>
          <p:nvPr/>
        </p:nvSpPr>
        <p:spPr>
          <a:xfrm>
            <a:off x="566928" y="3902920"/>
            <a:ext cx="11064240" cy="176972"/>
          </a:xfrm>
          <a:prstGeom prst="rect">
            <a:avLst/>
          </a:prstGeom>
          <a:noFill/>
        </p:spPr>
        <p:txBody>
          <a:bodyPr wrap="square" lIns="0" tIns="0" rIns="0" bIns="0" anchor="t">
            <a:spAutoFit/>
          </a:bodyPr>
          <a:lstStyle/>
          <a:p>
            <a:pPr algn="l">
              <a:lnSpc>
                <a:spcPct val="100000"/>
              </a:lnSpc>
            </a:pPr>
            <a:r>
              <a:rPr lang="en-US" sz="1150" b="1" i="0">
                <a:solidFill>
                  <a:srgbClr val="1C7293"/>
                </a:solidFill>
                <a:latin typeface="Calibri"/>
              </a:rPr>
              <a:t>WHAT THE TRACE SHOWS — Fabrikam's token pointed at Contoso's endpoint</a:t>
            </a:r>
            <a:endParaRPr sz="1150" b="1" i="0">
              <a:solidFill>
                <a:srgbClr val="1C7293"/>
              </a:solidFill>
              <a:latin typeface="Calibri"/>
            </a:endParaRPr>
          </a:p>
        </p:txBody>
      </p:sp>
      <p:sp>
        <p:nvSpPr>
          <p:cNvPr id="15" name="Rounded Rectangle 14"/>
          <p:cNvSpPr/>
          <p:nvPr/>
        </p:nvSpPr>
        <p:spPr>
          <a:xfrm>
            <a:off x="566928" y="4195528"/>
            <a:ext cx="11064240" cy="2103120"/>
          </a:xfrm>
          <a:prstGeom prst="roundRect">
            <a:avLst>
              <a:gd name="adj" fmla="val 4000"/>
            </a:avLst>
          </a:prstGeom>
          <a:solidFill>
            <a:srgbClr val="0B2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786384" y="4378408"/>
            <a:ext cx="10625328" cy="1584280"/>
          </a:xfrm>
          <a:prstGeom prst="rect">
            <a:avLst/>
          </a:prstGeom>
          <a:noFill/>
        </p:spPr>
        <p:txBody>
          <a:bodyPr wrap="square" lIns="0" tIns="0" rIns="0" bIns="0" anchor="t">
            <a:spAutoFit/>
          </a:bodyPr>
          <a:lstStyle/>
          <a:p>
            <a:pPr algn="l">
              <a:lnSpc>
                <a:spcPct val="118000"/>
              </a:lnSpc>
            </a:pPr>
            <a:r>
              <a:rPr lang="en-US" sz="1100" i="0">
                <a:solidFill>
                  <a:srgbClr val="4FA6C4"/>
                </a:solidFill>
                <a:latin typeface="Consolas" panose="020B0609020204030204" pitchFamily="49" charset="0"/>
              </a:rPr>
              <a:t>inbound</a:t>
            </a:r>
          </a:p>
          <a:p>
            <a:pPr algn="l">
              <a:lnSpc>
                <a:spcPct val="118000"/>
              </a:lnSpc>
            </a:pPr>
            <a:r>
              <a:rPr lang="en-US" sz="1100" i="0">
                <a:solidFill>
                  <a:srgbClr val="E8948A"/>
                </a:solidFill>
                <a:latin typeface="Consolas" panose="020B0609020204030204" pitchFamily="49" charset="0"/>
              </a:rPr>
              <a:t>  validate-jwt          FAILED — the token's audience is</a:t>
            </a:r>
          </a:p>
          <a:p>
            <a:pPr algn="l">
              <a:lnSpc>
                <a:spcPct val="118000"/>
              </a:lnSpc>
            </a:pPr>
            <a:r>
              <a:rPr lang="en-US" sz="1100" i="0">
                <a:solidFill>
                  <a:srgbClr val="E8948A"/>
                </a:solidFill>
                <a:latin typeface="Consolas" panose="020B0609020204030204" pitchFamily="49" charset="0"/>
              </a:rPr>
              <a:t>                        Fabrikam's FHIR service, this API</a:t>
            </a:r>
          </a:p>
          <a:p>
            <a:pPr algn="l">
              <a:lnSpc>
                <a:spcPct val="118000"/>
              </a:lnSpc>
            </a:pPr>
            <a:r>
              <a:rPr lang="en-US" sz="1100" i="0">
                <a:solidFill>
                  <a:srgbClr val="E8948A"/>
                </a:solidFill>
                <a:latin typeface="Consolas" panose="020B0609020204030204" pitchFamily="49" charset="0"/>
              </a:rPr>
              <a:t>                        accepts only Contoso's</a:t>
            </a:r>
          </a:p>
          <a:p>
            <a:pPr algn="l">
              <a:lnSpc>
                <a:spcPct val="118000"/>
              </a:lnSpc>
            </a:pPr>
            <a:r>
              <a:rPr lang="en-US" sz="1100" i="0">
                <a:solidFill>
                  <a:srgbClr val="E8948A"/>
                </a:solidFill>
                <a:latin typeface="Consolas" panose="020B0609020204030204" pitchFamily="49" charset="0"/>
              </a:rPr>
              <a:t>  return-response       401  OperationOutcome</a:t>
            </a:r>
          </a:p>
          <a:p>
            <a:pPr algn="l">
              <a:lnSpc>
                <a:spcPct val="118000"/>
              </a:lnSpc>
            </a:pPr>
            <a:r>
              <a:rPr lang="en-US" sz="1100" i="0">
                <a:solidFill>
                  <a:srgbClr val="CFE3EF"/>
                </a:solidFill>
                <a:latin typeface="Consolas" panose="020B0609020204030204" pitchFamily="49" charset="0"/>
              </a:rPr>
              <a:t>                        IDX10214  Audience validation failed</a:t>
            </a:r>
          </a:p>
          <a:p>
            <a:pPr algn="l">
              <a:lnSpc>
                <a:spcPct val="118000"/>
              </a:lnSpc>
            </a:pPr>
            <a:endParaRPr lang="en-US" sz="1100" i="0">
              <a:solidFill>
                <a:srgbClr val="CFE3EF"/>
              </a:solidFill>
              <a:latin typeface="Consolas" panose="020B0609020204030204" pitchFamily="49" charset="0"/>
            </a:endParaRPr>
          </a:p>
          <a:p>
            <a:pPr algn="l">
              <a:lnSpc>
                <a:spcPct val="118000"/>
              </a:lnSpc>
            </a:pPr>
            <a:r>
              <a:rPr lang="en-US" sz="1100" i="0">
                <a:solidFill>
                  <a:srgbClr val="9FB8CC"/>
                </a:solidFill>
                <a:latin typeface="Consolas" panose="020B0609020204030204" pitchFamily="49" charset="0"/>
              </a:rPr>
              <a:t>backend                 not executed — AHDS was never called</a:t>
            </a:r>
            <a:endParaRPr sz="1100" i="0" dirty="0">
              <a:solidFill>
                <a:srgbClr val="9FB8CC"/>
              </a:solidFill>
              <a:latin typeface="Consolas" panose="020B0609020204030204" pitchFamily="49" charset="0"/>
            </a:endParaRPr>
          </a:p>
        </p:txBody>
      </p:sp>
      <p:sp>
        <p:nvSpPr>
          <p:cNvPr id="17" name="TextBox 16">
            <a:extLst>
              <a:ext uri="{FF2B5EF4-FFF2-40B4-BE49-F238E27FC236}">
                <a16:creationId xmlns:a16="http://schemas.microsoft.com/office/drawing/2014/main" id="{505A88D7-A303-E72B-9D4A-4783BD73CDB8}"/>
              </a:ext>
            </a:extLst>
          </p:cNvPr>
          <p:cNvSpPr txBox="1"/>
          <p:nvPr/>
        </p:nvSpPr>
        <p:spPr>
          <a:xfrm>
            <a:off x="701040" y="1075262"/>
            <a:ext cx="10998708" cy="369332"/>
          </a:xfrm>
          <a:prstGeom prst="rect">
            <a:avLst/>
          </a:prstGeom>
          <a:noFill/>
        </p:spPr>
        <p:txBody>
          <a:bodyPr wrap="square">
            <a:spAutoFit/>
          </a:bodyPr>
          <a:lstStyle/>
          <a:p>
            <a:r>
              <a:rPr lang="en-US" sz="1800" b="0" i="0" dirty="0">
                <a:solidFill>
                  <a:schemeClr val="tx1"/>
                </a:solidFill>
                <a:effectLst/>
                <a:latin typeface="+mn-lt"/>
              </a:rPr>
              <a:t>APIM tracing is </a:t>
            </a:r>
            <a:r>
              <a:rPr lang="en-US" i="1" dirty="0"/>
              <a:t>per-request replay of every policy the gateway ran — opt-in, short-lived.</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8FA"/>
        </a:solidFill>
        <a:effectLst/>
      </p:bgPr>
    </p:bg>
    <p:spTree>
      <p:nvGrpSpPr>
        <p:cNvPr id="1" name=""/>
        <p:cNvGrpSpPr/>
        <p:nvPr/>
      </p:nvGrpSpPr>
      <p:grpSpPr>
        <a:xfrm>
          <a:off x="0" y="0"/>
          <a:ext cx="0" cy="0"/>
          <a:chOff x="0" y="0"/>
          <a:chExt cx="0" cy="0"/>
        </a:xfrm>
      </p:grpSpPr>
      <p:sp>
        <p:nvSpPr>
          <p:cNvPr id="2" name="Rectangle 1"/>
          <p:cNvSpPr/>
          <p:nvPr/>
        </p:nvSpPr>
        <p:spPr>
          <a:xfrm>
            <a:off x="566928" y="420624"/>
            <a:ext cx="68580" cy="65836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77240" y="420624"/>
            <a:ext cx="10789920" cy="237744"/>
          </a:xfrm>
          <a:prstGeom prst="rect">
            <a:avLst/>
          </a:prstGeom>
          <a:noFill/>
        </p:spPr>
        <p:txBody>
          <a:bodyPr wrap="square" lIns="0" tIns="0" rIns="0" bIns="0" anchor="t">
            <a:spAutoFit/>
          </a:bodyPr>
          <a:lstStyle/>
          <a:p>
            <a:pPr algn="l">
              <a:lnSpc>
                <a:spcPct val="100000"/>
              </a:lnSpc>
            </a:pPr>
            <a:r>
              <a:rPr sz="1050" b="1" i="0" dirty="0">
                <a:solidFill>
                  <a:srgbClr val="1C7293"/>
                </a:solidFill>
                <a:latin typeface="Calibri"/>
              </a:rPr>
              <a:t>7 · CREDENTIALS AND IDENTITY</a:t>
            </a:r>
          </a:p>
        </p:txBody>
      </p:sp>
      <p:sp>
        <p:nvSpPr>
          <p:cNvPr id="4" name="TextBox 3"/>
          <p:cNvSpPr txBox="1"/>
          <p:nvPr/>
        </p:nvSpPr>
        <p:spPr>
          <a:xfrm>
            <a:off x="777240" y="658368"/>
            <a:ext cx="10789920" cy="415498"/>
          </a:xfrm>
          <a:prstGeom prst="rect">
            <a:avLst/>
          </a:prstGeom>
          <a:noFill/>
        </p:spPr>
        <p:txBody>
          <a:bodyPr wrap="square" lIns="0" tIns="0" rIns="0" bIns="0" anchor="t">
            <a:spAutoFit/>
          </a:bodyPr>
          <a:lstStyle/>
          <a:p>
            <a:pPr algn="l">
              <a:lnSpc>
                <a:spcPct val="100000"/>
              </a:lnSpc>
            </a:pPr>
            <a:r>
              <a:rPr lang="en-US" sz="2700" b="1" i="0" dirty="0">
                <a:solidFill>
                  <a:srgbClr val="12283D"/>
                </a:solidFill>
                <a:latin typeface="Cambria"/>
              </a:rPr>
              <a:t>P</a:t>
            </a:r>
            <a:r>
              <a:rPr sz="2700" b="1" i="0" dirty="0">
                <a:solidFill>
                  <a:srgbClr val="12283D"/>
                </a:solidFill>
                <a:latin typeface="Cambria"/>
              </a:rPr>
              <a:t>ayer authenticat</a:t>
            </a:r>
            <a:r>
              <a:rPr lang="en-US" sz="2700" b="1" i="0" dirty="0">
                <a:solidFill>
                  <a:srgbClr val="12283D"/>
                </a:solidFill>
                <a:latin typeface="Cambria"/>
              </a:rPr>
              <a:t>ion and P</a:t>
            </a:r>
            <a:r>
              <a:rPr sz="2700" b="1" i="0" dirty="0">
                <a:solidFill>
                  <a:srgbClr val="12283D"/>
                </a:solidFill>
                <a:latin typeface="Cambria"/>
              </a:rPr>
              <a:t>roduction</a:t>
            </a:r>
            <a:r>
              <a:rPr lang="en-US" sz="2700" b="1" i="0" dirty="0">
                <a:solidFill>
                  <a:srgbClr val="12283D"/>
                </a:solidFill>
                <a:latin typeface="Cambria"/>
              </a:rPr>
              <a:t> Runs</a:t>
            </a:r>
            <a:endParaRPr sz="2700" b="1" i="0" dirty="0">
              <a:solidFill>
                <a:srgbClr val="12283D"/>
              </a:solidFill>
              <a:latin typeface="Cambria"/>
            </a:endParaRPr>
          </a:p>
        </p:txBody>
      </p:sp>
      <p:sp>
        <p:nvSpPr>
          <p:cNvPr id="5" name="Rectangle 4"/>
          <p:cNvSpPr/>
          <p:nvPr/>
        </p:nvSpPr>
        <p:spPr>
          <a:xfrm>
            <a:off x="566928" y="6345936"/>
            <a:ext cx="11064240" cy="12801"/>
          </a:xfrm>
          <a:prstGeom prst="rect">
            <a:avLst/>
          </a:prstGeom>
          <a:solidFill>
            <a:srgbClr val="D8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0058400" y="6428232"/>
            <a:ext cx="1572768" cy="219456"/>
          </a:xfrm>
          <a:prstGeom prst="rect">
            <a:avLst/>
          </a:prstGeom>
          <a:noFill/>
        </p:spPr>
        <p:txBody>
          <a:bodyPr wrap="square" lIns="0" tIns="0" rIns="0" bIns="0" anchor="t">
            <a:spAutoFit/>
          </a:bodyPr>
          <a:lstStyle/>
          <a:p>
            <a:pPr algn="r">
              <a:lnSpc>
                <a:spcPct val="100000"/>
              </a:lnSpc>
            </a:pPr>
            <a:r>
              <a:rPr sz="900" b="0" i="0">
                <a:solidFill>
                  <a:srgbClr val="5A6B7B"/>
                </a:solidFill>
                <a:latin typeface="Calibri"/>
              </a:rPr>
              <a:t>17</a:t>
            </a:r>
          </a:p>
        </p:txBody>
      </p:sp>
      <p:sp>
        <p:nvSpPr>
          <p:cNvPr id="8" name="TextBox 7"/>
          <p:cNvSpPr txBox="1"/>
          <p:nvPr/>
        </p:nvSpPr>
        <p:spPr>
          <a:xfrm>
            <a:off x="566928" y="1371600"/>
            <a:ext cx="11064240" cy="256032"/>
          </a:xfrm>
          <a:prstGeom prst="rect">
            <a:avLst/>
          </a:prstGeom>
          <a:noFill/>
        </p:spPr>
        <p:txBody>
          <a:bodyPr wrap="square" lIns="0" tIns="0" rIns="0" bIns="0" anchor="t">
            <a:spAutoFit/>
          </a:bodyPr>
          <a:lstStyle/>
          <a:p>
            <a:pPr algn="l">
              <a:lnSpc>
                <a:spcPct val="100000"/>
              </a:lnSpc>
            </a:pPr>
            <a:r>
              <a:rPr sz="1150" b="1" i="0">
                <a:solidFill>
                  <a:srgbClr val="1C7293"/>
                </a:solidFill>
                <a:latin typeface="Calibri"/>
              </a:rPr>
              <a:t>THE PAYER SIDE  ·  SMART on FHIR Backend Services</a:t>
            </a:r>
          </a:p>
        </p:txBody>
      </p:sp>
      <p:sp>
        <p:nvSpPr>
          <p:cNvPr id="9" name="Rounded Rectangle 8"/>
          <p:cNvSpPr/>
          <p:nvPr/>
        </p:nvSpPr>
        <p:spPr>
          <a:xfrm>
            <a:off x="566928" y="1664208"/>
            <a:ext cx="11064240" cy="749808"/>
          </a:xfrm>
          <a:prstGeom prst="roundRect">
            <a:avLst>
              <a:gd name="adj" fmla="val 6000"/>
            </a:avLst>
          </a:prstGeom>
          <a:solidFill>
            <a:srgbClr val="FFFFFF"/>
          </a:solidFill>
          <a:ln w="9525">
            <a:solidFill>
              <a:srgbClr val="D8E2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566928" y="1664208"/>
            <a:ext cx="50292" cy="749808"/>
          </a:xfrm>
          <a:prstGeom prst="rect">
            <a:avLst/>
          </a:prstGeom>
          <a:solidFill>
            <a:srgbClr val="B03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68680" y="1792224"/>
            <a:ext cx="2926080" cy="256032"/>
          </a:xfrm>
          <a:prstGeom prst="rect">
            <a:avLst/>
          </a:prstGeom>
          <a:noFill/>
        </p:spPr>
        <p:txBody>
          <a:bodyPr wrap="square" lIns="0" tIns="0" rIns="0" bIns="0" anchor="t">
            <a:spAutoFit/>
          </a:bodyPr>
          <a:lstStyle/>
          <a:p>
            <a:pPr algn="l">
              <a:lnSpc>
                <a:spcPct val="100000"/>
              </a:lnSpc>
            </a:pPr>
            <a:r>
              <a:rPr sz="1300" b="1" i="0">
                <a:solidFill>
                  <a:srgbClr val="12283D"/>
                </a:solidFill>
                <a:latin typeface="Calibri"/>
              </a:rPr>
              <a:t>Client secret</a:t>
            </a:r>
          </a:p>
        </p:txBody>
      </p:sp>
      <p:sp>
        <p:nvSpPr>
          <p:cNvPr id="12" name="TextBox 11"/>
          <p:cNvSpPr txBox="1"/>
          <p:nvPr/>
        </p:nvSpPr>
        <p:spPr>
          <a:xfrm>
            <a:off x="868680" y="2066544"/>
            <a:ext cx="2926080" cy="237744"/>
          </a:xfrm>
          <a:prstGeom prst="rect">
            <a:avLst/>
          </a:prstGeom>
          <a:noFill/>
        </p:spPr>
        <p:txBody>
          <a:bodyPr wrap="square" lIns="0" tIns="0" rIns="0" bIns="0" anchor="t">
            <a:spAutoFit/>
          </a:bodyPr>
          <a:lstStyle/>
          <a:p>
            <a:pPr algn="l">
              <a:lnSpc>
                <a:spcPct val="100000"/>
              </a:lnSpc>
            </a:pPr>
            <a:r>
              <a:rPr sz="1100" b="1" i="0">
                <a:solidFill>
                  <a:srgbClr val="B03A2B"/>
                </a:solidFill>
                <a:latin typeface="Calibri"/>
              </a:rPr>
              <a:t>POC only</a:t>
            </a:r>
          </a:p>
        </p:txBody>
      </p:sp>
      <p:sp>
        <p:nvSpPr>
          <p:cNvPr id="13" name="TextBox 12"/>
          <p:cNvSpPr txBox="1"/>
          <p:nvPr/>
        </p:nvSpPr>
        <p:spPr>
          <a:xfrm>
            <a:off x="3931920" y="1865376"/>
            <a:ext cx="7498079" cy="402336"/>
          </a:xfrm>
          <a:prstGeom prst="rect">
            <a:avLst/>
          </a:prstGeom>
          <a:noFill/>
        </p:spPr>
        <p:txBody>
          <a:bodyPr wrap="square" lIns="0" tIns="0" rIns="0" bIns="0" anchor="t">
            <a:spAutoFit/>
          </a:bodyPr>
          <a:lstStyle/>
          <a:p>
            <a:pPr algn="l">
              <a:lnSpc>
                <a:spcPct val="115000"/>
              </a:lnSpc>
            </a:pPr>
            <a:r>
              <a:rPr sz="1200" b="0" i="0">
                <a:solidFill>
                  <a:srgbClr val="5A6B7B"/>
                </a:solidFill>
                <a:latin typeface="Calibri"/>
              </a:rPr>
              <a:t>Simple, but it is a shared password with an expiry you must track. This tenant caps them at 30 days.</a:t>
            </a:r>
          </a:p>
        </p:txBody>
      </p:sp>
      <p:sp>
        <p:nvSpPr>
          <p:cNvPr id="14" name="Rounded Rectangle 13"/>
          <p:cNvSpPr/>
          <p:nvPr/>
        </p:nvSpPr>
        <p:spPr>
          <a:xfrm>
            <a:off x="566928" y="2505456"/>
            <a:ext cx="11064240" cy="749808"/>
          </a:xfrm>
          <a:prstGeom prst="roundRect">
            <a:avLst>
              <a:gd name="adj" fmla="val 6000"/>
            </a:avLst>
          </a:prstGeom>
          <a:solidFill>
            <a:srgbClr val="FFFFFF"/>
          </a:solidFill>
          <a:ln w="9525">
            <a:solidFill>
              <a:srgbClr val="D8E2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566928" y="2505456"/>
            <a:ext cx="50292" cy="749808"/>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68680" y="2633472"/>
            <a:ext cx="2926080" cy="256032"/>
          </a:xfrm>
          <a:prstGeom prst="rect">
            <a:avLst/>
          </a:prstGeom>
          <a:noFill/>
        </p:spPr>
        <p:txBody>
          <a:bodyPr wrap="square" lIns="0" tIns="0" rIns="0" bIns="0" anchor="t">
            <a:spAutoFit/>
          </a:bodyPr>
          <a:lstStyle/>
          <a:p>
            <a:pPr algn="l">
              <a:lnSpc>
                <a:spcPct val="100000"/>
              </a:lnSpc>
            </a:pPr>
            <a:r>
              <a:rPr sz="1300" b="1" i="0">
                <a:solidFill>
                  <a:srgbClr val="12283D"/>
                </a:solidFill>
                <a:latin typeface="Calibri"/>
              </a:rPr>
              <a:t>Certificate credential</a:t>
            </a:r>
          </a:p>
        </p:txBody>
      </p:sp>
      <p:sp>
        <p:nvSpPr>
          <p:cNvPr id="17" name="TextBox 16"/>
          <p:cNvSpPr txBox="1"/>
          <p:nvPr/>
        </p:nvSpPr>
        <p:spPr>
          <a:xfrm>
            <a:off x="868680" y="2907792"/>
            <a:ext cx="2926080" cy="237744"/>
          </a:xfrm>
          <a:prstGeom prst="rect">
            <a:avLst/>
          </a:prstGeom>
          <a:noFill/>
        </p:spPr>
        <p:txBody>
          <a:bodyPr wrap="square" lIns="0" tIns="0" rIns="0" bIns="0" anchor="t">
            <a:spAutoFit/>
          </a:bodyPr>
          <a:lstStyle/>
          <a:p>
            <a:pPr algn="l">
              <a:lnSpc>
                <a:spcPct val="100000"/>
              </a:lnSpc>
            </a:pPr>
            <a:r>
              <a:rPr sz="1100" b="1" i="0">
                <a:solidFill>
                  <a:srgbClr val="D9822B"/>
                </a:solidFill>
                <a:latin typeface="Calibri"/>
              </a:rPr>
              <a:t>Workable</a:t>
            </a:r>
          </a:p>
        </p:txBody>
      </p:sp>
      <p:sp>
        <p:nvSpPr>
          <p:cNvPr id="18" name="TextBox 17"/>
          <p:cNvSpPr txBox="1"/>
          <p:nvPr/>
        </p:nvSpPr>
        <p:spPr>
          <a:xfrm>
            <a:off x="3931920" y="2706624"/>
            <a:ext cx="7498079" cy="199927"/>
          </a:xfrm>
          <a:prstGeom prst="rect">
            <a:avLst/>
          </a:prstGeom>
          <a:noFill/>
        </p:spPr>
        <p:txBody>
          <a:bodyPr wrap="square" lIns="0" tIns="0" rIns="0" bIns="0" anchor="t">
            <a:spAutoFit/>
          </a:bodyPr>
          <a:lstStyle/>
          <a:p>
            <a:pPr algn="l">
              <a:lnSpc>
                <a:spcPct val="115000"/>
              </a:lnSpc>
            </a:pPr>
            <a:r>
              <a:rPr sz="1200" b="0" i="0" dirty="0">
                <a:solidFill>
                  <a:srgbClr val="5A6B7B"/>
                </a:solidFill>
                <a:latin typeface="Calibri"/>
              </a:rPr>
              <a:t>Payer holds a private key and signs a client assertion. No shared secret in flight. Rotation is yours to run.</a:t>
            </a:r>
          </a:p>
        </p:txBody>
      </p:sp>
      <p:sp>
        <p:nvSpPr>
          <p:cNvPr id="19" name="Rounded Rectangle 18"/>
          <p:cNvSpPr/>
          <p:nvPr/>
        </p:nvSpPr>
        <p:spPr>
          <a:xfrm>
            <a:off x="566928" y="3346704"/>
            <a:ext cx="11064240" cy="749808"/>
          </a:xfrm>
          <a:prstGeom prst="roundRect">
            <a:avLst>
              <a:gd name="adj" fmla="val 6000"/>
            </a:avLst>
          </a:prstGeom>
          <a:solidFill>
            <a:srgbClr val="FFFFFF"/>
          </a:solidFill>
          <a:ln w="9525">
            <a:solidFill>
              <a:srgbClr val="D8E2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ectangle 19"/>
          <p:cNvSpPr/>
          <p:nvPr/>
        </p:nvSpPr>
        <p:spPr>
          <a:xfrm>
            <a:off x="566928" y="3346704"/>
            <a:ext cx="50292" cy="749808"/>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868680" y="3474720"/>
            <a:ext cx="2926080" cy="256032"/>
          </a:xfrm>
          <a:prstGeom prst="rect">
            <a:avLst/>
          </a:prstGeom>
          <a:noFill/>
        </p:spPr>
        <p:txBody>
          <a:bodyPr wrap="square" lIns="0" tIns="0" rIns="0" bIns="0" anchor="t">
            <a:spAutoFit/>
          </a:bodyPr>
          <a:lstStyle/>
          <a:p>
            <a:pPr algn="l">
              <a:lnSpc>
                <a:spcPct val="100000"/>
              </a:lnSpc>
            </a:pPr>
            <a:r>
              <a:rPr sz="1300" b="1" i="0">
                <a:solidFill>
                  <a:srgbClr val="12283D"/>
                </a:solidFill>
                <a:latin typeface="Calibri"/>
              </a:rPr>
              <a:t>Federated identity credential</a:t>
            </a:r>
          </a:p>
        </p:txBody>
      </p:sp>
      <p:sp>
        <p:nvSpPr>
          <p:cNvPr id="22" name="TextBox 21"/>
          <p:cNvSpPr txBox="1"/>
          <p:nvPr/>
        </p:nvSpPr>
        <p:spPr>
          <a:xfrm>
            <a:off x="868680" y="3749040"/>
            <a:ext cx="2926080" cy="237744"/>
          </a:xfrm>
          <a:prstGeom prst="rect">
            <a:avLst/>
          </a:prstGeom>
          <a:noFill/>
        </p:spPr>
        <p:txBody>
          <a:bodyPr wrap="square" lIns="0" tIns="0" rIns="0" bIns="0" anchor="t">
            <a:spAutoFit/>
          </a:bodyPr>
          <a:lstStyle/>
          <a:p>
            <a:pPr algn="l">
              <a:lnSpc>
                <a:spcPct val="100000"/>
              </a:lnSpc>
            </a:pPr>
            <a:r>
              <a:rPr sz="1100" b="1" i="0">
                <a:solidFill>
                  <a:srgbClr val="2E8B57"/>
                </a:solidFill>
                <a:latin typeface="Calibri"/>
              </a:rPr>
              <a:t>Preferred</a:t>
            </a:r>
          </a:p>
        </p:txBody>
      </p:sp>
      <p:sp>
        <p:nvSpPr>
          <p:cNvPr id="23" name="TextBox 22"/>
          <p:cNvSpPr txBox="1"/>
          <p:nvPr/>
        </p:nvSpPr>
        <p:spPr>
          <a:xfrm>
            <a:off x="3931920" y="3547872"/>
            <a:ext cx="7498079" cy="402336"/>
          </a:xfrm>
          <a:prstGeom prst="rect">
            <a:avLst/>
          </a:prstGeom>
          <a:noFill/>
        </p:spPr>
        <p:txBody>
          <a:bodyPr wrap="square" lIns="0" tIns="0" rIns="0" bIns="0" anchor="t">
            <a:spAutoFit/>
          </a:bodyPr>
          <a:lstStyle/>
          <a:p>
            <a:pPr algn="l">
              <a:lnSpc>
                <a:spcPct val="115000"/>
              </a:lnSpc>
            </a:pPr>
            <a:r>
              <a:rPr sz="1200" b="0" i="0">
                <a:solidFill>
                  <a:srgbClr val="5A6B7B"/>
                </a:solidFill>
                <a:latin typeface="Calibri"/>
              </a:rPr>
              <a:t>Payer's own IdP issues the assertion; Entra trusts it. No secret and no certificate to rotate at all.</a:t>
            </a:r>
          </a:p>
        </p:txBody>
      </p:sp>
      <p:sp>
        <p:nvSpPr>
          <p:cNvPr id="24" name="TextBox 23"/>
          <p:cNvSpPr txBox="1"/>
          <p:nvPr/>
        </p:nvSpPr>
        <p:spPr>
          <a:xfrm>
            <a:off x="566928" y="4279392"/>
            <a:ext cx="11064240" cy="176972"/>
          </a:xfrm>
          <a:prstGeom prst="rect">
            <a:avLst/>
          </a:prstGeom>
          <a:noFill/>
        </p:spPr>
        <p:txBody>
          <a:bodyPr wrap="square" lIns="0" tIns="0" rIns="0" bIns="0" anchor="t">
            <a:spAutoFit/>
          </a:bodyPr>
          <a:lstStyle/>
          <a:p>
            <a:pPr algn="l">
              <a:lnSpc>
                <a:spcPct val="100000"/>
              </a:lnSpc>
            </a:pPr>
            <a:r>
              <a:rPr sz="1150" b="1" i="0" dirty="0">
                <a:solidFill>
                  <a:srgbClr val="2E8B57"/>
                </a:solidFill>
                <a:latin typeface="Calibri"/>
              </a:rPr>
              <a:t>THE NORTHWIND HEALTH SIDE  ·  what holds the FHIR role</a:t>
            </a:r>
          </a:p>
        </p:txBody>
      </p:sp>
      <p:sp>
        <p:nvSpPr>
          <p:cNvPr id="25" name="Rounded Rectangle 24"/>
          <p:cNvSpPr/>
          <p:nvPr/>
        </p:nvSpPr>
        <p:spPr>
          <a:xfrm>
            <a:off x="566928" y="4572000"/>
            <a:ext cx="11064240" cy="1463040"/>
          </a:xfrm>
          <a:prstGeom prst="roundRect">
            <a:avLst>
              <a:gd name="adj" fmla="val 6000"/>
            </a:avLst>
          </a:prstGeom>
          <a:solidFill>
            <a:srgbClr val="E8F4EC"/>
          </a:solidFill>
          <a:ln w="9525">
            <a:solidFill>
              <a:srgbClr val="2E8B5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841248" y="4754880"/>
            <a:ext cx="10515600" cy="292608"/>
          </a:xfrm>
          <a:prstGeom prst="rect">
            <a:avLst/>
          </a:prstGeom>
          <a:noFill/>
        </p:spPr>
        <p:txBody>
          <a:bodyPr wrap="square" lIns="0" tIns="0" rIns="0" bIns="0" anchor="t">
            <a:spAutoFit/>
          </a:bodyPr>
          <a:lstStyle/>
          <a:p>
            <a:pPr algn="l">
              <a:lnSpc>
                <a:spcPct val="100000"/>
              </a:lnSpc>
            </a:pPr>
            <a:r>
              <a:rPr sz="1300" b="1" i="0">
                <a:solidFill>
                  <a:srgbClr val="12283D"/>
                </a:solidFill>
                <a:latin typeface="Calibri"/>
              </a:rPr>
              <a:t>Only the APIM managed identity holds FHIR Data Contributor. Verified live:</a:t>
            </a:r>
          </a:p>
        </p:txBody>
      </p:sp>
      <p:sp>
        <p:nvSpPr>
          <p:cNvPr id="27" name="TextBox 26"/>
          <p:cNvSpPr txBox="1"/>
          <p:nvPr/>
        </p:nvSpPr>
        <p:spPr>
          <a:xfrm>
            <a:off x="841248" y="5102352"/>
            <a:ext cx="10607040" cy="841248"/>
          </a:xfrm>
          <a:prstGeom prst="rect">
            <a:avLst/>
          </a:prstGeom>
          <a:noFill/>
        </p:spPr>
        <p:txBody>
          <a:bodyPr wrap="square" lIns="0" tIns="0" rIns="0" bIns="0" anchor="t">
            <a:spAutoFit/>
          </a:bodyPr>
          <a:lstStyle/>
          <a:p>
            <a:pPr algn="l">
              <a:lnSpc>
                <a:spcPct val="135000"/>
              </a:lnSpc>
            </a:pPr>
            <a:r>
              <a:rPr sz="1200" b="0" i="0">
                <a:solidFill>
                  <a:srgbClr val="12283D"/>
                </a:solidFill>
                <a:latin typeface="Consolas"/>
              </a:rPr>
              <a:t>northwind-cmsdqm-payera   aaaaaaaa-…     0 Azure role assignments
northwind-cmsdqm-payerb   bbbbbbbb-…     0 Azure role assignments
APIM managed identity      dddddddd-…     FHIR Data Contributor on both services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8FA"/>
        </a:solidFill>
        <a:effectLst/>
      </p:bgPr>
    </p:bg>
    <p:spTree>
      <p:nvGrpSpPr>
        <p:cNvPr id="1" name=""/>
        <p:cNvGrpSpPr/>
        <p:nvPr/>
      </p:nvGrpSpPr>
      <p:grpSpPr>
        <a:xfrm>
          <a:off x="0" y="0"/>
          <a:ext cx="0" cy="0"/>
          <a:chOff x="0" y="0"/>
          <a:chExt cx="0" cy="0"/>
        </a:xfrm>
      </p:grpSpPr>
      <p:sp>
        <p:nvSpPr>
          <p:cNvPr id="2" name="Rectangle 1"/>
          <p:cNvSpPr/>
          <p:nvPr/>
        </p:nvSpPr>
        <p:spPr>
          <a:xfrm>
            <a:off x="566928" y="420624"/>
            <a:ext cx="68580" cy="65836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701040" y="542059"/>
            <a:ext cx="10789920" cy="415498"/>
          </a:xfrm>
          <a:prstGeom prst="rect">
            <a:avLst/>
          </a:prstGeom>
          <a:noFill/>
        </p:spPr>
        <p:txBody>
          <a:bodyPr wrap="square" lIns="0" tIns="0" rIns="0" bIns="0" anchor="t">
            <a:spAutoFit/>
          </a:bodyPr>
          <a:lstStyle/>
          <a:p>
            <a:pPr algn="l">
              <a:lnSpc>
                <a:spcPct val="100000"/>
              </a:lnSpc>
            </a:pPr>
            <a:r>
              <a:rPr lang="en-US" sz="2700" b="1" i="0" dirty="0">
                <a:solidFill>
                  <a:srgbClr val="12283D"/>
                </a:solidFill>
                <a:latin typeface="Cambria"/>
              </a:rPr>
              <a:t>Decisions</a:t>
            </a:r>
            <a:endParaRPr sz="2700" b="1" i="0" dirty="0">
              <a:solidFill>
                <a:srgbClr val="12283D"/>
              </a:solidFill>
              <a:latin typeface="Cambria"/>
            </a:endParaRPr>
          </a:p>
        </p:txBody>
      </p:sp>
      <p:sp>
        <p:nvSpPr>
          <p:cNvPr id="5" name="Rectangle 4"/>
          <p:cNvSpPr/>
          <p:nvPr/>
        </p:nvSpPr>
        <p:spPr>
          <a:xfrm>
            <a:off x="566928" y="6345936"/>
            <a:ext cx="11064240" cy="12801"/>
          </a:xfrm>
          <a:prstGeom prst="rect">
            <a:avLst/>
          </a:prstGeom>
          <a:solidFill>
            <a:srgbClr val="D8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0058400" y="6428232"/>
            <a:ext cx="1572768" cy="219456"/>
          </a:xfrm>
          <a:prstGeom prst="rect">
            <a:avLst/>
          </a:prstGeom>
          <a:noFill/>
        </p:spPr>
        <p:txBody>
          <a:bodyPr wrap="square" lIns="0" tIns="0" rIns="0" bIns="0" anchor="t">
            <a:spAutoFit/>
          </a:bodyPr>
          <a:lstStyle/>
          <a:p>
            <a:pPr algn="r">
              <a:lnSpc>
                <a:spcPct val="100000"/>
              </a:lnSpc>
            </a:pPr>
            <a:r>
              <a:rPr sz="900" b="0" i="0">
                <a:solidFill>
                  <a:srgbClr val="5A6B7B"/>
                </a:solidFill>
                <a:latin typeface="Calibri"/>
              </a:rPr>
              <a:t>19</a:t>
            </a:r>
          </a:p>
        </p:txBody>
      </p:sp>
      <p:sp>
        <p:nvSpPr>
          <p:cNvPr id="8" name="Rounded Rectangle 7"/>
          <p:cNvSpPr/>
          <p:nvPr/>
        </p:nvSpPr>
        <p:spPr>
          <a:xfrm>
            <a:off x="566928" y="1554480"/>
            <a:ext cx="11064240" cy="1060704"/>
          </a:xfrm>
          <a:prstGeom prst="roundRect">
            <a:avLst>
              <a:gd name="adj" fmla="val 6000"/>
            </a:avLst>
          </a:prstGeom>
          <a:solidFill>
            <a:srgbClr val="FFFFFF"/>
          </a:solidFill>
          <a:ln w="9525">
            <a:solidFill>
              <a:srgbClr val="D8E2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566928" y="1554480"/>
            <a:ext cx="50292" cy="10607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841248" y="1865376"/>
            <a:ext cx="420624" cy="420624"/>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41248" y="1970531"/>
            <a:ext cx="420624" cy="228600"/>
          </a:xfrm>
          <a:prstGeom prst="rect">
            <a:avLst/>
          </a:prstGeom>
          <a:noFill/>
        </p:spPr>
        <p:txBody>
          <a:bodyPr wrap="square" lIns="0" tIns="0" rIns="0" bIns="0" anchor="t">
            <a:spAutoFit/>
          </a:bodyPr>
          <a:lstStyle/>
          <a:p>
            <a:pPr algn="ctr">
              <a:lnSpc>
                <a:spcPct val="100000"/>
              </a:lnSpc>
            </a:pPr>
            <a:r>
              <a:rPr sz="1400" b="1" i="0">
                <a:solidFill>
                  <a:srgbClr val="FFFFFF"/>
                </a:solidFill>
                <a:latin typeface="Calibri"/>
              </a:rPr>
              <a:t>1</a:t>
            </a:r>
          </a:p>
        </p:txBody>
      </p:sp>
      <p:sp>
        <p:nvSpPr>
          <p:cNvPr id="12" name="TextBox 11"/>
          <p:cNvSpPr txBox="1"/>
          <p:nvPr/>
        </p:nvSpPr>
        <p:spPr>
          <a:xfrm>
            <a:off x="1481328" y="1700784"/>
            <a:ext cx="7315200" cy="274320"/>
          </a:xfrm>
          <a:prstGeom prst="rect">
            <a:avLst/>
          </a:prstGeom>
          <a:noFill/>
        </p:spPr>
        <p:txBody>
          <a:bodyPr wrap="square" lIns="0" tIns="0" rIns="0" bIns="0" anchor="t">
            <a:spAutoFit/>
          </a:bodyPr>
          <a:lstStyle/>
          <a:p>
            <a:pPr algn="l">
              <a:lnSpc>
                <a:spcPct val="100000"/>
              </a:lnSpc>
            </a:pPr>
            <a:r>
              <a:rPr sz="1450" b="1" i="0">
                <a:solidFill>
                  <a:srgbClr val="12283D"/>
                </a:solidFill>
                <a:latin typeface="Calibri"/>
              </a:rPr>
              <a:t>Confirm the separation model</a:t>
            </a:r>
          </a:p>
        </p:txBody>
      </p:sp>
      <p:sp>
        <p:nvSpPr>
          <p:cNvPr id="13" name="TextBox 12"/>
          <p:cNvSpPr txBox="1"/>
          <p:nvPr/>
        </p:nvSpPr>
        <p:spPr>
          <a:xfrm>
            <a:off x="1481328" y="2011680"/>
            <a:ext cx="9692640" cy="256032"/>
          </a:xfrm>
          <a:prstGeom prst="rect">
            <a:avLst/>
          </a:prstGeom>
          <a:noFill/>
        </p:spPr>
        <p:txBody>
          <a:bodyPr wrap="square" lIns="0" tIns="0" rIns="0" bIns="0" anchor="t">
            <a:spAutoFit/>
          </a:bodyPr>
          <a:lstStyle/>
          <a:p>
            <a:pPr algn="l">
              <a:lnSpc>
                <a:spcPct val="100000"/>
              </a:lnSpc>
            </a:pPr>
            <a:r>
              <a:rPr sz="1250" b="0" i="0" dirty="0">
                <a:solidFill>
                  <a:srgbClr val="12283D"/>
                </a:solidFill>
                <a:latin typeface="Calibri"/>
              </a:rPr>
              <a:t>Physical per payer · logical per contract · enforced at the gateway</a:t>
            </a:r>
          </a:p>
        </p:txBody>
      </p:sp>
      <p:sp>
        <p:nvSpPr>
          <p:cNvPr id="15" name="Rounded Rectangle 14"/>
          <p:cNvSpPr/>
          <p:nvPr/>
        </p:nvSpPr>
        <p:spPr>
          <a:xfrm>
            <a:off x="566928" y="2724912"/>
            <a:ext cx="11064240" cy="1060704"/>
          </a:xfrm>
          <a:prstGeom prst="roundRect">
            <a:avLst>
              <a:gd name="adj" fmla="val 6000"/>
            </a:avLst>
          </a:prstGeom>
          <a:solidFill>
            <a:srgbClr val="FFFFFF"/>
          </a:solidFill>
          <a:ln w="9525">
            <a:solidFill>
              <a:srgbClr val="D8E2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566928" y="2724912"/>
            <a:ext cx="50292" cy="10607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841248" y="3035808"/>
            <a:ext cx="420624" cy="420624"/>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841248" y="3140963"/>
            <a:ext cx="420624" cy="228600"/>
          </a:xfrm>
          <a:prstGeom prst="rect">
            <a:avLst/>
          </a:prstGeom>
          <a:noFill/>
        </p:spPr>
        <p:txBody>
          <a:bodyPr wrap="square" lIns="0" tIns="0" rIns="0" bIns="0" anchor="t">
            <a:spAutoFit/>
          </a:bodyPr>
          <a:lstStyle/>
          <a:p>
            <a:pPr algn="ctr">
              <a:lnSpc>
                <a:spcPct val="100000"/>
              </a:lnSpc>
            </a:pPr>
            <a:r>
              <a:rPr sz="1400" b="1" i="0">
                <a:solidFill>
                  <a:srgbClr val="FFFFFF"/>
                </a:solidFill>
                <a:latin typeface="Calibri"/>
              </a:rPr>
              <a:t>2</a:t>
            </a:r>
          </a:p>
        </p:txBody>
      </p:sp>
      <p:sp>
        <p:nvSpPr>
          <p:cNvPr id="19" name="TextBox 18"/>
          <p:cNvSpPr txBox="1"/>
          <p:nvPr/>
        </p:nvSpPr>
        <p:spPr>
          <a:xfrm>
            <a:off x="1481328" y="2871216"/>
            <a:ext cx="7315200" cy="274320"/>
          </a:xfrm>
          <a:prstGeom prst="rect">
            <a:avLst/>
          </a:prstGeom>
          <a:noFill/>
        </p:spPr>
        <p:txBody>
          <a:bodyPr wrap="square" lIns="0" tIns="0" rIns="0" bIns="0" anchor="t">
            <a:spAutoFit/>
          </a:bodyPr>
          <a:lstStyle/>
          <a:p>
            <a:pPr algn="l">
              <a:lnSpc>
                <a:spcPct val="100000"/>
              </a:lnSpc>
            </a:pPr>
            <a:r>
              <a:rPr sz="1450" b="1" i="0" dirty="0">
                <a:solidFill>
                  <a:srgbClr val="12283D"/>
                </a:solidFill>
                <a:latin typeface="Calibri"/>
              </a:rPr>
              <a:t>Keep inbound and outbound as separate APIs</a:t>
            </a:r>
          </a:p>
        </p:txBody>
      </p:sp>
      <p:sp>
        <p:nvSpPr>
          <p:cNvPr id="20" name="TextBox 19"/>
          <p:cNvSpPr txBox="1"/>
          <p:nvPr/>
        </p:nvSpPr>
        <p:spPr>
          <a:xfrm>
            <a:off x="1481328" y="3182112"/>
            <a:ext cx="9692640" cy="256032"/>
          </a:xfrm>
          <a:prstGeom prst="rect">
            <a:avLst/>
          </a:prstGeom>
          <a:noFill/>
        </p:spPr>
        <p:txBody>
          <a:bodyPr wrap="square" lIns="0" tIns="0" rIns="0" bIns="0" anchor="t">
            <a:spAutoFit/>
          </a:bodyPr>
          <a:lstStyle/>
          <a:p>
            <a:pPr algn="l">
              <a:lnSpc>
                <a:spcPct val="100000"/>
              </a:lnSpc>
            </a:pPr>
            <a:r>
              <a:rPr sz="1250" b="0" i="0">
                <a:solidFill>
                  <a:srgbClr val="12283D"/>
                </a:solidFill>
                <a:latin typeface="Calibri"/>
              </a:rPr>
              <a:t>Two routes, one FHIR service, mirrored allow-lists</a:t>
            </a:r>
          </a:p>
        </p:txBody>
      </p:sp>
      <p:sp>
        <p:nvSpPr>
          <p:cNvPr id="21" name="TextBox 20"/>
          <p:cNvSpPr txBox="1"/>
          <p:nvPr/>
        </p:nvSpPr>
        <p:spPr>
          <a:xfrm>
            <a:off x="1481328" y="3456432"/>
            <a:ext cx="9692640" cy="176972"/>
          </a:xfrm>
          <a:prstGeom prst="rect">
            <a:avLst/>
          </a:prstGeom>
          <a:noFill/>
        </p:spPr>
        <p:txBody>
          <a:bodyPr wrap="square" lIns="0" tIns="0" rIns="0" bIns="0" anchor="t">
            <a:spAutoFit/>
          </a:bodyPr>
          <a:lstStyle/>
          <a:p>
            <a:pPr algn="l">
              <a:lnSpc>
                <a:spcPct val="100000"/>
              </a:lnSpc>
            </a:pPr>
            <a:r>
              <a:rPr lang="en-US" sz="1150" i="1" dirty="0">
                <a:solidFill>
                  <a:srgbClr val="5A6B7B"/>
                </a:solidFill>
                <a:latin typeface="Calibri" panose="020F0502020204030204" pitchFamily="34" charset="0"/>
              </a:rPr>
              <a:t>The alternative - two FHIR services per payer - doubles instances and storage and adds a copy pipeline.</a:t>
            </a:r>
            <a:endParaRPr sz="1150" i="1" dirty="0">
              <a:solidFill>
                <a:srgbClr val="5A6B7B"/>
              </a:solidFill>
              <a:latin typeface="Calibri" panose="020F0502020204030204" pitchFamily="34" charset="0"/>
            </a:endParaRPr>
          </a:p>
        </p:txBody>
      </p:sp>
      <p:sp>
        <p:nvSpPr>
          <p:cNvPr id="22" name="Rounded Rectangle 21"/>
          <p:cNvSpPr/>
          <p:nvPr/>
        </p:nvSpPr>
        <p:spPr>
          <a:xfrm>
            <a:off x="566928" y="3895344"/>
            <a:ext cx="11064240" cy="1060704"/>
          </a:xfrm>
          <a:prstGeom prst="roundRect">
            <a:avLst>
              <a:gd name="adj" fmla="val 6000"/>
            </a:avLst>
          </a:prstGeom>
          <a:solidFill>
            <a:srgbClr val="FFFFFF"/>
          </a:solidFill>
          <a:ln w="9525">
            <a:solidFill>
              <a:srgbClr val="D8E2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566928" y="3895344"/>
            <a:ext cx="50292" cy="1060704"/>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Oval 23"/>
          <p:cNvSpPr/>
          <p:nvPr/>
        </p:nvSpPr>
        <p:spPr>
          <a:xfrm>
            <a:off x="841248" y="4206240"/>
            <a:ext cx="420624" cy="420624"/>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841248" y="4311396"/>
            <a:ext cx="420624" cy="228600"/>
          </a:xfrm>
          <a:prstGeom prst="rect">
            <a:avLst/>
          </a:prstGeom>
          <a:noFill/>
        </p:spPr>
        <p:txBody>
          <a:bodyPr wrap="square" lIns="0" tIns="0" rIns="0" bIns="0" anchor="t">
            <a:spAutoFit/>
          </a:bodyPr>
          <a:lstStyle/>
          <a:p>
            <a:pPr algn="ctr">
              <a:lnSpc>
                <a:spcPct val="100000"/>
              </a:lnSpc>
            </a:pPr>
            <a:r>
              <a:rPr sz="1400" b="1" i="0">
                <a:solidFill>
                  <a:srgbClr val="FFFFFF"/>
                </a:solidFill>
                <a:latin typeface="Calibri"/>
              </a:rPr>
              <a:t>3</a:t>
            </a:r>
          </a:p>
        </p:txBody>
      </p:sp>
      <p:sp>
        <p:nvSpPr>
          <p:cNvPr id="26" name="TextBox 25"/>
          <p:cNvSpPr txBox="1"/>
          <p:nvPr/>
        </p:nvSpPr>
        <p:spPr>
          <a:xfrm>
            <a:off x="1481328" y="4041648"/>
            <a:ext cx="7315200" cy="274320"/>
          </a:xfrm>
          <a:prstGeom prst="rect">
            <a:avLst/>
          </a:prstGeom>
          <a:noFill/>
        </p:spPr>
        <p:txBody>
          <a:bodyPr wrap="square" lIns="0" tIns="0" rIns="0" bIns="0" anchor="t">
            <a:spAutoFit/>
          </a:bodyPr>
          <a:lstStyle/>
          <a:p>
            <a:pPr algn="l">
              <a:lnSpc>
                <a:spcPct val="100000"/>
              </a:lnSpc>
            </a:pPr>
            <a:r>
              <a:rPr sz="1450" b="1" i="0">
                <a:solidFill>
                  <a:srgbClr val="12283D"/>
                </a:solidFill>
                <a:latin typeface="Calibri"/>
              </a:rPr>
              <a:t>Choose the payer credential model</a:t>
            </a:r>
          </a:p>
        </p:txBody>
      </p:sp>
      <p:sp>
        <p:nvSpPr>
          <p:cNvPr id="27" name="TextBox 26"/>
          <p:cNvSpPr txBox="1"/>
          <p:nvPr/>
        </p:nvSpPr>
        <p:spPr>
          <a:xfrm>
            <a:off x="1481328" y="4352544"/>
            <a:ext cx="9692640" cy="256032"/>
          </a:xfrm>
          <a:prstGeom prst="rect">
            <a:avLst/>
          </a:prstGeom>
          <a:noFill/>
        </p:spPr>
        <p:txBody>
          <a:bodyPr wrap="square" lIns="0" tIns="0" rIns="0" bIns="0" anchor="t">
            <a:spAutoFit/>
          </a:bodyPr>
          <a:lstStyle/>
          <a:p>
            <a:pPr algn="l">
              <a:lnSpc>
                <a:spcPct val="100000"/>
              </a:lnSpc>
            </a:pPr>
            <a:r>
              <a:rPr sz="1250" b="0" i="0" dirty="0">
                <a:solidFill>
                  <a:srgbClr val="12283D"/>
                </a:solidFill>
                <a:latin typeface="Calibri"/>
              </a:rPr>
              <a:t>Client secret, certificate, or federated identity</a:t>
            </a:r>
          </a:p>
        </p:txBody>
      </p:sp>
      <p:sp>
        <p:nvSpPr>
          <p:cNvPr id="28" name="TextBox 27"/>
          <p:cNvSpPr txBox="1"/>
          <p:nvPr/>
        </p:nvSpPr>
        <p:spPr>
          <a:xfrm>
            <a:off x="1481328" y="4626864"/>
            <a:ext cx="9692640" cy="256032"/>
          </a:xfrm>
          <a:prstGeom prst="rect">
            <a:avLst/>
          </a:prstGeom>
          <a:noFill/>
        </p:spPr>
        <p:txBody>
          <a:bodyPr wrap="square" lIns="0" tIns="0" rIns="0" bIns="0" anchor="t">
            <a:spAutoFit/>
          </a:bodyPr>
          <a:lstStyle/>
          <a:p>
            <a:pPr algn="l">
              <a:lnSpc>
                <a:spcPct val="100000"/>
              </a:lnSpc>
            </a:pPr>
            <a:r>
              <a:rPr sz="1150" b="0" i="1" dirty="0">
                <a:solidFill>
                  <a:srgbClr val="5A6B7B"/>
                </a:solidFill>
                <a:latin typeface="Calibri"/>
              </a:rPr>
              <a:t>Long lead time — changes onboarding paperwork.</a:t>
            </a:r>
          </a:p>
        </p:txBody>
      </p:sp>
      <p:sp>
        <p:nvSpPr>
          <p:cNvPr id="29" name="Rounded Rectangle 28"/>
          <p:cNvSpPr/>
          <p:nvPr/>
        </p:nvSpPr>
        <p:spPr>
          <a:xfrm>
            <a:off x="566928" y="5065776"/>
            <a:ext cx="11064240" cy="1060704"/>
          </a:xfrm>
          <a:prstGeom prst="roundRect">
            <a:avLst>
              <a:gd name="adj" fmla="val 6000"/>
            </a:avLst>
          </a:prstGeom>
          <a:solidFill>
            <a:srgbClr val="FFFFFF"/>
          </a:solidFill>
          <a:ln w="9525">
            <a:solidFill>
              <a:srgbClr val="D8E2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Rectangle 29"/>
          <p:cNvSpPr/>
          <p:nvPr/>
        </p:nvSpPr>
        <p:spPr>
          <a:xfrm>
            <a:off x="566928" y="5065776"/>
            <a:ext cx="50292" cy="1060704"/>
          </a:xfrm>
          <a:prstGeom prst="rect">
            <a:avLst/>
          </a:prstGeom>
          <a:solidFill>
            <a:srgbClr val="B03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Oval 30"/>
          <p:cNvSpPr/>
          <p:nvPr/>
        </p:nvSpPr>
        <p:spPr>
          <a:xfrm>
            <a:off x="841248" y="5376672"/>
            <a:ext cx="420624" cy="420624"/>
          </a:xfrm>
          <a:prstGeom prst="ellipse">
            <a:avLst/>
          </a:prstGeom>
          <a:solidFill>
            <a:srgbClr val="B03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841248" y="5481828"/>
            <a:ext cx="420624" cy="228600"/>
          </a:xfrm>
          <a:prstGeom prst="rect">
            <a:avLst/>
          </a:prstGeom>
          <a:noFill/>
        </p:spPr>
        <p:txBody>
          <a:bodyPr wrap="square" lIns="0" tIns="0" rIns="0" bIns="0" anchor="t">
            <a:spAutoFit/>
          </a:bodyPr>
          <a:lstStyle/>
          <a:p>
            <a:pPr algn="ctr">
              <a:lnSpc>
                <a:spcPct val="100000"/>
              </a:lnSpc>
            </a:pPr>
            <a:r>
              <a:rPr sz="1400" b="1" i="0">
                <a:solidFill>
                  <a:srgbClr val="FFFFFF"/>
                </a:solidFill>
                <a:latin typeface="Calibri"/>
              </a:rPr>
              <a:t>4</a:t>
            </a:r>
          </a:p>
        </p:txBody>
      </p:sp>
      <p:sp>
        <p:nvSpPr>
          <p:cNvPr id="33" name="TextBox 32"/>
          <p:cNvSpPr txBox="1"/>
          <p:nvPr/>
        </p:nvSpPr>
        <p:spPr>
          <a:xfrm>
            <a:off x="1481328" y="5212080"/>
            <a:ext cx="7315200" cy="223138"/>
          </a:xfrm>
          <a:prstGeom prst="rect">
            <a:avLst/>
          </a:prstGeom>
          <a:solidFill>
            <a:schemeClr val="accent2">
              <a:lumMod val="60000"/>
              <a:lumOff val="40000"/>
            </a:schemeClr>
          </a:solidFill>
        </p:spPr>
        <p:txBody>
          <a:bodyPr wrap="square" lIns="0" tIns="0" rIns="0" bIns="0" anchor="t">
            <a:spAutoFit/>
          </a:bodyPr>
          <a:lstStyle/>
          <a:p>
            <a:pPr algn="l">
              <a:lnSpc>
                <a:spcPct val="100000"/>
              </a:lnSpc>
            </a:pPr>
            <a:r>
              <a:rPr lang="en-US" sz="1450" b="1" i="0" dirty="0">
                <a:solidFill>
                  <a:srgbClr val="12283D"/>
                </a:solidFill>
                <a:latin typeface="Calibri"/>
              </a:rPr>
              <a:t>Get exact export volume numbers</a:t>
            </a:r>
          </a:p>
        </p:txBody>
      </p:sp>
      <p:sp>
        <p:nvSpPr>
          <p:cNvPr id="34" name="TextBox 33"/>
          <p:cNvSpPr txBox="1"/>
          <p:nvPr/>
        </p:nvSpPr>
        <p:spPr>
          <a:xfrm>
            <a:off x="1481328" y="5522976"/>
            <a:ext cx="9692640" cy="256032"/>
          </a:xfrm>
          <a:prstGeom prst="rect">
            <a:avLst/>
          </a:prstGeom>
          <a:noFill/>
        </p:spPr>
        <p:txBody>
          <a:bodyPr wrap="square" lIns="0" tIns="0" rIns="0" bIns="0" anchor="t">
            <a:spAutoFit/>
          </a:bodyPr>
          <a:lstStyle/>
          <a:p>
            <a:pPr algn="l">
              <a:lnSpc>
                <a:spcPct val="100000"/>
              </a:lnSpc>
            </a:pPr>
            <a:r>
              <a:rPr sz="1250" b="0" i="0">
                <a:solidFill>
                  <a:srgbClr val="12283D"/>
                </a:solidFill>
                <a:latin typeface="Calibri"/>
              </a:rPr>
              <a:t>Payers, members per payer, export schedule</a:t>
            </a:r>
          </a:p>
        </p:txBody>
      </p:sp>
      <p:sp>
        <p:nvSpPr>
          <p:cNvPr id="35" name="TextBox 34"/>
          <p:cNvSpPr txBox="1"/>
          <p:nvPr/>
        </p:nvSpPr>
        <p:spPr>
          <a:xfrm>
            <a:off x="1481328" y="5797296"/>
            <a:ext cx="9692640" cy="256032"/>
          </a:xfrm>
          <a:prstGeom prst="rect">
            <a:avLst/>
          </a:prstGeom>
          <a:noFill/>
        </p:spPr>
        <p:txBody>
          <a:bodyPr wrap="square" lIns="0" tIns="0" rIns="0" bIns="0" anchor="t">
            <a:spAutoFit/>
          </a:bodyPr>
          <a:lstStyle/>
          <a:p>
            <a:pPr algn="l">
              <a:lnSpc>
                <a:spcPct val="100000"/>
              </a:lnSpc>
            </a:pPr>
            <a:r>
              <a:rPr sz="1150" b="0" i="1">
                <a:solidFill>
                  <a:srgbClr val="5A6B7B"/>
                </a:solidFill>
                <a:latin typeface="Calibri"/>
              </a:rPr>
              <a:t>Blocks capacity sizing and the cost estimate.</a:t>
            </a:r>
          </a:p>
        </p:txBody>
      </p:sp>
    </p:spTree>
    <p:extLst>
      <p:ext uri="{BB962C8B-B14F-4D97-AF65-F5344CB8AC3E}">
        <p14:creationId xmlns:p14="http://schemas.microsoft.com/office/powerpoint/2010/main" val="37122266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bg>
      <p:bgPr>
        <a:solidFill>
          <a:srgbClr val="F5F8FA"/>
        </a:solidFill>
        <a:effectLst/>
      </p:bgPr>
    </p:bg>
    <p:spTree>
      <p:nvGrpSpPr>
        <p:cNvPr id="1" name=""/>
        <p:cNvGrpSpPr/>
        <p:nvPr/>
      </p:nvGrpSpPr>
      <p:grpSpPr>
        <a:xfrm>
          <a:off x="0" y="0"/>
          <a:ext cx="0" cy="0"/>
          <a:chOff x="0" y="0"/>
          <a:chExt cx="0" cy="0"/>
        </a:xfrm>
      </p:grpSpPr>
      <p:sp>
        <p:nvSpPr>
          <p:cNvPr id="2" name="Rectangle 1"/>
          <p:cNvSpPr/>
          <p:nvPr/>
        </p:nvSpPr>
        <p:spPr>
          <a:xfrm>
            <a:off x="566928" y="420624"/>
            <a:ext cx="68580" cy="658368"/>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749808" y="504513"/>
            <a:ext cx="10789920" cy="415498"/>
          </a:xfrm>
          <a:prstGeom prst="rect">
            <a:avLst/>
          </a:prstGeom>
          <a:noFill/>
        </p:spPr>
        <p:txBody>
          <a:bodyPr wrap="square" lIns="0" tIns="0" rIns="0" bIns="0" anchor="t">
            <a:spAutoFit/>
          </a:bodyPr>
          <a:lstStyle/>
          <a:p>
            <a:pPr algn="l">
              <a:lnSpc>
                <a:spcPct val="100000"/>
              </a:lnSpc>
            </a:pPr>
            <a:r>
              <a:rPr lang="en-US" sz="2700" b="1" i="0" dirty="0">
                <a:solidFill>
                  <a:srgbClr val="12283D"/>
                </a:solidFill>
                <a:latin typeface="Cambria"/>
              </a:rPr>
              <a:t>Deployment runs</a:t>
            </a:r>
            <a:endParaRPr sz="2700" b="1" i="0" dirty="0">
              <a:solidFill>
                <a:srgbClr val="12283D"/>
              </a:solidFill>
              <a:latin typeface="Cambria"/>
            </a:endParaRPr>
          </a:p>
        </p:txBody>
      </p:sp>
      <p:sp>
        <p:nvSpPr>
          <p:cNvPr id="5" name="Rectangle 4"/>
          <p:cNvSpPr/>
          <p:nvPr/>
        </p:nvSpPr>
        <p:spPr>
          <a:xfrm>
            <a:off x="566928" y="6345936"/>
            <a:ext cx="11064240" cy="12801"/>
          </a:xfrm>
          <a:prstGeom prst="rect">
            <a:avLst/>
          </a:prstGeom>
          <a:solidFill>
            <a:srgbClr val="D8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0058400" y="6428232"/>
            <a:ext cx="1572768" cy="219456"/>
          </a:xfrm>
          <a:prstGeom prst="rect">
            <a:avLst/>
          </a:prstGeom>
          <a:noFill/>
        </p:spPr>
        <p:txBody>
          <a:bodyPr wrap="square" lIns="0" tIns="0" rIns="0" bIns="0" anchor="t">
            <a:spAutoFit/>
          </a:bodyPr>
          <a:lstStyle/>
          <a:p>
            <a:pPr algn="r">
              <a:lnSpc>
                <a:spcPct val="100000"/>
              </a:lnSpc>
            </a:pPr>
            <a:r>
              <a:rPr sz="900" b="0" i="0">
                <a:solidFill>
                  <a:srgbClr val="5A6B7B"/>
                </a:solidFill>
                <a:latin typeface="Calibri"/>
              </a:rPr>
              <a:t>18</a:t>
            </a:r>
          </a:p>
        </p:txBody>
      </p:sp>
      <p:sp>
        <p:nvSpPr>
          <p:cNvPr id="8" name="TextBox 7"/>
          <p:cNvSpPr txBox="1"/>
          <p:nvPr/>
        </p:nvSpPr>
        <p:spPr>
          <a:xfrm>
            <a:off x="566928" y="1371600"/>
            <a:ext cx="11064240" cy="256032"/>
          </a:xfrm>
          <a:prstGeom prst="rect">
            <a:avLst/>
          </a:prstGeom>
          <a:noFill/>
        </p:spPr>
        <p:txBody>
          <a:bodyPr wrap="square" lIns="0" tIns="0" rIns="0" bIns="0" anchor="t">
            <a:spAutoFit/>
          </a:bodyPr>
          <a:lstStyle/>
          <a:p>
            <a:pPr algn="l">
              <a:lnSpc>
                <a:spcPct val="100000"/>
              </a:lnSpc>
            </a:pPr>
            <a:r>
              <a:rPr sz="1150" b="1" i="0">
                <a:solidFill>
                  <a:srgbClr val="1C7293"/>
                </a:solidFill>
                <a:latin typeface="Calibri"/>
              </a:rPr>
              <a:t>TIER — the POC is on BasicV2, which is not a production answer</a:t>
            </a:r>
          </a:p>
        </p:txBody>
      </p:sp>
      <p:sp>
        <p:nvSpPr>
          <p:cNvPr id="9" name="Rounded Rectangle 8"/>
          <p:cNvSpPr/>
          <p:nvPr/>
        </p:nvSpPr>
        <p:spPr>
          <a:xfrm>
            <a:off x="566928" y="1664208"/>
            <a:ext cx="11064240" cy="658368"/>
          </a:xfrm>
          <a:prstGeom prst="roundRect">
            <a:avLst>
              <a:gd name="adj" fmla="val 6000"/>
            </a:avLst>
          </a:prstGeom>
          <a:solidFill>
            <a:srgbClr val="FFFFFF"/>
          </a:solidFill>
          <a:ln w="9525">
            <a:solidFill>
              <a:srgbClr val="D8E2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566928" y="1664208"/>
            <a:ext cx="50292" cy="658368"/>
          </a:xfrm>
          <a:prstGeom prst="rect">
            <a:avLst/>
          </a:prstGeom>
          <a:solidFill>
            <a:srgbClr val="B03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68680" y="1764792"/>
            <a:ext cx="2377440" cy="256032"/>
          </a:xfrm>
          <a:prstGeom prst="rect">
            <a:avLst/>
          </a:prstGeom>
          <a:noFill/>
        </p:spPr>
        <p:txBody>
          <a:bodyPr wrap="square" lIns="0" tIns="0" rIns="0" bIns="0" anchor="t">
            <a:spAutoFit/>
          </a:bodyPr>
          <a:lstStyle/>
          <a:p>
            <a:pPr algn="l">
              <a:lnSpc>
                <a:spcPct val="100000"/>
              </a:lnSpc>
            </a:pPr>
            <a:r>
              <a:rPr sz="1300" b="1" i="0">
                <a:solidFill>
                  <a:srgbClr val="12283D"/>
                </a:solidFill>
                <a:latin typeface="Calibri"/>
              </a:rPr>
              <a:t>BasicV2</a:t>
            </a:r>
          </a:p>
        </p:txBody>
      </p:sp>
      <p:sp>
        <p:nvSpPr>
          <p:cNvPr id="12" name="TextBox 11"/>
          <p:cNvSpPr txBox="1"/>
          <p:nvPr/>
        </p:nvSpPr>
        <p:spPr>
          <a:xfrm>
            <a:off x="868680" y="2029968"/>
            <a:ext cx="2377440" cy="237744"/>
          </a:xfrm>
          <a:prstGeom prst="rect">
            <a:avLst/>
          </a:prstGeom>
          <a:noFill/>
        </p:spPr>
        <p:txBody>
          <a:bodyPr wrap="square" lIns="0" tIns="0" rIns="0" bIns="0" anchor="t">
            <a:spAutoFit/>
          </a:bodyPr>
          <a:lstStyle/>
          <a:p>
            <a:pPr algn="l">
              <a:lnSpc>
                <a:spcPct val="100000"/>
              </a:lnSpc>
            </a:pPr>
            <a:r>
              <a:rPr sz="1100" b="1" i="0">
                <a:solidFill>
                  <a:srgbClr val="B03A2B"/>
                </a:solidFill>
                <a:latin typeface="Calibri"/>
              </a:rPr>
              <a:t>POC only</a:t>
            </a:r>
          </a:p>
        </p:txBody>
      </p:sp>
      <p:sp>
        <p:nvSpPr>
          <p:cNvPr id="13" name="TextBox 12"/>
          <p:cNvSpPr txBox="1"/>
          <p:nvPr/>
        </p:nvSpPr>
        <p:spPr>
          <a:xfrm>
            <a:off x="3566160" y="1865376"/>
            <a:ext cx="7863840" cy="274320"/>
          </a:xfrm>
          <a:prstGeom prst="rect">
            <a:avLst/>
          </a:prstGeom>
          <a:noFill/>
        </p:spPr>
        <p:txBody>
          <a:bodyPr wrap="square" lIns="0" tIns="0" rIns="0" bIns="0" anchor="t">
            <a:spAutoFit/>
          </a:bodyPr>
          <a:lstStyle/>
          <a:p>
            <a:pPr algn="l">
              <a:lnSpc>
                <a:spcPct val="100000"/>
              </a:lnSpc>
            </a:pPr>
            <a:r>
              <a:rPr sz="1200" b="0" i="0">
                <a:solidFill>
                  <a:srgbClr val="5A6B7B"/>
                </a:solidFill>
                <a:latin typeface="Calibri"/>
              </a:rPr>
              <a:t>No VNet injection. Fine for proving behaviour, not for PHI in production.</a:t>
            </a:r>
          </a:p>
        </p:txBody>
      </p:sp>
      <p:sp>
        <p:nvSpPr>
          <p:cNvPr id="19" name="Rounded Rectangle 18"/>
          <p:cNvSpPr/>
          <p:nvPr/>
        </p:nvSpPr>
        <p:spPr>
          <a:xfrm>
            <a:off x="592074" y="2578608"/>
            <a:ext cx="11064240" cy="658368"/>
          </a:xfrm>
          <a:prstGeom prst="roundRect">
            <a:avLst>
              <a:gd name="adj" fmla="val 6000"/>
            </a:avLst>
          </a:prstGeom>
          <a:solidFill>
            <a:srgbClr val="FFFFFF"/>
          </a:solidFill>
          <a:ln w="9525">
            <a:solidFill>
              <a:srgbClr val="D8E2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ectangle 19"/>
          <p:cNvSpPr/>
          <p:nvPr/>
        </p:nvSpPr>
        <p:spPr>
          <a:xfrm>
            <a:off x="592074" y="2578608"/>
            <a:ext cx="50292" cy="658368"/>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893826" y="2679192"/>
            <a:ext cx="2377440" cy="200055"/>
          </a:xfrm>
          <a:prstGeom prst="rect">
            <a:avLst/>
          </a:prstGeom>
          <a:noFill/>
        </p:spPr>
        <p:txBody>
          <a:bodyPr wrap="square" lIns="0" tIns="0" rIns="0" bIns="0" anchor="t">
            <a:spAutoFit/>
          </a:bodyPr>
          <a:lstStyle/>
          <a:p>
            <a:pPr algn="l">
              <a:lnSpc>
                <a:spcPct val="100000"/>
              </a:lnSpc>
            </a:pPr>
            <a:r>
              <a:rPr sz="1300" b="1" i="0" dirty="0">
                <a:solidFill>
                  <a:srgbClr val="12283D"/>
                </a:solidFill>
                <a:latin typeface="Calibri"/>
              </a:rPr>
              <a:t>Premium</a:t>
            </a:r>
            <a:r>
              <a:rPr lang="en-US" sz="1300" b="1" i="0" dirty="0">
                <a:solidFill>
                  <a:srgbClr val="12283D"/>
                </a:solidFill>
                <a:latin typeface="Calibri"/>
              </a:rPr>
              <a:t> v2</a:t>
            </a:r>
            <a:endParaRPr sz="1300" b="1" i="0" dirty="0">
              <a:solidFill>
                <a:srgbClr val="12283D"/>
              </a:solidFill>
              <a:latin typeface="Calibri"/>
            </a:endParaRPr>
          </a:p>
        </p:txBody>
      </p:sp>
      <p:sp>
        <p:nvSpPr>
          <p:cNvPr id="22" name="TextBox 21"/>
          <p:cNvSpPr txBox="1"/>
          <p:nvPr/>
        </p:nvSpPr>
        <p:spPr>
          <a:xfrm>
            <a:off x="893826" y="2944368"/>
            <a:ext cx="2377440" cy="237744"/>
          </a:xfrm>
          <a:prstGeom prst="rect">
            <a:avLst/>
          </a:prstGeom>
          <a:noFill/>
        </p:spPr>
        <p:txBody>
          <a:bodyPr wrap="square" lIns="0" tIns="0" rIns="0" bIns="0" anchor="t">
            <a:spAutoFit/>
          </a:bodyPr>
          <a:lstStyle/>
          <a:p>
            <a:pPr algn="l">
              <a:lnSpc>
                <a:spcPct val="100000"/>
              </a:lnSpc>
            </a:pPr>
            <a:r>
              <a:rPr sz="1100" b="1" i="0">
                <a:solidFill>
                  <a:srgbClr val="D9822B"/>
                </a:solidFill>
                <a:latin typeface="Calibri"/>
              </a:rPr>
              <a:t>If required</a:t>
            </a:r>
          </a:p>
        </p:txBody>
      </p:sp>
      <p:sp>
        <p:nvSpPr>
          <p:cNvPr id="23" name="TextBox 22"/>
          <p:cNvSpPr txBox="1"/>
          <p:nvPr/>
        </p:nvSpPr>
        <p:spPr>
          <a:xfrm>
            <a:off x="3591306" y="2779776"/>
            <a:ext cx="7863840" cy="274320"/>
          </a:xfrm>
          <a:prstGeom prst="rect">
            <a:avLst/>
          </a:prstGeom>
          <a:noFill/>
        </p:spPr>
        <p:txBody>
          <a:bodyPr wrap="square" lIns="0" tIns="0" rIns="0" bIns="0" anchor="t">
            <a:spAutoFit/>
          </a:bodyPr>
          <a:lstStyle/>
          <a:p>
            <a:pPr algn="l">
              <a:lnSpc>
                <a:spcPct val="100000"/>
              </a:lnSpc>
            </a:pPr>
            <a:r>
              <a:rPr sz="1200" b="0" i="0">
                <a:solidFill>
                  <a:srgbClr val="5A6B7B"/>
                </a:solidFill>
                <a:latin typeface="Calibri"/>
              </a:rPr>
              <a:t>VNet injection, multi-region, availability zones. Choose if security review demands it.</a:t>
            </a:r>
          </a:p>
        </p:txBody>
      </p:sp>
      <p:sp>
        <p:nvSpPr>
          <p:cNvPr id="24" name="TextBox 23"/>
          <p:cNvSpPr txBox="1"/>
          <p:nvPr/>
        </p:nvSpPr>
        <p:spPr>
          <a:xfrm>
            <a:off x="566928" y="4005072"/>
            <a:ext cx="11064240" cy="256032"/>
          </a:xfrm>
          <a:prstGeom prst="rect">
            <a:avLst/>
          </a:prstGeom>
          <a:noFill/>
        </p:spPr>
        <p:txBody>
          <a:bodyPr wrap="square" lIns="0" tIns="0" rIns="0" bIns="0" anchor="t">
            <a:spAutoFit/>
          </a:bodyPr>
          <a:lstStyle/>
          <a:p>
            <a:pPr algn="l">
              <a:lnSpc>
                <a:spcPct val="100000"/>
              </a:lnSpc>
            </a:pPr>
            <a:r>
              <a:rPr sz="1150" b="1" i="0">
                <a:solidFill>
                  <a:srgbClr val="D9822B"/>
                </a:solidFill>
                <a:latin typeface="Calibri"/>
              </a:rPr>
              <a:t>THE UNQUANTIFIED RISK — and the one thing I need from you</a:t>
            </a:r>
          </a:p>
        </p:txBody>
      </p:sp>
      <p:sp>
        <p:nvSpPr>
          <p:cNvPr id="25" name="Rounded Rectangle 24"/>
          <p:cNvSpPr/>
          <p:nvPr/>
        </p:nvSpPr>
        <p:spPr>
          <a:xfrm>
            <a:off x="566928" y="4297680"/>
            <a:ext cx="11064240" cy="1737360"/>
          </a:xfrm>
          <a:prstGeom prst="roundRect">
            <a:avLst>
              <a:gd name="adj" fmla="val 6000"/>
            </a:avLst>
          </a:prstGeom>
          <a:solidFill>
            <a:srgbClr val="FDF3E3"/>
          </a:solidFill>
          <a:ln w="9525">
            <a:solidFill>
              <a:srgbClr val="D9822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841248" y="4882896"/>
            <a:ext cx="10607040" cy="1005840"/>
          </a:xfrm>
          <a:prstGeom prst="rect">
            <a:avLst/>
          </a:prstGeom>
          <a:noFill/>
        </p:spPr>
        <p:txBody>
          <a:bodyPr wrap="square" lIns="0" tIns="0" rIns="0" bIns="0" anchor="t">
            <a:spAutoFit/>
          </a:bodyPr>
          <a:lstStyle/>
          <a:p>
            <a:pPr algn="l">
              <a:lnSpc>
                <a:spcPct val="128000"/>
              </a:lnSpc>
            </a:pPr>
            <a:r>
              <a:rPr sz="1300" b="0" i="0">
                <a:solidFill>
                  <a:srgbClr val="12283D"/>
                </a:solidFill>
                <a:latin typeface="Calibri"/>
              </a:rPr>
              <a:t>Forty payers exporting on the same overnight schedule is the failure mode this design has not yet been sized against. The gateway holds one export per payer per five minutes, which converts a stampede into a queue — but the right window, and the right AHDS capacity behind it, needs your real numbers: how many payers, how many members each, and on what schedule.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rgbClr val="0E2A47"/>
        </a:solidFill>
        <a:effectLst/>
      </p:bgPr>
    </p:bg>
    <p:spTree>
      <p:nvGrpSpPr>
        <p:cNvPr id="1" name=""/>
        <p:cNvGrpSpPr/>
        <p:nvPr/>
      </p:nvGrpSpPr>
      <p:grpSpPr>
        <a:xfrm>
          <a:off x="0" y="0"/>
          <a:ext cx="0" cy="0"/>
          <a:chOff x="0" y="0"/>
          <a:chExt cx="0" cy="0"/>
        </a:xfrm>
      </p:grpSpPr>
      <p:sp>
        <p:nvSpPr>
          <p:cNvPr id="2" name="Rectangle 1"/>
          <p:cNvSpPr/>
          <p:nvPr/>
        </p:nvSpPr>
        <p:spPr>
          <a:xfrm>
            <a:off x="566928" y="420624"/>
            <a:ext cx="68580" cy="658368"/>
          </a:xfrm>
          <a:prstGeom prst="rect">
            <a:avLst/>
          </a:prstGeom>
          <a:solidFill>
            <a:srgbClr val="4FA6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77240" y="420624"/>
            <a:ext cx="10789920" cy="237744"/>
          </a:xfrm>
          <a:prstGeom prst="rect">
            <a:avLst/>
          </a:prstGeom>
          <a:noFill/>
        </p:spPr>
        <p:txBody>
          <a:bodyPr wrap="square" lIns="0" tIns="0" rIns="0" bIns="0" anchor="t">
            <a:spAutoFit/>
          </a:bodyPr>
          <a:lstStyle/>
          <a:p>
            <a:pPr algn="l">
              <a:lnSpc>
                <a:spcPct val="100000"/>
              </a:lnSpc>
            </a:pPr>
            <a:r>
              <a:rPr sz="1050" b="1" i="0">
                <a:solidFill>
                  <a:srgbClr val="4FA6C4"/>
                </a:solidFill>
                <a:latin typeface="Calibri"/>
              </a:rPr>
              <a:t>8 · NEXT STEPS</a:t>
            </a:r>
          </a:p>
        </p:txBody>
      </p:sp>
      <p:sp>
        <p:nvSpPr>
          <p:cNvPr id="4" name="TextBox 3"/>
          <p:cNvSpPr txBox="1"/>
          <p:nvPr/>
        </p:nvSpPr>
        <p:spPr>
          <a:xfrm>
            <a:off x="777240" y="658368"/>
            <a:ext cx="10789920" cy="475488"/>
          </a:xfrm>
          <a:prstGeom prst="rect">
            <a:avLst/>
          </a:prstGeom>
          <a:noFill/>
        </p:spPr>
        <p:txBody>
          <a:bodyPr wrap="square" lIns="0" tIns="0" rIns="0" bIns="0" anchor="t">
            <a:spAutoFit/>
          </a:bodyPr>
          <a:lstStyle/>
          <a:p>
            <a:pPr algn="l">
              <a:lnSpc>
                <a:spcPct val="100000"/>
              </a:lnSpc>
            </a:pPr>
            <a:r>
              <a:rPr sz="2700" b="1" i="0">
                <a:solidFill>
                  <a:srgbClr val="FFFFFF"/>
                </a:solidFill>
                <a:latin typeface="Cambria"/>
              </a:rPr>
              <a:t>What happens after this call</a:t>
            </a:r>
          </a:p>
        </p:txBody>
      </p:sp>
      <p:sp>
        <p:nvSpPr>
          <p:cNvPr id="5" name="Rectangle 4"/>
          <p:cNvSpPr/>
          <p:nvPr/>
        </p:nvSpPr>
        <p:spPr>
          <a:xfrm>
            <a:off x="566928" y="6345936"/>
            <a:ext cx="11064240" cy="12801"/>
          </a:xfrm>
          <a:prstGeom prst="rect">
            <a:avLst/>
          </a:prstGeom>
          <a:solidFill>
            <a:srgbClr val="2C50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0058400" y="6428232"/>
            <a:ext cx="1572768" cy="219456"/>
          </a:xfrm>
          <a:prstGeom prst="rect">
            <a:avLst/>
          </a:prstGeom>
          <a:noFill/>
        </p:spPr>
        <p:txBody>
          <a:bodyPr wrap="square" lIns="0" tIns="0" rIns="0" bIns="0" anchor="t">
            <a:spAutoFit/>
          </a:bodyPr>
          <a:lstStyle/>
          <a:p>
            <a:pPr algn="r">
              <a:lnSpc>
                <a:spcPct val="100000"/>
              </a:lnSpc>
            </a:pPr>
            <a:r>
              <a:rPr sz="900" b="0" i="0">
                <a:solidFill>
                  <a:srgbClr val="7F9AB5"/>
                </a:solidFill>
                <a:latin typeface="Calibri"/>
              </a:rPr>
              <a:t>20</a:t>
            </a:r>
          </a:p>
        </p:txBody>
      </p:sp>
      <p:sp>
        <p:nvSpPr>
          <p:cNvPr id="8" name="TextBox 7"/>
          <p:cNvSpPr txBox="1"/>
          <p:nvPr/>
        </p:nvSpPr>
        <p:spPr>
          <a:xfrm>
            <a:off x="777240" y="1243584"/>
            <a:ext cx="10789920" cy="256032"/>
          </a:xfrm>
          <a:prstGeom prst="rect">
            <a:avLst/>
          </a:prstGeom>
          <a:noFill/>
        </p:spPr>
        <p:txBody>
          <a:bodyPr wrap="square" lIns="0" tIns="0" rIns="0" bIns="0" anchor="t">
            <a:spAutoFit/>
          </a:bodyPr>
          <a:lstStyle/>
          <a:p>
            <a:pPr algn="l">
              <a:lnSpc>
                <a:spcPct val="100000"/>
              </a:lnSpc>
            </a:pPr>
            <a:r>
              <a:rPr sz="1100" b="1" i="0">
                <a:solidFill>
                  <a:srgbClr val="4FA6C4"/>
                </a:solidFill>
                <a:latin typeface="Calibri"/>
              </a:rPr>
              <a:t>IMMEDIATE  ·  this week</a:t>
            </a:r>
          </a:p>
        </p:txBody>
      </p:sp>
      <p:sp>
        <p:nvSpPr>
          <p:cNvPr id="9" name="Rounded Rectangle 8"/>
          <p:cNvSpPr/>
          <p:nvPr/>
        </p:nvSpPr>
        <p:spPr>
          <a:xfrm>
            <a:off x="777240" y="1536192"/>
            <a:ext cx="10652760" cy="438912"/>
          </a:xfrm>
          <a:prstGeom prst="roundRect">
            <a:avLst>
              <a:gd name="adj" fmla="val 6000"/>
            </a:avLst>
          </a:prstGeom>
          <a:solidFill>
            <a:srgbClr val="1A3E60"/>
          </a:solidFill>
          <a:ln w="9525">
            <a:solidFill>
              <a:srgbClr val="2C507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987552" y="1645920"/>
            <a:ext cx="1737360" cy="237744"/>
          </a:xfrm>
          <a:prstGeom prst="rect">
            <a:avLst/>
          </a:prstGeom>
          <a:noFill/>
        </p:spPr>
        <p:txBody>
          <a:bodyPr wrap="square" lIns="0" tIns="0" rIns="0" bIns="0" anchor="t">
            <a:spAutoFit/>
          </a:bodyPr>
          <a:lstStyle/>
          <a:p>
            <a:pPr algn="l">
              <a:lnSpc>
                <a:spcPct val="100000"/>
              </a:lnSpc>
            </a:pPr>
            <a:r>
              <a:rPr sz="1150" b="1" i="0">
                <a:solidFill>
                  <a:srgbClr val="F0C87A"/>
                </a:solidFill>
                <a:latin typeface="Calibri"/>
              </a:rPr>
              <a:t>Northwind Health</a:t>
            </a:r>
          </a:p>
        </p:txBody>
      </p:sp>
      <p:sp>
        <p:nvSpPr>
          <p:cNvPr id="11" name="TextBox 10"/>
          <p:cNvSpPr txBox="1"/>
          <p:nvPr/>
        </p:nvSpPr>
        <p:spPr>
          <a:xfrm>
            <a:off x="2834640" y="1645920"/>
            <a:ext cx="8412480" cy="237744"/>
          </a:xfrm>
          <a:prstGeom prst="rect">
            <a:avLst/>
          </a:prstGeom>
          <a:noFill/>
        </p:spPr>
        <p:txBody>
          <a:bodyPr wrap="square" lIns="0" tIns="0" rIns="0" bIns="0" anchor="t">
            <a:spAutoFit/>
          </a:bodyPr>
          <a:lstStyle/>
          <a:p>
            <a:pPr algn="l">
              <a:lnSpc>
                <a:spcPct val="100000"/>
              </a:lnSpc>
            </a:pPr>
            <a:r>
              <a:rPr sz="1250" b="0" i="0">
                <a:solidFill>
                  <a:srgbClr val="FFFFFF"/>
                </a:solidFill>
                <a:latin typeface="Calibri"/>
              </a:rPr>
              <a:t>Export volume numbers — payers, members, schedule</a:t>
            </a:r>
          </a:p>
        </p:txBody>
      </p:sp>
      <p:sp>
        <p:nvSpPr>
          <p:cNvPr id="12" name="Rounded Rectangle 11"/>
          <p:cNvSpPr/>
          <p:nvPr/>
        </p:nvSpPr>
        <p:spPr>
          <a:xfrm>
            <a:off x="777240" y="2048256"/>
            <a:ext cx="10652760" cy="438912"/>
          </a:xfrm>
          <a:prstGeom prst="roundRect">
            <a:avLst>
              <a:gd name="adj" fmla="val 6000"/>
            </a:avLst>
          </a:prstGeom>
          <a:solidFill>
            <a:srgbClr val="1A3E60"/>
          </a:solidFill>
          <a:ln w="9525">
            <a:solidFill>
              <a:srgbClr val="2C507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987552" y="2157984"/>
            <a:ext cx="1737360" cy="237744"/>
          </a:xfrm>
          <a:prstGeom prst="rect">
            <a:avLst/>
          </a:prstGeom>
          <a:noFill/>
        </p:spPr>
        <p:txBody>
          <a:bodyPr wrap="square" lIns="0" tIns="0" rIns="0" bIns="0" anchor="t">
            <a:spAutoFit/>
          </a:bodyPr>
          <a:lstStyle/>
          <a:p>
            <a:pPr algn="l">
              <a:lnSpc>
                <a:spcPct val="100000"/>
              </a:lnSpc>
            </a:pPr>
            <a:r>
              <a:rPr sz="1150" b="1" i="0">
                <a:solidFill>
                  <a:srgbClr val="F0C87A"/>
                </a:solidFill>
                <a:latin typeface="Calibri"/>
              </a:rPr>
              <a:t>Northwind Health</a:t>
            </a:r>
          </a:p>
        </p:txBody>
      </p:sp>
      <p:sp>
        <p:nvSpPr>
          <p:cNvPr id="14" name="TextBox 13"/>
          <p:cNvSpPr txBox="1"/>
          <p:nvPr/>
        </p:nvSpPr>
        <p:spPr>
          <a:xfrm>
            <a:off x="2834640" y="2157984"/>
            <a:ext cx="8412480" cy="237744"/>
          </a:xfrm>
          <a:prstGeom prst="rect">
            <a:avLst/>
          </a:prstGeom>
          <a:noFill/>
        </p:spPr>
        <p:txBody>
          <a:bodyPr wrap="square" lIns="0" tIns="0" rIns="0" bIns="0" anchor="t">
            <a:spAutoFit/>
          </a:bodyPr>
          <a:lstStyle/>
          <a:p>
            <a:pPr algn="l">
              <a:lnSpc>
                <a:spcPct val="100000"/>
              </a:lnSpc>
            </a:pPr>
            <a:r>
              <a:rPr sz="1250" b="0" i="0">
                <a:solidFill>
                  <a:srgbClr val="FFFFFF"/>
                </a:solidFill>
                <a:latin typeface="Calibri"/>
              </a:rPr>
              <a:t>Security review of the separation model as shown</a:t>
            </a:r>
          </a:p>
        </p:txBody>
      </p:sp>
      <p:sp>
        <p:nvSpPr>
          <p:cNvPr id="15" name="Rounded Rectangle 14"/>
          <p:cNvSpPr/>
          <p:nvPr/>
        </p:nvSpPr>
        <p:spPr>
          <a:xfrm>
            <a:off x="777240" y="2560320"/>
            <a:ext cx="10652760" cy="438912"/>
          </a:xfrm>
          <a:prstGeom prst="roundRect">
            <a:avLst>
              <a:gd name="adj" fmla="val 6000"/>
            </a:avLst>
          </a:prstGeom>
          <a:solidFill>
            <a:srgbClr val="1A3E60"/>
          </a:solidFill>
          <a:ln w="9525">
            <a:solidFill>
              <a:srgbClr val="2C507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987552" y="2670048"/>
            <a:ext cx="1737360" cy="237744"/>
          </a:xfrm>
          <a:prstGeom prst="rect">
            <a:avLst/>
          </a:prstGeom>
          <a:noFill/>
        </p:spPr>
        <p:txBody>
          <a:bodyPr wrap="square" lIns="0" tIns="0" rIns="0" bIns="0" anchor="t">
            <a:spAutoFit/>
          </a:bodyPr>
          <a:lstStyle/>
          <a:p>
            <a:pPr algn="l">
              <a:lnSpc>
                <a:spcPct val="100000"/>
              </a:lnSpc>
            </a:pPr>
            <a:r>
              <a:rPr sz="1150" b="1" i="0">
                <a:solidFill>
                  <a:srgbClr val="4FA6C4"/>
                </a:solidFill>
                <a:latin typeface="Calibri"/>
              </a:rPr>
              <a:t>Microsoft</a:t>
            </a:r>
          </a:p>
        </p:txBody>
      </p:sp>
      <p:sp>
        <p:nvSpPr>
          <p:cNvPr id="17" name="TextBox 16"/>
          <p:cNvSpPr txBox="1"/>
          <p:nvPr/>
        </p:nvSpPr>
        <p:spPr>
          <a:xfrm>
            <a:off x="2834640" y="2670048"/>
            <a:ext cx="8412480" cy="237744"/>
          </a:xfrm>
          <a:prstGeom prst="rect">
            <a:avLst/>
          </a:prstGeom>
          <a:noFill/>
        </p:spPr>
        <p:txBody>
          <a:bodyPr wrap="square" lIns="0" tIns="0" rIns="0" bIns="0" anchor="t">
            <a:spAutoFit/>
          </a:bodyPr>
          <a:lstStyle/>
          <a:p>
            <a:pPr algn="l">
              <a:lnSpc>
                <a:spcPct val="100000"/>
              </a:lnSpc>
            </a:pPr>
            <a:r>
              <a:rPr sz="1250" b="0" i="0">
                <a:solidFill>
                  <a:srgbClr val="FFFFFF"/>
                </a:solidFill>
                <a:latin typeface="Calibri"/>
              </a:rPr>
              <a:t>Sized production design and cost once volumes land</a:t>
            </a:r>
          </a:p>
        </p:txBody>
      </p:sp>
      <p:sp>
        <p:nvSpPr>
          <p:cNvPr id="18" name="Rounded Rectangle 17"/>
          <p:cNvSpPr/>
          <p:nvPr/>
        </p:nvSpPr>
        <p:spPr>
          <a:xfrm>
            <a:off x="777240" y="3072384"/>
            <a:ext cx="10652760" cy="438912"/>
          </a:xfrm>
          <a:prstGeom prst="roundRect">
            <a:avLst>
              <a:gd name="adj" fmla="val 6000"/>
            </a:avLst>
          </a:prstGeom>
          <a:solidFill>
            <a:srgbClr val="1A3E60"/>
          </a:solidFill>
          <a:ln w="9525">
            <a:solidFill>
              <a:srgbClr val="2C507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987552" y="3182112"/>
            <a:ext cx="1737360" cy="237744"/>
          </a:xfrm>
          <a:prstGeom prst="rect">
            <a:avLst/>
          </a:prstGeom>
          <a:noFill/>
        </p:spPr>
        <p:txBody>
          <a:bodyPr wrap="square" lIns="0" tIns="0" rIns="0" bIns="0" anchor="t">
            <a:spAutoFit/>
          </a:bodyPr>
          <a:lstStyle/>
          <a:p>
            <a:pPr algn="l">
              <a:lnSpc>
                <a:spcPct val="100000"/>
              </a:lnSpc>
            </a:pPr>
            <a:r>
              <a:rPr sz="1150" b="1" i="0">
                <a:solidFill>
                  <a:srgbClr val="4FA6C4"/>
                </a:solidFill>
                <a:latin typeface="Calibri"/>
              </a:rPr>
              <a:t>Microsoft</a:t>
            </a:r>
          </a:p>
        </p:txBody>
      </p:sp>
      <p:sp>
        <p:nvSpPr>
          <p:cNvPr id="20" name="TextBox 19"/>
          <p:cNvSpPr txBox="1"/>
          <p:nvPr/>
        </p:nvSpPr>
        <p:spPr>
          <a:xfrm>
            <a:off x="2834640" y="3182112"/>
            <a:ext cx="8412480" cy="237744"/>
          </a:xfrm>
          <a:prstGeom prst="rect">
            <a:avLst/>
          </a:prstGeom>
          <a:noFill/>
        </p:spPr>
        <p:txBody>
          <a:bodyPr wrap="square" lIns="0" tIns="0" rIns="0" bIns="0" anchor="t">
            <a:spAutoFit/>
          </a:bodyPr>
          <a:lstStyle/>
          <a:p>
            <a:pPr algn="l">
              <a:lnSpc>
                <a:spcPct val="100000"/>
              </a:lnSpc>
            </a:pPr>
            <a:r>
              <a:rPr sz="1250" b="0" i="0">
                <a:solidFill>
                  <a:srgbClr val="FFFFFF"/>
                </a:solidFill>
                <a:latin typeface="Calibri"/>
              </a:rPr>
              <a:t>Federated credential onboarding guide for payers</a:t>
            </a:r>
          </a:p>
        </p:txBody>
      </p:sp>
      <p:sp>
        <p:nvSpPr>
          <p:cNvPr id="21" name="TextBox 20"/>
          <p:cNvSpPr txBox="1"/>
          <p:nvPr/>
        </p:nvSpPr>
        <p:spPr>
          <a:xfrm>
            <a:off x="777240" y="4261104"/>
            <a:ext cx="10789920" cy="256032"/>
          </a:xfrm>
          <a:prstGeom prst="rect">
            <a:avLst/>
          </a:prstGeom>
          <a:noFill/>
        </p:spPr>
        <p:txBody>
          <a:bodyPr wrap="square" lIns="0" tIns="0" rIns="0" bIns="0" anchor="t">
            <a:spAutoFit/>
          </a:bodyPr>
          <a:lstStyle/>
          <a:p>
            <a:pPr algn="l">
              <a:lnSpc>
                <a:spcPct val="100000"/>
              </a:lnSpc>
            </a:pPr>
            <a:r>
              <a:rPr sz="1100" b="1" i="0">
                <a:solidFill>
                  <a:srgbClr val="4FA6C4"/>
                </a:solidFill>
                <a:latin typeface="Calibri"/>
              </a:rPr>
              <a:t>THE ENVIRONMENT STAYS UP</a:t>
            </a:r>
          </a:p>
        </p:txBody>
      </p:sp>
      <p:sp>
        <p:nvSpPr>
          <p:cNvPr id="22" name="Rounded Rectangle 21"/>
          <p:cNvSpPr/>
          <p:nvPr/>
        </p:nvSpPr>
        <p:spPr>
          <a:xfrm>
            <a:off x="777240" y="4553712"/>
            <a:ext cx="10652760" cy="914400"/>
          </a:xfrm>
          <a:prstGeom prst="roundRect">
            <a:avLst>
              <a:gd name="adj" fmla="val 6000"/>
            </a:avLst>
          </a:prstGeom>
          <a:solidFill>
            <a:srgbClr val="1A3E60"/>
          </a:solidFill>
          <a:ln w="9525">
            <a:solidFill>
              <a:srgbClr val="2C507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987552" y="4736592"/>
            <a:ext cx="10241280" cy="566928"/>
          </a:xfrm>
          <a:prstGeom prst="rect">
            <a:avLst/>
          </a:prstGeom>
          <a:noFill/>
        </p:spPr>
        <p:txBody>
          <a:bodyPr wrap="square" lIns="0" tIns="0" rIns="0" bIns="0" anchor="t">
            <a:spAutoFit/>
          </a:bodyPr>
          <a:lstStyle/>
          <a:p>
            <a:pPr algn="l">
              <a:lnSpc>
                <a:spcPct val="125000"/>
              </a:lnSpc>
            </a:pPr>
            <a:r>
              <a:rPr sz="1300" b="0" i="0">
                <a:solidFill>
                  <a:srgbClr val="CFE3EF"/>
                </a:solidFill>
                <a:latin typeface="Calibri"/>
              </a:rPr>
              <a:t>rg-ahds-fhir-poc remains deployed and is yours to poke at. The policies, the Bicep and the test suite are all in the handover folder — run the suite yourself, change a policy, watch a test go red.</a:t>
            </a:r>
          </a:p>
        </p:txBody>
      </p:sp>
      <p:sp>
        <p:nvSpPr>
          <p:cNvPr id="24" name="TextBox 23"/>
          <p:cNvSpPr txBox="1"/>
          <p:nvPr/>
        </p:nvSpPr>
        <p:spPr>
          <a:xfrm>
            <a:off x="777240" y="5687568"/>
            <a:ext cx="10652760" cy="457200"/>
          </a:xfrm>
          <a:prstGeom prst="rect">
            <a:avLst/>
          </a:prstGeom>
          <a:noFill/>
        </p:spPr>
        <p:txBody>
          <a:bodyPr wrap="square" lIns="0" tIns="0" rIns="0" bIns="0" anchor="t">
            <a:spAutoFit/>
          </a:bodyPr>
          <a:lstStyle/>
          <a:p>
            <a:pPr algn="ctr">
              <a:lnSpc>
                <a:spcPct val="100000"/>
              </a:lnSpc>
            </a:pPr>
            <a:r>
              <a:rPr sz="1450" b="1" i="0">
                <a:solidFill>
                  <a:srgbClr val="FFFFFF"/>
                </a:solidFill>
                <a:latin typeface="Cambria"/>
              </a:rPr>
              <a:t>The strongest thing you can do with this is break it. If you can get one payer’s data out of the other’s endpoint, I want to hear about it.</a:t>
            </a:r>
          </a:p>
        </p:txBody>
      </p:sp>
      <p:sp>
        <p:nvSpPr>
          <p:cNvPr id="25" name="Rectangle 24"/>
          <p:cNvSpPr/>
          <p:nvPr/>
        </p:nvSpPr>
        <p:spPr>
          <a:xfrm>
            <a:off x="566928" y="6345936"/>
            <a:ext cx="11064240" cy="12801"/>
          </a:xfrm>
          <a:prstGeom prst="rect">
            <a:avLst/>
          </a:prstGeom>
          <a:solidFill>
            <a:srgbClr val="2C50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10058400" y="6428232"/>
            <a:ext cx="1572768" cy="219456"/>
          </a:xfrm>
          <a:prstGeom prst="rect">
            <a:avLst/>
          </a:prstGeom>
          <a:noFill/>
        </p:spPr>
        <p:txBody>
          <a:bodyPr wrap="square" lIns="0" tIns="0" rIns="0" bIns="0" anchor="t">
            <a:spAutoFit/>
          </a:bodyPr>
          <a:lstStyle/>
          <a:p>
            <a:pPr algn="r">
              <a:lnSpc>
                <a:spcPct val="100000"/>
              </a:lnSpc>
            </a:pPr>
            <a:r>
              <a:rPr sz="900" b="0" i="0">
                <a:solidFill>
                  <a:srgbClr val="7F9AB5"/>
                </a:solidFill>
                <a:latin typeface="Calibri"/>
              </a:rPr>
              <a:t>20</a:t>
            </a:r>
          </a:p>
        </p:txBody>
      </p:sp>
      <p:sp>
        <p:nvSpPr>
          <p:cNvPr id="6" name="Rounded Rectangle 17">
            <a:extLst>
              <a:ext uri="{FF2B5EF4-FFF2-40B4-BE49-F238E27FC236}">
                <a16:creationId xmlns:a16="http://schemas.microsoft.com/office/drawing/2014/main" id="{80DEFD94-D28D-5409-E430-41D3A9F79045}"/>
              </a:ext>
            </a:extLst>
          </p:cNvPr>
          <p:cNvSpPr/>
          <p:nvPr/>
        </p:nvSpPr>
        <p:spPr>
          <a:xfrm>
            <a:off x="777240" y="3584448"/>
            <a:ext cx="10652760" cy="438912"/>
          </a:xfrm>
          <a:prstGeom prst="roundRect">
            <a:avLst>
              <a:gd name="adj" fmla="val 6000"/>
            </a:avLst>
          </a:prstGeom>
          <a:solidFill>
            <a:srgbClr val="1A3E60"/>
          </a:solidFill>
          <a:ln w="9525">
            <a:solidFill>
              <a:srgbClr val="2C507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a:extLst>
              <a:ext uri="{FF2B5EF4-FFF2-40B4-BE49-F238E27FC236}">
                <a16:creationId xmlns:a16="http://schemas.microsoft.com/office/drawing/2014/main" id="{6E9CBE08-2B72-9538-9B06-063A89CB370A}"/>
              </a:ext>
            </a:extLst>
          </p:cNvPr>
          <p:cNvSpPr txBox="1"/>
          <p:nvPr/>
        </p:nvSpPr>
        <p:spPr>
          <a:xfrm>
            <a:off x="987552" y="3694176"/>
            <a:ext cx="1737360" cy="176972"/>
          </a:xfrm>
          <a:prstGeom prst="rect">
            <a:avLst/>
          </a:prstGeom>
          <a:noFill/>
        </p:spPr>
        <p:txBody>
          <a:bodyPr wrap="square" lIns="0" tIns="0" rIns="0" bIns="0" anchor="t">
            <a:spAutoFit/>
          </a:bodyPr>
          <a:lstStyle/>
          <a:p>
            <a:pPr algn="l">
              <a:lnSpc>
                <a:spcPct val="100000"/>
              </a:lnSpc>
            </a:pPr>
            <a:r>
              <a:rPr lang="en-US" sz="1150" b="1" i="0">
                <a:solidFill>
                  <a:srgbClr val="F0C87A"/>
                </a:solidFill>
                <a:latin typeface="Calibri"/>
              </a:rPr>
              <a:t>Northwind Health</a:t>
            </a:r>
            <a:endParaRPr sz="1150" b="1" i="0">
              <a:solidFill>
                <a:srgbClr val="F0C87A"/>
              </a:solidFill>
              <a:latin typeface="Calibri"/>
            </a:endParaRPr>
          </a:p>
        </p:txBody>
      </p:sp>
      <p:sp>
        <p:nvSpPr>
          <p:cNvPr id="28" name="TextBox 27">
            <a:extLst>
              <a:ext uri="{FF2B5EF4-FFF2-40B4-BE49-F238E27FC236}">
                <a16:creationId xmlns:a16="http://schemas.microsoft.com/office/drawing/2014/main" id="{2BEBBF85-D905-84ED-71FE-67D3FCEF2EAA}"/>
              </a:ext>
            </a:extLst>
          </p:cNvPr>
          <p:cNvSpPr txBox="1"/>
          <p:nvPr/>
        </p:nvSpPr>
        <p:spPr>
          <a:xfrm>
            <a:off x="2834640" y="3694176"/>
            <a:ext cx="8412480" cy="192360"/>
          </a:xfrm>
          <a:prstGeom prst="rect">
            <a:avLst/>
          </a:prstGeom>
          <a:noFill/>
        </p:spPr>
        <p:txBody>
          <a:bodyPr wrap="square" lIns="0" tIns="0" rIns="0" bIns="0" anchor="t">
            <a:spAutoFit/>
          </a:bodyPr>
          <a:lstStyle/>
          <a:p>
            <a:pPr algn="l">
              <a:lnSpc>
                <a:spcPct val="100000"/>
              </a:lnSpc>
            </a:pPr>
            <a:r>
              <a:rPr lang="en-US" sz="1250" b="0" i="0">
                <a:solidFill>
                  <a:srgbClr val="FFFFFF"/>
                </a:solidFill>
                <a:latin typeface="Calibri"/>
              </a:rPr>
              <a:t>Ingest the FHIR audit attribution into your SIEM as CMS evidence</a:t>
            </a:r>
            <a:endParaRPr sz="1250" b="0" i="0">
              <a:solidFill>
                <a:srgbClr val="FFFFFF"/>
              </a:solidFill>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3B0411D-7C2F-4B3D-AB76-B0DE376571BD}">
  <we:reference id="WA200010001" version="1.0.0.1" store="Omex" storeType="OMEX"/>
  <we:alternateReferences>
    <we:reference id="WA200010001" version="1.0.0.1" store="WA200010001" storeType="OMEX"/>
  </we:alternateReferences>
  <we:properties>
    <we:property name="claude.fileId" value="&quot;b62c9807-a674-4075-949d-52a998d09ce3&quot;"/>
  </we:properties>
  <we:bindings/>
  <we:snapshot xmlns:r="http://schemas.openxmlformats.org/officeDocument/2006/relationships"/>
</we:webextension>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657</TotalTime>
  <Words>7088</Words>
  <Application>Microsoft Office PowerPoint</Application>
  <PresentationFormat>Widescreen</PresentationFormat>
  <Paragraphs>650</Paragraphs>
  <Slides>19</Slides>
  <Notes>19</Notes>
  <HiddenSlides>2</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Aptos</vt: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Jay Padhya</cp:lastModifiedBy>
  <cp:revision>1</cp:revision>
  <dcterms:created xsi:type="dcterms:W3CDTF">2013-01-27T09:14:16Z</dcterms:created>
  <dcterms:modified xsi:type="dcterms:W3CDTF">2026-09-01T15:27:23Z</dcterms:modified>
  <cp:category/>
</cp:coreProperties>
</file>